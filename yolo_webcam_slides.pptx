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B6E28"/>
                </a:solidFill>
                <a:latin typeface="微軟正黑體"/>
              </a:defRPr>
            </a:pPr>
            <a:r>
              <a:t>📷 AI 視覺與電腦視覺專題實作系列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微軟正黑體"/>
              </a:defRPr>
            </a:pPr>
            <a:r>
              <a:t>WebCam AI 視覺與 YOLO 專題應用實作</a:t>
            </a:r>
          </a:p>
          <a:p>
            <a:pPr>
              <a:spcAft>
                <a:spcPts val="2800"/>
              </a:spcAft>
              <a:defRPr sz="2000">
                <a:solidFill>
                  <a:srgbClr val="008CA0"/>
                </a:solidFill>
                <a:latin typeface="微軟正黑體"/>
              </a:defRPr>
            </a:pPr>
            <a:r>
              <a:t>AI 輔助程式開發 ‧ Prompt 提示詞工程 ‧ 四宮格多分割監控 ‧ 跌倒與手勢控制</a:t>
            </a:r>
          </a:p>
          <a:p>
            <a:pPr>
              <a:defRPr sz="1450">
                <a:solidFill>
                  <a:srgbClr val="C8D7EB"/>
                </a:solidFill>
                <a:latin typeface="微軟正黑體"/>
              </a:defRPr>
            </a:pPr>
            <a:r>
              <a:t>主講：簡樹桐 老師 ｜ 適用：高中職專題製作 ‧ 教師研習 ‧ AI 應用實作</a:t>
            </a:r>
            <a:br/>
            <a:r>
              <a:t>🌐 線上互動教材：https://stjedu.github.io/www/yolo_webcam_course.html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02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課程全景：從手刻程式到「AI 提示詞導向」的專題教學革新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🚀 專題教學新思維 (Paradigm Shift)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告別一行行刻語法：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學生最大門檻不是邏輯，而是卡在語法報錯與挫折感。透過 AI，專案開發速度由『半年做 1 個』提升為『半年做 10 個』。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提問與規格能力才是核心：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如何把模糊的想法（例如：我要做跌倒報警），拆解成精確的『相機輸入、演算規則、輸出反饋』，是專題成敗關鍵。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反覆對話與微調：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寫出不滿意的程式不要自己從頭改，叫 AI 改！只要清楚描述新需求與錯誤訊息，AI 即刻修正。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商品化實作體驗：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不再只是紙上談兵，一堂課內就能完成具備商業雛型的完整監控或互動視覺系統。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📚 四大單元實作架構 (Course Roadmap)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第 01 節課：基礎測試與串流控制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OpenCV 環境架構、WebCam 即時串流、自訂熱鍵拍照與定時縮時攝影。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第 02 節課：Prompt 工程與畫面校正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提問心法、MCP 自動自我檢核模式、1:1 等比例畫面裁切防變形與算力解析度哲學。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第 03 節課：多格分割視窗與縮放演算法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四宮格 (2x2) 拼接、雙攝影機 (Dual Cam) 整合、USB 頻寬管理與點擊互換畫面。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第 04 節課：YOLO 骨架追蹤與智慧應用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YOLO Pose 17 關鍵點、畫面中心主控者辨識、舉手拍照、平舉錄影與多人跌倒紅框警報。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03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01 節課】AI 視覺環境建置與 WebCam 基礎測試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🎯 學習目標與技能樹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影像串流捕獲：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理解 Python 與 OpenCV (`cv2.VideoCapture`) 讀取 WebCam 的基本原理。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事件驅動與鍵盤監聽：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掌握 `cv2.waitKey()` 鍵盤輸入邏輯，實作即時熱鍵互動。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影像格式與存檔機制：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理解幀率 (FPS) 與圖片寫入 (`cv2.imwrite`)，自動建立時間戳記檔名。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自主探索與進度分流：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提供標準網頁教學範例，讓學有餘力的同學可超前自主探索進階功能。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⚙️ 基礎功能實作清單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1. 攝影機開啟與串流監聽：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檢測相機索引 0 是否正常啟動，若失敗給予友善提示。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2. 拍照熱鍵 (s / Space)：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按下快捷鍵即時擷取當前 Frame，自動以年月日時分秒存檔。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3. 結束熱鍵 (q / ESC)：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優雅關閉串流並釋放硬體資源 (`cap.release()`)。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4. 自動定時拍攝 (Timelapse)：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設定時間間隔（如每 5 秒拍一張），實作簡易縮時攝影。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5. 延遲除錯：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探討解析度對串流延遲的影響，奠定流暢度優化基礎。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04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01 節課】功能實作提示語 (Prompt) 與教師引導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(Prompt)：基礎 WebCam 串流與熱鍵拍照控制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「請使用 Python 和 OpenCV 編寫一個 WebCam 視窗程式。
功能需求：
1. 開啟預設攝影機（索引 0）並以 640x480 即時顯示畫面。
2. 在畫面上即時顯示當前 FPS 與當前時間（微軟正黑體或簡潔英文）。
3. 按下鍵盤 's' 鍵手動拍照，將圖片存入 'captures' 資料夾，檔名格式為 'img_YYYYMMDD_HHMMSS.jpg'，並在畫面上短暫顯示 '已拍照存檔' 綠色提示。
4. 按下 'q' 鍵安全釋放相機資源並關閉所有視窗。」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教師引導技巧：先讓學生體驗最直接的鍵盤互動，建立成就感；若畫面延遲，引導學生觀察 FPS 數字。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(Prompt)：自動定時拍照（縮時攝影）與異常處理擴充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「請在上述基礎上進行功能升級（請直接提供修改後的完整 Python 代碼）：
1. 新增自動定時拍攝功能：每隔 5 秒自動拍一張照片並存檔。
2. 畫面右上角顯示倒數計時秒數，提示距離下一次自動拍攝還剩幾秒。
3. 增加例外處理：若相機被其他軟體佔用或找不到設備，請跳出友善視窗提示，不要讓程式崩潰閃退。
4. 代碼請包含清晰的中文註解與變數說明。」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教師引導技巧：提示學生：『程式不滿意就叫 AI 改！』讓學生觀察 AI 如何將功能累加進原程式碼。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05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02 節課】Prompt 提示詞工程與 1:1 畫面校正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💡 學生不會用 AI 的真正痛點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專業詞彙不足：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學生只會說『幫我做個相機』，AI 給出極簡範例，學生不知道如何提出具體要求。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缺乏情境與角色定義：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未設定身分與技術棧，AI 容易給出無法在 Windows / Python 本地端運行的網頁版或不相容語法。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忽略輸入與邊界條件：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沒有指定檔名命名法、資料夾路徑、異常狀況處理，導致程式跑一次就出錯。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不會追問與反饋：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遇到錯誤就把程式碼刪除，不懂得把 Error Log 貼回給 AI 要求修復。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📐 視覺核心：1:1 比例與解析度哲學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畫面變形痛點：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很多初學者直接使用 `cv2.resize()` 強制拉滿視窗，導致人臉變寬變胖，失去真實幾何比例。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1:1 等比例校正：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透過計算長寬比（Aspect Ratio），進行黑邊填充（Letterboxing）或中央裁切，確保物體幾何形狀不變形。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高解析度迷思：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1080p 或 4K 畫面好看，但計算負擔呈幾何倍數上升。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AI 模型的算力原則：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高解析度用於『人眼瀏覽與留存存檔』；AI 模型推論必須採用『低/中解析度 (如 640x360 或 1/4 畫面)』，才能維持高幀率！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06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02 節課】Prompt 工程四要素 ＆ 黃金除錯指令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📋 高效 Prompt 的四層結構 (Prompt Structure)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1. 角色設定：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明確身分（如：Python 影像處理資深工程師、高職專題導師）。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2. 任務與情境：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清晰描述業務目的（如：開發具備智慧亮度警示的拍照控制系統）。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3. 輸入/輸出規範：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指定解析度、熱鍵、輸出資料夾、存檔檔名格式、UI 顏色。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4. 限制與異常：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相機離線保護、中文編碼處理、防變形等比例原則。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⚡ 影像品質自動檢核概念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亮度灰階計算：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將 Frame 轉為灰階後計算平均像素強度（Mean Pixel Value 0~255）。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過暗警示 (&lt; 50)：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畫面上即時顯示黃色警示『環境過暗，請開燈或調整曝光』。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過亮警示 (&gt; 200)：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畫面顯示紅色警示『畫面過曝，請避開背光光源』。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(Prompt)：簡老師強烈推薦：MCP 自我檢核黃金指令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「每次開發完程式，請啟用 MCP 模式，做程式功能的自我檢核，若有問題請直接修正！」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教師引導技巧：【除錯密技】教師務必傳授此句！學生遇到 Bug 時不必手足無措，讓 AI 透過工具自動讀取運行日誌、自我發現錯誤並完成修補，大幅降低課堂卡關率。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07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02 節課】功能實作提示語 (Prompt) 與教師引導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(Prompt)：1:1 等比例畫面校正與智慧亮度檢測視窗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「你是一位精通 OpenCV 演算法的 Python 工程師。請設計一個 WebCam 控制視窗：
1. 畫面防變形校正：不管輸入攝影機原始長寬比為何，在固定大小的視窗（如 800x800）中，自動維持 1:1 或真實長寬比，不足部分以黑色背景填充（Letterbox 演算法），嚴禁將人物畫面拉扯變形。
2. 亮度即時檢核：計算畫面中央區域之平均亮度（0~255）。若平均值 &lt; 50 顯示『警告：光線過暗』；若 &gt; 205 顯示『警告：過度曝光』；正常時顯示『光線良好』。
3. 支援鍵盤熱鍵操作：'s' 拍照、'c' 切換填充顏色、'q' 離開。
4. 請給出完整可直接執行的 Python 腳本。」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教師引導技巧：引導學生站在鏡頭前拿手機手電筒照鏡頭或遮住鏡頭，親眼驗證 AI 演算法的即時檢測反應。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(Prompt)：推論與儲存分離：高低解析度雙流處理架構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「請改寫 WebCam 程式，實作『雙解析度分流架構』：
1. 串流輸入維持相機最高可用畫質（如 1080p）。
2. 畫面顯示與後續 AI 模型輸入端，自動降採樣至 640x360（1/4 算力），確保 FPS 穩定維持在 30 幀以上。
3. 當使用者觸發拍照（按 's'）時，自動擷取 1080p 高畫質原始母幀進行儲存，兼顧即時流暢度與存檔清晰度。
4. 在視窗左上角對比顯示：【原始解析度】 vs 【顯示/運算解析度】及即時推論延遲（ms）。」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教師引導技巧：這套架構是邊緣運算（如樹莓派、Jetson）與商用監控系統的核心概念，極具專題價值！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08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03 節課】多格分割視窗與畫面縮放演算法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🖥️ 監控多宮格與畫面數學換算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1920x1080 螢幕佈局：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螢幕解析度為 1920x1080，若要做 2x2 四宮格，每個宮格最佳尺寸為 960x540（寬高各除以 2）。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不同輸入比例縮放問題：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當輸入訊號為 1280x720 或 4:3 鏡頭時，縮放比例為乘以 0.75 或 0.5，需透過座標補白演算法保持不失真。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陣列拼接 (NumPy Concatenate)：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使用 `np.hstack()` 與 `np.vstack()` 將四個子 Frame 拼裝為完整畫面。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多宮格效能瓶頸：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四個鏡頭或四個視窗同時推流，資料傳輸量暴增，常導致整體 FPS 驟降。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🎥 雙攝影機 (Dual WebCam) 整合實務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多鏡頭硬體管理：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同時啟動 Camera 0 與 Camera 1。注意 USB 傳輸通道頻寬，避免因 Hub 頻寬不足導致斷流。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非同步緒處理：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雙鏡頭初始化速度慢，單一線程容易造成畫面卡頓，需採用多線程 (Threading) 分別擷取。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焦點切換與畫面互換：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點擊任一宮格可放大為單一全螢幕；點擊畫面 1 與畫面 2 可互相對調位置。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動態資源調配：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關閉非關鍵宮格之更新，動態將系統 FPS 從 10 幀拉回至滿速 30 幀。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09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03 節課】功能實作提示語 (Prompt) 與教師引導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(Prompt)：四宮格 (2x2) 多分割監控畫面與動態切換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「請使用 Python、OpenCV 與 NumPy 開發一個【四宮格監控展示系統】：
1. 建立一個 1920x1080 的主視窗，分割為 2x2 四個宮格（各 960x540）。
2. 宮格 1 顯示原色相機串流；宮格 2 顯示灰階處理畫面；宮格 3 顯示邊緣偵測 (Canny Edge)；宮格 4 顯示反相或特殊濾鏡畫面。
3. 支援滑鼠互動：滑鼠左鍵點擊任一宮格，該宮格瞬間切換為全螢幕單一視窗；再點一下恢復四宮格。
4. 按鍵盤 '1'~'4' 可獨立切換各宮格的開啟/關閉，以降低系統運算負荷並提高整體 FPS。」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教師引導技巧：先用單支攝影機模擬 4 個不同影像處理通道，建立多分割與滑鼠事件概念。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(Prompt)：雙實體攝影機 (Dual WebCam) 即時拼接與畫面互換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「請擴充上述系統為【雙實體攝影機監控系統】：
1. 同時偵測並開啟系統中的兩支 USB 攝影機（WebCam 0 與 WebCam 1）。
2. 使用多執行緒 (Threading) 同步讀取兩支鏡頭，防止因初始化或取幀等待造成視窗卡死。
3. 將兩支鏡頭畫面並排或放入四宮格中，確保等比例縮放不變形。
4. 實作『鏡頭對調功能』：按下鍵盤 'x' 鍵，鏡頭 1 與鏡頭 2 的顯示位置瞬間對調。
5. 提供完整的啟動檢查與防呆機制，若只接了一支相機則自動退回單鏡頭模式。」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教師引導技巧：課堂可讓相鄰兩位同學互相借用相機插在同一台主機，體驗真實雙視角保全系統。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10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04 節課】YOLO 骨架追蹤與智慧應用實作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🦴 YOLO Pose 骨架估計原理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17 個人體關鍵點 (Keypoints)：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YOLOv8/YOLO11 Pose 能即時定位人體：鼻子、眼睛、耳朵、雙肩、雙肘、雙腕、雙髖、雙膝、雙踝。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坐標幾何分析：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不需複雜的神經網絡重訓，直接透過關節 (X, Y) 座標的相對高低與幾何夾角，即可精準判斷動作。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手勢拍照判定邏輯：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舉右手：右手腕 Y 座標 &lt; 右肩膀 Y 座標（影像座標系 Y 軸朝下，數值越小代表位置越高）。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雙手平舉錄影邏輯：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雙手腕高度接近雙肩膀（誤差在門檻值內），且雙手橫向張開超過肩膀寬度。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🚨 多人場景與長者跌倒警示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多人鎖定挑戰：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鏡頭前有多人走動時，若每個人都能觸發拍照，系統會混亂崩潰。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主控者 (Commander) 機制：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透過演算法選出【畫面中央最接近中心者】或【邊界框面積最大者】作為唯一具備控制權的主控者。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多人跌倒警示 (Fall Detection)：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計算人體長寬比（寬度 &gt; 高度）或頭部重心急劇驟降。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視覺警報回饋：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一旦畫面中任何一人倒下，外框即刻閃爍全螢幕紅色警示，並發出 Alert 提示音與自動拍照存證。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11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04 節課】功能實作提示語 (Prompt) 與教師引導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(Prompt)：YOLO Pose 骨架手勢控制：舉手拍照與平舉錄影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「請使用 Python、Ultralytics YOLO11/YOLOv8 Pose 模型與 OpenCV 開發手勢控制相機：
1. 載入 yolo11n-pose.pt 輕量模型，即時偵測人體 17 處關鍵點骨架。
2. 手勢一【舉右手拍照】：當偵測到右手腕高度高於右眼/右肩時，觸發自動拍照存檔，並加入 3 秒冷卻時間（Cooldown）防止連續誤拍。
3. 手勢二【雙手平舉錄影】：當偵測到雙手平舉（手腕與肩膀同高且展開）超過 1.5 秒時，切換『開始/停止錄影』狀態，畫面顯示紅色 REC 閃爍圖示。
4. 畫面需流暢繪製人體骨架線條與關節點，文字提示使用微軟正黑體繁體中文。」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教師引導技巧：提醒學生鏡頭前退後 1.5~2 公尺，確保上半身完整入鏡，避免骨架遮蔽誤判。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B6E28"/>
                </a:solidFill>
                <a:latin typeface="微軟正黑體"/>
              </a:defRPr>
            </a:pPr>
            <a:r>
              <a:t>💡 實戰提示詞 (Prompt)：中央主控者模式 ＆ 多人跌倒全螢幕紅框警示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0F172A"/>
                </a:solidFill>
                <a:latin typeface="Consolas"/>
              </a:rPr>
              <a:t>「請在 YOLO Pose 系統中升級【多人智慧安防與主控者架構】：
1. 多人主控者鎖定：計算畫面中所有人的 Bounding Box 中心點，鎖定最靠近畫面正中央的人為【主控者 (VIP)】，在其頭頂標註金色『主控者』，只有此人能透過舉手觸發拍照/錄影。
2. 多人跌倒急救警報：同時監控畫面中所有被偵測者。若任何一人人體外框『寬度大於高度（橫躺）』且重心低於門檻，判定為【跌倒 (Fall Alert)】！
3. 警報回饋：整個視窗外框閃爍粗紅色警示框，播放嗶聲或顯示『🚨 偵測到人員跌倒！』，並自動截圖儲存至 'fall_events' 資料夾。」</a:t>
            </a:r>
          </a:p>
          <a:p>
            <a:r>
              <a:rPr sz="1150" b="1">
                <a:solidFill>
                  <a:srgbClr val="008CA0"/>
                </a:solidFill>
                <a:latin typeface="微軟正黑體"/>
              </a:rPr>
              <a:t>📌 教師引導技巧：引導學生模擬不同角度的跌倒（假裝滑倒、趴下），體驗專題商品化測試流程。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12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課堂實作評分要點 ＆ 硬體環境避坑指南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🎯 學生專題評分標準 (Evaluation Matrix)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1. 功能完整性 (40%)：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WebCam 串流穩定，快捷鍵拍照、手勢辨識與跌倒警示能精確觸發。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2. 程式抗崩潰度 (20%)：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拔除鏡頭、誤按鍵盤、無人入鏡時，程式不報錯閃退，具備完整 Exception Handling。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3. Prompt 工程素養 (20%)：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能展示與 AI 對話記錄，清楚描述需求演進與除錯過程，而非只抄最終程式碼。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4. 畫面互動體驗 (20%)：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1:1 等比不變形、繁體中文標籤清晰、冷卻倒數與警示視覺化良好。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6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EB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⚠️ 現場環境避雷秘笈 (Troubleshooting)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攝影機絕對要架固定架：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切忌用手拿著鏡頭晃來晃去！鏡頭劇烈震動會造成 YOLO 關節點抖動誤判與計算延遲。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距離與視野掌控：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人體骨架偵測需距離鏡頭 1.5 ~ 3 公尺，避免『大頭貼』式近距離導致肢體出鏡。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防連拍機制 (Cooldown)：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手勢辨識每秒推論 30 次，若未加上計時冷卻（例如拍完後鎖定 3 秒），手一舉起瞬間會拍下 50 張垃圾照片。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USB 頻寬與接口：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雙鏡頭測試請插在電腦前後不同 USB Root Hub 上，避免集線器頻寬塞車。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8CA0"/>
                </a:solidFill>
                <a:latin typeface="微軟正黑體"/>
              </a:defRPr>
            </a:pPr>
            <a:r>
              <a:t>📷 WEBCAM AI 視覺與 YOLO 專題實作課程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13 / 14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教師專用：課堂 Prompt 快速取用萬用錦囊卡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互動課程網頁：https://stjedu.github.io/www/yolo_webcam_course.html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698480" cy="91440"/>
          </a:xfrm>
          <a:prstGeom prst="round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14233C"/>
                </a:solidFill>
                <a:latin typeface="微軟正黑體"/>
              </a:defRPr>
            </a:pPr>
            <a:r>
              <a:t>📌 複製即用：四階段課堂教學指令庫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階段一【起手式】：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「我是高中專題學生，請用 Python 和 OpenCV 寫一個 WebCam 測試程式，支援按 's' 拍照、按 'q' 結束，照片自動命名並保存在 captures 資料夾，請包含中文註解。」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階段二【防變形與品質】：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「請修改剛才的程式，加入 1:1 等比例畫面校正，視窗縮放時人物不可變形（以黑邊填充），並在畫面角落顯示即時畫面亮度是否過暗或過曝。」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階段三【多分割與效能】：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「請將畫面改造成 2x2 四宮格監控版面，支援雙攝影機輸入與滑鼠點擊放大單格畫面，若系統過慢請提供降採樣優化代碼。」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階段四【AI 智慧辨識】：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「請導入 YOLO11-Pose 模型，偵測人體 17 個骨架點。實作『舉右手拍照（冷卻 3 秒）』與『畫面中央主控者模式』；當有人橫躺跌倒時，畫面閃爍紅框發出警報。」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1E293B"/>
                </a:solidFill>
                <a:latin typeface="微軟正黑體"/>
              </a:rPr>
              <a:t>通用【自動修復黃金指令】：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「每次開發完程式，請啟用 MCP 模式，做程式功能的自我檢核，若有問題請直接修正。」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  <a:latin typeface="微軟正黑體"/>
              </a:defRPr>
            </a:pPr>
            <a:r>
              <a:t>AI 時代的專題教育：引導學生從『打字員』蛻變為『系統架構師』</a:t>
            </a:r>
          </a:p>
          <a:p>
            <a:pPr>
              <a:lnSpc>
                <a:spcPct val="135000"/>
              </a:lnSpc>
              <a:spcAft>
                <a:spcPts val="3000"/>
              </a:spcAft>
              <a:defRPr sz="1700">
                <a:solidFill>
                  <a:srgbClr val="008CA0"/>
                </a:solidFill>
                <a:latin typeface="微軟正黑體"/>
              </a:defRPr>
            </a:pPr>
            <a:r>
              <a:t>「以前專案要寫半年，現在半年可以完成十個專案！」</a:t>
            </a:r>
            <a:br/>
            <a:r>
              <a:t>掌握 Prompt 提示詞規格化、理解電腦視覺幾何與算力本質、學會讓 AI 自我檢核，</a:t>
            </a:r>
            <a:br/>
            <a:r>
              <a:t>每一位老師與學生都能輕鬆打造出具備商業價值的智慧視覺系統。</a:t>
            </a:r>
          </a:p>
          <a:p>
            <a:pPr>
              <a:defRPr sz="1500" b="1">
                <a:solidFill>
                  <a:srgbClr val="F5B400"/>
                </a:solidFill>
                <a:latin typeface="微軟正黑體"/>
              </a:defRPr>
            </a:pPr>
            <a:r>
              <a:t>🌐 線上課程與可複製 Prompt 講義：https://stjedu.github.io/www/yolo_webcam_course.html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