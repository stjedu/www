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dc61b3b6ca4d57" /><Relationship Type="http://schemas.openxmlformats.org/officeDocument/2006/relationships/extended-properties" Target="/docProps/app.xml" Id="R43bf25dd69ca4be2" /><Relationship Type="http://schemas.openxmlformats.org/officeDocument/2006/relationships/officeDocument" Target="/ppt/presentation.xml" Id="Re95c1fff4be049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317bfbd9924e01"/>
  </p:sldMasterIdLst>
  <p:notesMasterIdLst>
    <p:notesMasterId xmlns:r="http://schemas.openxmlformats.org/officeDocument/2006/relationships" r:id="R46b44c8bc9ac45c2"/>
  </p:notesMasterIdLst>
  <p:sldIdLst>
    <p:sldId xmlns:r="http://schemas.openxmlformats.org/officeDocument/2006/relationships" id="256" r:id="Rbf79798be9834d2a"/>
    <p:sldId xmlns:r="http://schemas.openxmlformats.org/officeDocument/2006/relationships" id="257" r:id="R03033f4140ee4f8f"/>
    <p:sldId xmlns:r="http://schemas.openxmlformats.org/officeDocument/2006/relationships" id="258" r:id="R7f6d77ff7f864b3f"/>
    <p:sldId xmlns:r="http://schemas.openxmlformats.org/officeDocument/2006/relationships" id="259" r:id="Rad3c508fefa24a82"/>
    <p:sldId xmlns:r="http://schemas.openxmlformats.org/officeDocument/2006/relationships" id="260" r:id="Raf2b99c7721842d5"/>
    <p:sldId xmlns:r="http://schemas.openxmlformats.org/officeDocument/2006/relationships" id="261" r:id="R599ec002d5754b6f"/>
    <p:sldId xmlns:r="http://schemas.openxmlformats.org/officeDocument/2006/relationships" id="262" r:id="Rc93d7c39780e4fa9"/>
    <p:sldId xmlns:r="http://schemas.openxmlformats.org/officeDocument/2006/relationships" id="263" r:id="R492fe9030b9745b4"/>
    <p:sldId xmlns:r="http://schemas.openxmlformats.org/officeDocument/2006/relationships" id="264" r:id="Rae3060c17b4a4a45"/>
    <p:sldId xmlns:r="http://schemas.openxmlformats.org/officeDocument/2006/relationships" id="265" r:id="R5e68d07dbebc46b0"/>
    <p:sldId xmlns:r="http://schemas.openxmlformats.org/officeDocument/2006/relationships" id="266" r:id="R99201c9ef6374c20"/>
    <p:sldId xmlns:r="http://schemas.openxmlformats.org/officeDocument/2006/relationships" id="267" r:id="R3bfcab7d836a4e60"/>
    <p:sldId xmlns:r="http://schemas.openxmlformats.org/officeDocument/2006/relationships" id="268" r:id="R4e2e1e3a4c834ab8"/>
    <p:sldId xmlns:r="http://schemas.openxmlformats.org/officeDocument/2006/relationships" id="269" r:id="R4a487af2a7ad4079"/>
    <p:sldId xmlns:r="http://schemas.openxmlformats.org/officeDocument/2006/relationships" id="270" r:id="Rcf9a7254f08e4938"/>
    <p:sldId xmlns:r="http://schemas.openxmlformats.org/officeDocument/2006/relationships" id="271" r:id="R58744159bb944806"/>
    <p:sldId xmlns:r="http://schemas.openxmlformats.org/officeDocument/2006/relationships" id="272" r:id="Rb88efc53226c4253"/>
    <p:sldId xmlns:r="http://schemas.openxmlformats.org/officeDocument/2006/relationships" id="273" r:id="R0340e53dba2e4483"/>
    <p:sldId xmlns:r="http://schemas.openxmlformats.org/officeDocument/2006/relationships" id="274" r:id="Rb7f7b05705ab4e35"/>
    <p:sldId xmlns:r="http://schemas.openxmlformats.org/officeDocument/2006/relationships" id="275" r:id="R12751223c0f54187"/>
    <p:sldId xmlns:r="http://schemas.openxmlformats.org/officeDocument/2006/relationships" id="276" r:id="R4a6b28894a9448bb"/>
    <p:sldId xmlns:r="http://schemas.openxmlformats.org/officeDocument/2006/relationships" id="277" r:id="R53d1cdf539974224"/>
    <p:sldId xmlns:r="http://schemas.openxmlformats.org/officeDocument/2006/relationships" id="278" r:id="Reb9efc386f7b4eb4"/>
    <p:sldId xmlns:r="http://schemas.openxmlformats.org/officeDocument/2006/relationships" id="279" r:id="R590e1f5c7f114591"/>
    <p:sldId xmlns:r="http://schemas.openxmlformats.org/officeDocument/2006/relationships" id="280" r:id="R4110916ca86a4452"/>
    <p:sldId xmlns:r="http://schemas.openxmlformats.org/officeDocument/2006/relationships" id="281" r:id="R13ed67ea0c764736"/>
    <p:sldId xmlns:r="http://schemas.openxmlformats.org/officeDocument/2006/relationships" id="282" r:id="Rbeed3f4bb98f4016"/>
    <p:sldId xmlns:r="http://schemas.openxmlformats.org/officeDocument/2006/relationships" id="283" r:id="R094e259ad78848ca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6fecfd7cd74d22" /><Relationship Type="http://schemas.openxmlformats.org/officeDocument/2006/relationships/slideMaster" Target="/ppt/slideMasters/slideMaster1.xml" Id="R64317bfbd9924e01" /><Relationship Type="http://schemas.openxmlformats.org/officeDocument/2006/relationships/notesMaster" Target="/ppt/notesMasters/notesMaster1.xml" Id="R46b44c8bc9ac45c2" /><Relationship Type="http://schemas.openxmlformats.org/officeDocument/2006/relationships/presProps" Target="/ppt/presProps.xml" Id="Redd4b834bf284d8e" /><Relationship Type="http://schemas.openxmlformats.org/officeDocument/2006/relationships/viewProps" Target="/ppt/viewProps.xml" Id="R874223fe94074a78" /><Relationship Type="http://schemas.openxmlformats.org/officeDocument/2006/relationships/tableStyles" Target="/ppt/tableStyles.xml" Id="R4721c338033145cf" /><Relationship Type="http://schemas.openxmlformats.org/officeDocument/2006/relationships/slide" Target="/ppt/slides/slide1.xml" Id="Rbf79798be9834d2a" /><Relationship Type="http://schemas.openxmlformats.org/officeDocument/2006/relationships/slide" Target="/ppt/slides/slide2.xml" Id="R03033f4140ee4f8f" /><Relationship Type="http://schemas.openxmlformats.org/officeDocument/2006/relationships/slide" Target="/ppt/slides/slide3.xml" Id="R7f6d77ff7f864b3f" /><Relationship Type="http://schemas.openxmlformats.org/officeDocument/2006/relationships/slide" Target="/ppt/slides/slide4.xml" Id="Rad3c508fefa24a82" /><Relationship Type="http://schemas.openxmlformats.org/officeDocument/2006/relationships/slide" Target="/ppt/slides/slide5.xml" Id="Raf2b99c7721842d5" /><Relationship Type="http://schemas.openxmlformats.org/officeDocument/2006/relationships/slide" Target="/ppt/slides/slide6.xml" Id="R599ec002d5754b6f" /><Relationship Type="http://schemas.openxmlformats.org/officeDocument/2006/relationships/slide" Target="/ppt/slides/slide7.xml" Id="Rc93d7c39780e4fa9" /><Relationship Type="http://schemas.openxmlformats.org/officeDocument/2006/relationships/slide" Target="/ppt/slides/slide8.xml" Id="R492fe9030b9745b4" /><Relationship Type="http://schemas.openxmlformats.org/officeDocument/2006/relationships/slide" Target="/ppt/slides/slide9.xml" Id="Rae3060c17b4a4a45" /><Relationship Type="http://schemas.openxmlformats.org/officeDocument/2006/relationships/slide" Target="/ppt/slides/slide10.xml" Id="R5e68d07dbebc46b0" /><Relationship Type="http://schemas.openxmlformats.org/officeDocument/2006/relationships/slide" Target="/ppt/slides/slide11.xml" Id="R99201c9ef6374c20" /><Relationship Type="http://schemas.openxmlformats.org/officeDocument/2006/relationships/slide" Target="/ppt/slides/slide12.xml" Id="R3bfcab7d836a4e60" /><Relationship Type="http://schemas.openxmlformats.org/officeDocument/2006/relationships/slide" Target="/ppt/slides/slide13.xml" Id="R4e2e1e3a4c834ab8" /><Relationship Type="http://schemas.openxmlformats.org/officeDocument/2006/relationships/slide" Target="/ppt/slides/slide14.xml" Id="R4a487af2a7ad4079" /><Relationship Type="http://schemas.openxmlformats.org/officeDocument/2006/relationships/slide" Target="/ppt/slides/slide15.xml" Id="Rcf9a7254f08e4938" /><Relationship Type="http://schemas.openxmlformats.org/officeDocument/2006/relationships/slide" Target="/ppt/slides/slide16.xml" Id="R58744159bb944806" /><Relationship Type="http://schemas.openxmlformats.org/officeDocument/2006/relationships/slide" Target="/ppt/slides/slide17.xml" Id="Rb88efc53226c4253" /><Relationship Type="http://schemas.openxmlformats.org/officeDocument/2006/relationships/slide" Target="/ppt/slides/slide18.xml" Id="R0340e53dba2e4483" /><Relationship Type="http://schemas.openxmlformats.org/officeDocument/2006/relationships/slide" Target="/ppt/slides/slide19.xml" Id="Rb7f7b05705ab4e35" /><Relationship Type="http://schemas.openxmlformats.org/officeDocument/2006/relationships/slide" Target="/ppt/slides/slide20.xml" Id="R12751223c0f54187" /><Relationship Type="http://schemas.openxmlformats.org/officeDocument/2006/relationships/slide" Target="/ppt/slides/slide21.xml" Id="R4a6b28894a9448bb" /><Relationship Type="http://schemas.openxmlformats.org/officeDocument/2006/relationships/slide" Target="/ppt/slides/slide22.xml" Id="R53d1cdf539974224" /><Relationship Type="http://schemas.openxmlformats.org/officeDocument/2006/relationships/slide" Target="/ppt/slides/slide23.xml" Id="Reb9efc386f7b4eb4" /><Relationship Type="http://schemas.openxmlformats.org/officeDocument/2006/relationships/slide" Target="/ppt/slides/slide24.xml" Id="R590e1f5c7f114591" /><Relationship Type="http://schemas.openxmlformats.org/officeDocument/2006/relationships/slide" Target="/ppt/slides/slide25.xml" Id="R4110916ca86a4452" /><Relationship Type="http://schemas.openxmlformats.org/officeDocument/2006/relationships/slide" Target="/ppt/slides/slide26.xml" Id="R13ed67ea0c764736" /><Relationship Type="http://schemas.openxmlformats.org/officeDocument/2006/relationships/slide" Target="/ppt/slides/slide27.xml" Id="Rbeed3f4bb98f4016" /><Relationship Type="http://schemas.openxmlformats.org/officeDocument/2006/relationships/slide" Target="/ppt/slides/slide28.xml" Id="R094e259ad78848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6e6f1c10784f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f25b2b5fa34870" /><Relationship Type="http://schemas.openxmlformats.org/officeDocument/2006/relationships/notesMaster" Target="/ppt/notesMasters/notesMaster1.xml" Id="Rc0404f54f95c4c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810e5c24004286" /><Relationship Type="http://schemas.openxmlformats.org/officeDocument/2006/relationships/notesMaster" Target="/ppt/notesMasters/notesMaster1.xml" Id="R33884b46d9bf4f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65302ae4104019" /><Relationship Type="http://schemas.openxmlformats.org/officeDocument/2006/relationships/notesMaster" Target="/ppt/notesMasters/notesMaster1.xml" Id="R6e60478ea32a4a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ee3300b39f40e6" /><Relationship Type="http://schemas.openxmlformats.org/officeDocument/2006/relationships/notesMaster" Target="/ppt/notesMasters/notesMaster1.xml" Id="R7366f5730ac14c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0da9516bba4212" /><Relationship Type="http://schemas.openxmlformats.org/officeDocument/2006/relationships/notesMaster" Target="/ppt/notesMasters/notesMaster1.xml" Id="R3ec7e4ec1cf043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9d1f40ebbd4d1d" /><Relationship Type="http://schemas.openxmlformats.org/officeDocument/2006/relationships/notesMaster" Target="/ppt/notesMasters/notesMaster1.xml" Id="R4862fe5fe48943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f3e8446bbd448e" /><Relationship Type="http://schemas.openxmlformats.org/officeDocument/2006/relationships/notesMaster" Target="/ppt/notesMasters/notesMaster1.xml" Id="Rf0f68fa34fdb4c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4a3b02a3cf4a3b" /><Relationship Type="http://schemas.openxmlformats.org/officeDocument/2006/relationships/notesMaster" Target="/ppt/notesMasters/notesMaster1.xml" Id="Rf24997ca10f747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6596e50aa74d1a" /><Relationship Type="http://schemas.openxmlformats.org/officeDocument/2006/relationships/notesMaster" Target="/ppt/notesMasters/notesMaster1.xml" Id="Rb508784171ac43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ee0ab66d454e4d" /><Relationship Type="http://schemas.openxmlformats.org/officeDocument/2006/relationships/notesMaster" Target="/ppt/notesMasters/notesMaster1.xml" Id="R1ef59bbf6b1e45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8250350a284402" /><Relationship Type="http://schemas.openxmlformats.org/officeDocument/2006/relationships/notesMaster" Target="/ppt/notesMasters/notesMaster1.xml" Id="R621f92ff6af841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c8ed0d45324b0c" /><Relationship Type="http://schemas.openxmlformats.org/officeDocument/2006/relationships/notesMaster" Target="/ppt/notesMasters/notesMaster1.xml" Id="R0d4907eac41d43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96b79e31c84edb" /><Relationship Type="http://schemas.openxmlformats.org/officeDocument/2006/relationships/notesMaster" Target="/ppt/notesMasters/notesMaster1.xml" Id="Rdeef7677b6ad48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1d6928e86641fd" /><Relationship Type="http://schemas.openxmlformats.org/officeDocument/2006/relationships/notesMaster" Target="/ppt/notesMasters/notesMaster1.xml" Id="Raed497d710f543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0c73fa5dff4439" /><Relationship Type="http://schemas.openxmlformats.org/officeDocument/2006/relationships/notesMaster" Target="/ppt/notesMasters/notesMaster1.xml" Id="Rc5a3a2c56a3043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024a408ef34154" /><Relationship Type="http://schemas.openxmlformats.org/officeDocument/2006/relationships/notesMaster" Target="/ppt/notesMasters/notesMaster1.xml" Id="Re01b97cf7e2648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a3c01e04564e7d" /><Relationship Type="http://schemas.openxmlformats.org/officeDocument/2006/relationships/notesMaster" Target="/ppt/notesMasters/notesMaster1.xml" Id="Ra60a85623354455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3f2a4d9ec548cd" /><Relationship Type="http://schemas.openxmlformats.org/officeDocument/2006/relationships/notesMaster" Target="/ppt/notesMasters/notesMaster1.xml" Id="R91217cf9fa01491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ec8782d5db4765" /><Relationship Type="http://schemas.openxmlformats.org/officeDocument/2006/relationships/notesMaster" Target="/ppt/notesMasters/notesMaster1.xml" Id="R28f9e4ba35c742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90087eae71a47d7" /><Relationship Type="http://schemas.openxmlformats.org/officeDocument/2006/relationships/notesMaster" Target="/ppt/notesMasters/notesMaster1.xml" Id="R6b62ecbd42294e0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39d35a6412645d0" /><Relationship Type="http://schemas.openxmlformats.org/officeDocument/2006/relationships/notesMaster" Target="/ppt/notesMasters/notesMaster1.xml" Id="Rcd75226445a942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744999e61cf41ca" /><Relationship Type="http://schemas.openxmlformats.org/officeDocument/2006/relationships/notesMaster" Target="/ppt/notesMasters/notesMaster1.xml" Id="R5aeefa9153d6404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1da1027f5274e2b" /><Relationship Type="http://schemas.openxmlformats.org/officeDocument/2006/relationships/notesMaster" Target="/ppt/notesMasters/notesMaster1.xml" Id="Rb9aa88ff78d6423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b7e9e7c8759495a" /><Relationship Type="http://schemas.openxmlformats.org/officeDocument/2006/relationships/notesMaster" Target="/ppt/notesMasters/notesMaster1.xml" Id="Rabe95ce92a4a4b2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6d2bc9b23e440a8" /><Relationship Type="http://schemas.openxmlformats.org/officeDocument/2006/relationships/notesMaster" Target="/ppt/notesMasters/notesMaster1.xml" Id="R163c86fc681249b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ca961417c364f37" /><Relationship Type="http://schemas.openxmlformats.org/officeDocument/2006/relationships/notesMaster" Target="/ppt/notesMasters/notesMaster1.xml" Id="R18457943121242c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190d9c880cb4aed" /><Relationship Type="http://schemas.openxmlformats.org/officeDocument/2006/relationships/notesMaster" Target="/ppt/notesMasters/notesMaster1.xml" Id="Rdda5633e55064fa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77fab1bbd59494f" /><Relationship Type="http://schemas.openxmlformats.org/officeDocument/2006/relationships/notesMaster" Target="/ppt/notesMasters/notesMaster1.xml" Id="R320470fd39f44a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開場說辭：各位老師好！今天這場研習我們從零基礎環境建立出發，一路帶大家體驗基本電學與電子學 BJT 小訊號自動繪圖、MCP 自動修課、Excel 算成績，最後展示如何用一份大師級提示詞打造工業電子丙級虛擬示波器！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代理 AI 於教學上的應用研習（旗艦完整版）</a:t>
            </a:r>
          </a:p>
          <a:p xmlns:a="http://schemas.openxmlformats.org/drawingml/2006/main">
            <a:r>
              <a:t>打通任督二脈：</a:t>
            </a:r>
          </a:p>
          <a:p xmlns:a="http://schemas.openxmlformats.org/drawingml/2006/main">
            <a:r>
              <a:t>從對話到代理執行 ✕ 電學圖解 ✕ 教具開發</a:t>
            </a:r>
          </a:p>
          <a:p xmlns:a="http://schemas.openxmlformats.org/drawingml/2006/main">
            <a:r>
              <a:t>環境巡檢建置 ✕ 基本電學與 BJT 小訊號圖解 ✕ 磨課師 MCP ✕ Excel 成績加權 ✕ 虛擬電子儀表實戰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研習對象：中小學與技術型高中教師（零基礎友善）  |  🌐 研習網站：https://stjedu.github.io/www/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研習導覽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02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今日研習大綱與六大單元學習地圖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01</a:t>
            </a:r>
          </a:p>
          <a:p xmlns:a="http://schemas.openxmlformats.org/drawingml/2006/main">
            <a:r>
              <a:t>代理 AI 觀念啟蒙 (P.03~05)</a:t>
            </a:r>
          </a:p>
          <a:p xmlns:a="http://schemas.openxmlformats.org/drawingml/2006/main">
            <a:r>
              <a:t>顧問 vs. 數位實習老師，跨時代的自主規劃、工具調用與實體建檔超能力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02</a:t>
            </a:r>
          </a:p>
          <a:p xmlns:a="http://schemas.openxmlformats.org/drawingml/2006/main">
            <a:r>
              <a:t>環境建置與安全檢測 (P.06~09)</a:t>
            </a:r>
          </a:p>
          <a:p xmlns:a="http://schemas.openxmlformats.org/drawingml/2006/main">
            <a:r>
              <a:t>AI 數位辦公桌建立、沙盒隔離機制保障、零代碼一鍵安裝 Python 與繪圖套件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03</a:t>
            </a:r>
          </a:p>
          <a:p xmlns:a="http://schemas.openxmlformats.org/drawingml/2006/main">
            <a:r>
              <a:t>提示語大師 ✕ 電學與電子學實測 (P.10~17)</a:t>
            </a:r>
          </a:p>
          <a:p xmlns:a="http://schemas.openxmlformats.org/drawingml/2006/main">
            <a:r>
              <a:t>CRIS 架構、戴維寧等效電路、BJT 共射極 rπ 小訊號模型、MCP 磨課師自動伴讀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04</a:t>
            </a:r>
          </a:p>
          <a:p xmlns:a="http://schemas.openxmlformats.org/drawingml/2006/main">
            <a:r>
              <a:t>Excel 算成績全自動化 (P.18~20)</a:t>
            </a:r>
          </a:p>
          <a:p xmlns:a="http://schemas.openxmlformats.org/drawingml/2006/main">
            <a:r>
              <a:t>段考實習加權算分、不及格粉紅底色標記、成績分布長條圖與學情分析摘要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05</a:t>
            </a:r>
          </a:p>
          <a:p xmlns:a="http://schemas.openxmlformats.org/drawingml/2006/main">
            <a:r>
              <a:t>成果網頁化與 GitHub 發布 (P.21~23)</a:t>
            </a:r>
          </a:p>
          <a:p xmlns:a="http://schemas.openxmlformats.org/drawingml/2006/main">
            <a:r>
              <a:t>免費建立個人 www 倉庫、PAT 金鑰馬賽克資安保護、一鍵推播互動教學網站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06</a:t>
            </a:r>
          </a:p>
          <a:p xmlns:a="http://schemas.openxmlformats.org/drawingml/2006/main">
            <a:r>
              <a:t>高階特輯：虛擬電子儀表開發 (P.24~28)</a:t>
            </a:r>
          </a:p>
          <a:p xmlns:a="http://schemas.openxmlformats.org/drawingml/2006/main">
            <a:r>
              <a:t>依據三大原廠手冊打造 GDS-2102E 示波器、MFG-2110 信號源與丙級檢定模擬系統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單元一：觀念啟蒙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03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老師日常的三大行政與教學痛點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📝 改考卷與算成績</a:t>
            </a:r>
          </a:p>
          <a:p xmlns:a="http://schemas.openxmlformats.org/drawingml/2006/main">
            <a:r>
              <a:t>手動拉 Excel 函數</a:t>
            </a:r>
          </a:p>
          <a:p xmlns:a="http://schemas.openxmlformats.org/drawingml/2006/main">
            <a:r>
              <a:t>段考平時加權算到眼花</a:t>
            </a:r>
          </a:p>
          <a:p xmlns:a="http://schemas.openxmlformats.org/drawingml/2006/main">
            <a:r>
              <a:t>不及格篩選改色耗費數小時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每年必修研習折磨</a:t>
            </a:r>
          </a:p>
          <a:p xmlns:a="http://schemas.openxmlformats.org/drawingml/2006/main">
            <a:r>
              <a:t>磨課師/酷課雲必修幾十小時</a:t>
            </a:r>
          </a:p>
          <a:p xmlns:a="http://schemas.openxmlformats.org/drawingml/2006/main">
            <a:r>
              <a:t>每 20 分鐘彈窗防閒置中斷</a:t>
            </a:r>
          </a:p>
          <a:p xmlns:a="http://schemas.openxmlformats.org/drawingml/2006/main">
            <a:r>
              <a:t>播完不跳下一單元，被迫當點擊工人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🧠 剛入門的提示語焦慮</a:t>
            </a:r>
          </a:p>
          <a:p xmlns:a="http://schemas.openxmlformats.org/drawingml/2006/main">
            <a:r>
              <a:t>面對空白對話框不知道怎麼說</a:t>
            </a:r>
          </a:p>
          <a:p xmlns:a="http://schemas.openxmlformats.org/drawingml/2006/main">
            <a:r>
              <a:t>隨便問一句回答空洞、電路圖開天窗</a:t>
            </a:r>
          </a:p>
          <a:p xmlns:a="http://schemas.openxmlformats.org/drawingml/2006/main">
            <a:r>
              <a:t>不知道如何下達具體執行規格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單元一：觀念啟蒙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04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從「對話問答」到「自主辦事」的跨時代躍升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傳統對話 AI（ChatGPT 等）</a:t>
            </a:r>
          </a:p>
          <a:p xmlns:a="http://schemas.openxmlformats.org/drawingml/2006/main">
            <a:r>
              <a:t>就像一位【顧問】</a:t>
            </a:r>
          </a:p>
          <a:p xmlns:a="http://schemas.openxmlformats.org/drawingml/2006/main">
            <a:r>
              <a:t>• 只動嘴巴回答，不動手做事</a:t>
            </a:r>
          </a:p>
          <a:p xmlns:a="http://schemas.openxmlformats.org/drawingml/2006/main">
            <a:r>
              <a:t>• 產出散落對話框，需手動複製貼上</a:t>
            </a:r>
          </a:p>
          <a:p xmlns:a="http://schemas.openxmlformats.org/drawingml/2006/main">
            <a:r>
              <a:t>• 單次問答，無法連續跨檔案操作</a:t>
            </a:r>
          </a:p>
          <a:p xmlns:a="http://schemas.openxmlformats.org/drawingml/2006/main">
            <a:r>
              <a:t>• 需要人盯著螢幕一步一步追問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Antigravity 代理人 (Agent)</a:t>
            </a:r>
          </a:p>
          <a:p xmlns:a="http://schemas.openxmlformats.org/drawingml/2006/main">
            <a:r>
              <a:t>就像一位【數位實習老師】</a:t>
            </a:r>
          </a:p>
          <a:p xmlns:a="http://schemas.openxmlformats.org/drawingml/2006/main">
            <a:r>
              <a:t>• 具備虛擬雙手，能直接在電腦建檔運算</a:t>
            </a:r>
          </a:p>
          <a:p xmlns:a="http://schemas.openxmlformats.org/drawingml/2006/main">
            <a:r>
              <a:t>• 直接產出可開啟的 .xlsx、高解析電路圖與互動網頁</a:t>
            </a:r>
          </a:p>
          <a:p xmlns:a="http://schemas.openxmlformats.org/drawingml/2006/main">
            <a:r>
              <a:t>• 支援「連續動作鏈」，自動執行多步驟並自我除錯</a:t>
            </a:r>
          </a:p>
          <a:p xmlns:a="http://schemas.openxmlformats.org/drawingml/2006/main">
            <a:r>
              <a:t>• 下達目標後自主工作，完成時向您回報！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單元一：觀念啟蒙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05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認識 Antigravity 代理人的「三大超能力」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🧠 自主規劃 (Plan)</a:t>
            </a:r>
          </a:p>
          <a:p xmlns:a="http://schemas.openxmlformats.org/drawingml/2006/main">
            <a:r>
              <a:t>把大任務拆解為執行清單</a:t>
            </a:r>
          </a:p>
          <a:p xmlns:a="http://schemas.openxmlformats.org/drawingml/2006/main">
            <a:r>
              <a:t>給定教學目標，自動啟動深度思考，拆解第一步、第二步、第三步，避免做白工。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🛠️ 工具調用 (Tools)</a:t>
            </a:r>
          </a:p>
          <a:p xmlns:a="http://schemas.openxmlformats.org/drawingml/2006/main">
            <a:r>
              <a:t>擁有讀寫檔案與運算的能力</a:t>
            </a:r>
          </a:p>
          <a:p xmlns:a="http://schemas.openxmlformats.org/drawingml/2006/main">
            <a:r>
              <a:t>不只產出文字，能自主編寫並執行腳本，繪製標準 IEEE 電路圖、處理 Excel 加權與圖表。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📦 工作區成果 (Artifacts)</a:t>
            </a:r>
          </a:p>
          <a:p xmlns:a="http://schemas.openxmlformats.org/drawingml/2006/main">
            <a:r>
              <a:t>實體檔案直接存在你的硬碟</a:t>
            </a:r>
          </a:p>
          <a:p xmlns:a="http://schemas.openxmlformats.org/drawingml/2006/main">
            <a:r>
              <a:t>所有成績表、電路圖與互動教具直接存在電腦資料夾，右側面板隨時即時預覽。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06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打造你的「AI 數位辦公桌」：專屬教學工作區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📂 左側：專案檔案庫</a:t>
            </a:r>
          </a:p>
          <a:p xmlns:a="http://schemas.openxmlformats.org/drawingml/2006/main">
            <a:r>
              <a:t>打開 Antigravity 點選 Open Workspace，選擇或新建「2026_教學專案」資料夾。所有由 AI 建立的表格與教具都存於此。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💬 中央：對話指揮中心</a:t>
            </a:r>
          </a:p>
          <a:p xmlns:a="http://schemas.openxmlformats.org/drawingml/2006/main">
            <a:r>
              <a:t>如同你的數位助教辦公桌。在這裡下達 CRIS 提示詞，觀察 AI 的思考過程 (Thinking) 與工具執行。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📱 右側：成果即時預覽區</a:t>
            </a:r>
          </a:p>
          <a:p xmlns:a="http://schemas.openxmlformats.org/drawingml/2006/main">
            <a:r>
              <a:t>檔案產生後自動在此彈出預覽！試算表、電路圖與互動網頁直接呈現，免手動開外部軟體即可快速檢查確認。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07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安心守則：什麼是「沙盒機制 (Sandbox)」？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🛡️ 老師最常擔心的問題：「AI 操作我的電腦，會不會把我原本的重要公文改壞？」</a:t>
            </a:r>
          </a:p>
          <a:p xmlns:a="http://schemas.openxmlformats.org/drawingml/2006/main">
            <a:r>
              <a:t>🌿 專屬隔離區（Sandbox 沙盒）</a:t>
            </a:r>
          </a:p>
          <a:p xmlns:a="http://schemas.openxmlformats.org/drawingml/2006/main">
            <a:r>
              <a:t>    就像在操場劃設安全的跑道，Antigravity 的所有自動化執行都被限制在「目前的專案資料夾」，絕對不會跑出去修改你的系統檔或桌面私人檔案。</a:t>
            </a:r>
          </a:p>
          <a:p xmlns:a="http://schemas.openxmlformats.org/drawingml/2006/main">
            <a:r>
              <a:t>🌿 透明可見的執行過程</a:t>
            </a:r>
          </a:p>
          <a:p xmlns:a="http://schemas.openxmlformats.org/drawingml/2006/main">
            <a:r>
              <a:t>    AI 的每一步動作、修改了哪個檔案，全部在畫布上記錄得清清楚楚，隨時可以檢視與復原。</a:t>
            </a:r>
          </a:p>
          <a:p xmlns:a="http://schemas.openxmlformats.org/drawingml/2006/main">
            <a:r>
              <a:t>🌿 資安與隱私第一準則</a:t>
            </a:r>
          </a:p>
          <a:p xmlns:a="http://schemas.openxmlformats.org/drawingml/2006/main">
            <a:r>
              <a:t>    練習時請勿使用真實學生的身分證字號、家長私人電話等敏感個資；API Token 務必妥善遮罩保存。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08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初學者必備：零代碼環境一鍵健檢與已裝自動化程式清冊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🖥️ 本機實測已就緒之自動化工具清冊</a:t>
            </a:r>
          </a:p>
          <a:p xmlns:a="http://schemas.openxmlformats.org/drawingml/2006/main">
            <a:r>
              <a:t>⚡ 基礎環境核心</a:t>
            </a:r>
          </a:p>
          <a:p xmlns:a="http://schemas.openxmlformats.org/drawingml/2006/main">
            <a:r>
              <a:t>Python 3.14 (直譯器) ✕ Node.js v24 (MCP運作) ✕ Git (版本/推播)</a:t>
            </a:r>
          </a:p>
          <a:p xmlns:a="http://schemas.openxmlformats.org/drawingml/2006/main">
            <a:r>
              <a:t>📐 專業電學與電子學繪圖</a:t>
            </a:r>
          </a:p>
          <a:p xmlns:a="http://schemas.openxmlformats.org/drawingml/2006/main">
            <a:r>
              <a:t>schemdraw (IEEE鋸齒電阻/BJT電晶體/受控源) ✕ matplotlib (曲線繪製) ✕ Pillow</a:t>
            </a:r>
          </a:p>
          <a:p xmlns:a="http://schemas.openxmlformats.org/drawingml/2006/main">
            <a:r>
              <a:t>📊 Office 行政自動化</a:t>
            </a:r>
          </a:p>
          <a:p xmlns:a="http://schemas.openxmlformats.org/drawingml/2006/main">
            <a:r>
              <a:t>python-pptx (簡報排版動畫) ✕ openpyxl / pandas (加權算分/學情統計)</a:t>
            </a:r>
          </a:p>
          <a:p xmlns:a="http://schemas.openxmlformats.org/drawingml/2006/main">
            <a:r>
              <a:t>🌐 瀏覽器巡航與協定</a:t>
            </a:r>
          </a:p>
          <a:p xmlns:a="http://schemas.openxmlformats.org/drawingml/2006/main">
            <a:r>
              <a:t>chrome-devtools-mcp (磨課師人機接力) ✕ KaTeX 數學公式渲染</a:t>
            </a:r>
          </a:p>
          <a:p xmlns:a="http://schemas.openxmlformats.org/drawingml/2006/main">
            <a:r>
              <a:t>💡 免敲 CMD 指令！只要下達右側咒語，代理人即在背景自動配齊上述工具。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 01：全自動環境健檢與裝備咒語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請扮演我的「電腦教學環境裝備醫生」。我是一位剛接觸 AI 的零基礎老師，請幫我檢查並自動裝備好工作環境：</a:t>
            </a:r>
          </a:p>
          <a:p xmlns:a="http://schemas.openxmlformats.org/drawingml/2006/main">
            <a:r>
              <a:t>1. 檢查核心環境：Python 與 Node.js 是否已安裝就緒並回報版本？</a:t>
            </a:r>
          </a:p>
          <a:p xmlns:a="http://schemas.openxmlformats.org/drawingml/2006/main">
            <a:r>
              <a:t>2. 檢查 Git 工具：是否安裝 Git 版本控制（供後續推播 GitHub 網站使用）？</a:t>
            </a:r>
          </a:p>
          <a:p xmlns:a="http://schemas.openxmlformats.org/drawingml/2006/main">
            <a:r>
              <a:t>3. 檢查並自動安裝「教學必備套件庫」（若缺少請背景自動 pip install，免我開終端機）：</a:t>
            </a:r>
          </a:p>
          <a:p xmlns:a="http://schemas.openxmlformats.org/drawingml/2006/main">
            <a:r>
              <a:t>   - Office 自動化：openpyxl、pandas、python-pptx、python-docx</a:t>
            </a:r>
          </a:p>
          <a:p xmlns:a="http://schemas.openxmlformats.org/drawingml/2006/main">
            <a:r>
              <a:t>   - 專業電學與圖表：schemdraw（標準電路圖）、matplotlib（特性曲線）、pillow</a:t>
            </a:r>
          </a:p>
          <a:p xmlns:a="http://schemas.openxmlformats.org/drawingml/2006/main">
            <a:r>
              <a:t>4. 工作區讀寫測試：在當前目錄建立「健檢回報.txt」，並條列檢測狀態。</a:t>
            </a:r>
          </a:p>
          <a:p xmlns:a="http://schemas.openxmlformats.org/drawingml/2006/main">
            <a:r>
              <a:t>5. 完成後用親切繁體中文，以打勾 (✅) 方式回報所有裝備就緒清單！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09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初試啼聲：讓代理人自主在電腦建立第一份檔案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實作目標</a:t>
            </a:r>
          </a:p>
          <a:p xmlns:a="http://schemas.openxmlformats.org/drawingml/2006/main">
            <a:r>
              <a:t>體驗代理 AI 的「造物」能力！</a:t>
            </a:r>
          </a:p>
          <a:p xmlns:a="http://schemas.openxmlformats.org/drawingml/2006/main">
            <a:r>
              <a:t>觀察送出後：</a:t>
            </a:r>
          </a:p>
          <a:p xmlns:a="http://schemas.openxmlformats.org/drawingml/2006/main">
            <a:r>
              <a:t>1. AI 思考中（Thinking）</a:t>
            </a:r>
          </a:p>
          <a:p xmlns:a="http://schemas.openxmlformats.org/drawingml/2006/main">
            <a:r>
              <a:t>2. 工具調用（write_to_file）</a:t>
            </a:r>
          </a:p>
          <a:p xmlns:a="http://schemas.openxmlformats.org/drawingml/2006/main">
            <a:r>
              <a:t>3. 左側檔案清單跳出「研習簽到與教學備忘.txt」</a:t>
            </a:r>
          </a:p>
          <a:p xmlns:a="http://schemas.openxmlformats.org/drawingml/2006/main">
            <a:r>
              <a:t>4. 點開檔案，內容已真實存在硬碟中！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實戰提示詞範本 02：第一份自主建檔咒語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你好！我是 [請填寫學校：例如 大安高工 / 彰師附工] 的 [請填寫學科：例如 電子科 / 資訊科] 老師。</a:t>
            </a:r>
          </a:p>
          <a:p xmlns:a="http://schemas.openxmlformats.org/drawingml/2006/main">
            <a:r>
              <a:t>請在我們的工作資料夾中，幫我建立一個名為「研習簽到與教學備忘.txt」的檔案，</a:t>
            </a:r>
          </a:p>
          <a:p xmlns:a="http://schemas.openxmlformats.org/drawingml/2006/main">
            <a:r>
              <a:t>內容寫入：</a:t>
            </a:r>
          </a:p>
          <a:p xmlns:a="http://schemas.openxmlformats.org/drawingml/2006/main">
            <a:r>
              <a:t>- 今日日期與時間</a:t>
            </a:r>
          </a:p>
          <a:p xmlns:a="http://schemas.openxmlformats.org/drawingml/2006/main">
            <a:r>
              <a:t>- 研習主題：Antigravity 代理 AI 教學應用實戰</a:t>
            </a:r>
          </a:p>
          <a:p xmlns:a="http://schemas.openxmlformats.org/drawingml/2006/main">
            <a:r>
              <a:t>- 我的教學願景：期許用 AI 幫自己每週省下 3 小時備課時間</a:t>
            </a:r>
          </a:p>
          <a:p xmlns:a="http://schemas.openxmlformats.org/drawingml/2006/main">
            <a:r>
              <a:t>- 給老師的一句備課激勵金句</a:t>
            </a:r>
          </a:p>
          <a:p xmlns:a="http://schemas.openxmlformats.org/drawingml/2006/main">
            <a:r>
              <a:t>建立完成後，請告訴我檔案已儲存。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電學圖解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10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為什麼別人用 AI 像神仙，我用 AI 像智障？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❌ 失敗指令：隨意說一句話</a:t>
            </a:r>
          </a:p>
          <a:p xmlns:a="http://schemas.openxmlformats.org/drawingml/2006/main">
            <a:r>
              <a:t>「幫我出幾題基本電學題目。」</a:t>
            </a:r>
          </a:p>
          <a:p xmlns:a="http://schemas.openxmlformats.org/drawingml/2006/main">
            <a:r>
              <a:t>• AI 不知道給技術高中哪一科、幾年級學生做（高一初學？統測複習？）</a:t>
            </a:r>
          </a:p>
          <a:p xmlns:a="http://schemas.openxmlformats.org/drawingml/2006/main">
            <a:r>
              <a:t>• 題目數值未經設計，常出現除不盡的繁雜小數，無法快速手算</a:t>
            </a:r>
          </a:p>
          <a:p xmlns:a="http://schemas.openxmlformats.org/drawingml/2006/main">
            <a:r>
              <a:t>• 缺乏電路化簡結構，沒有串並聯拆解步驟與戴維寧等效解析</a:t>
            </a:r>
          </a:p>
          <a:p xmlns:a="http://schemas.openxmlformats.org/drawingml/2006/main">
            <a:r>
              <a:t>• 老師還得花大量時間拿計算紙一題一題重新驗算電路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大師級指令：結構化清晰下達</a:t>
            </a:r>
          </a:p>
          <a:p xmlns:a="http://schemas.openxmlformats.org/drawingml/2006/main">
            <a:r>
              <a:t>「你是一位技術高中電機電子群名師，正在教高一『基本電學：電阻網路分析』。請針對『直流電阻串並聯化簡與戴維寧定理 (Thevenin)』，設計 3 題統測試題等級的素養選擇題。要求：1. 數值經精心設計（電阻與電壓皆為整數，便於計算） 2. 每題包含清晰電路結構描述、4 個選項與標準答案 3. 詳解需列出完整推導步驟（含等效電阻 Rth 與等效電壓 Vth 之求法，並標註學生常錯的短路/開路盲點），並用 Python schemdraw 繪製標準閉迴路電路圖。」</a:t>
            </a:r>
          </a:p>
          <a:p xmlns:a="http://schemas.openxmlformats.org/drawingml/2006/main">
            <a:r>
              <a:t>✔ 角色清晰：鎖定技高電機電子群高一認知程度</a:t>
            </a:r>
          </a:p>
          <a:p xmlns:a="http://schemas.openxmlformats.org/drawingml/2006/main">
            <a:r>
              <a:t>✔ 數值友好：整數設計，避免繁雜小數干擾核心電路概念</a:t>
            </a:r>
          </a:p>
          <a:p xmlns:a="http://schemas.openxmlformats.org/drawingml/2006/main">
            <a:r>
              <a:t>✔ 圖文並茂：自動呼叫 Python 繪製高解析 IEEE 鋸齒電阻電路圖</a:t>
            </a:r>
          </a:p>
          <a:p xmlns:a="http://schemas.openxmlformats.org/drawingml/2006/main">
            <a:r>
              <a:t>✔ 產出即成果：一秒複製即可直接印成課堂隨堂評量卷！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電學圖解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11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實測對決 01：隨意指令慘遭開天窗 ✕ 大師指令電路圖化簡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❌ 隨意指令產出（真實車禍現場）</a:t>
            </a:r>
          </a:p>
          <a:p xmlns:a="http://schemas.openxmlformats.org/drawingml/2006/main">
            <a:r>
              <a:t>• 題 1：死背名詞</a:t>
            </a:r>
          </a:p>
          <a:p xmlns:a="http://schemas.openxmlformats.org/drawingml/2006/main">
            <a:r>
              <a:t>   「什麼是歐姆定律？請寫出公式。」</a:t>
            </a:r>
          </a:p>
          <a:p xmlns:a="http://schemas.openxmlformats.org/drawingml/2006/main">
            <a:r>
              <a:t>➔ 國中生都知道，完全沒有技高電阻網路評量價值。</a:t>
            </a:r>
          </a:p>
          <a:p xmlns:a="http://schemas.openxmlformats.org/drawingml/2006/main">
            <a:r>
              <a:t>• 題 2：數值極度不友善</a:t>
            </a:r>
          </a:p>
          <a:p xmlns:a="http://schemas.openxmlformats.org/drawingml/2006/main">
            <a:r>
              <a:t>   「100V 電壓接 33Ω 電阻，求電流？」</a:t>
            </a:r>
          </a:p>
          <a:p xmlns:a="http://schemas.openxmlformats.org/drawingml/2006/main">
            <a:r>
              <a:t>➔ 答案 I = 3.0303...A（無限循環小數，學生算到懷疑人生）</a:t>
            </a:r>
          </a:p>
          <a:p xmlns:a="http://schemas.openxmlformats.org/drawingml/2006/main">
            <a:r>
              <a:t>• 題 3：致命傷：電路開天窗！</a:t>
            </a:r>
          </a:p>
          <a:p xmlns:a="http://schemas.openxmlformats.org/drawingml/2006/main">
            <a:r>
              <a:t>   「試求下圖電路的戴維寧等效電路。（註：此處無圖）❌」</a:t>
            </a:r>
          </a:p>
          <a:p xmlns:a="http://schemas.openxmlformats.org/drawingml/2006/main">
            <a:r>
              <a:t>➔ AI 憑空說下圖，根本沒有圖！題目直接作廢！</a:t>
            </a:r>
          </a:p>
          <a:p xmlns:a="http://schemas.openxmlformats.org/drawingml/2006/main">
            <a:r>
              <a:t>• 老師下場：耗時重工</a:t>
            </a:r>
          </a:p>
          <a:p xmlns:a="http://schemas.openxmlformats.org/drawingml/2006/main">
            <a:r>
              <a:t>   無選項、無推導步驟，老師還得花半小時拿計算紙手動重出重算！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大師指令產出：題 01 電阻串並聯化簡</a:t>
            </a:r>
          </a:p>
          <a:p xmlns:a="http://schemas.openxmlformats.org/drawingml/2006/main">
            <a:r>
              <a:t>【題幹】E = 24V，R1 = 6Ω 與 R2 = 12Ω 並聯後，再與 R3 = 8Ω 串聯。求 RT 與 IT？</a:t>
            </a:r>
          </a:p>
          <a:p xmlns:a="http://schemas.openxmlformats.org/drawingml/2006/main">
            <a:r>
              <a:t>【選項】(A) RT=12Ω, IT=2A   (B) RT=14Ω, IT=1.7A   (C) RT=10Ω, IT=2.4A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正解 (A) | 推導：R1//R2 = 4Ω ➔ RT = 4 + 8 = 12Ω ➔ IT = 24 / 12 = 2A（整數手算超順！）</a:t>
            </a:r>
          </a:p>
          <a:p xmlns:a="http://schemas.openxmlformats.org/drawingml/2006/main">
            <a:r>
              <a:t>🚨 常見盲點：學生易誤先算串聯 (6+12=18) 再並聯 8，詳解完整提示避免踩雷！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電學圖解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12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實測對決 02：戴維寧等效模型 ✕ 最大功率轉移曲線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題 02：戴維寧等效模型與負載分析</a:t>
            </a:r>
          </a:p>
          <a:p xmlns:a="http://schemas.openxmlformats.org/drawingml/2006/main">
            <a:r>
              <a:t>【題幹】開路電壓 Eth = 18V，等效電阻 Rth = 6Ω。外接負載 RL = 3Ω，求負載電流 IL？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正解 (B) 2A | 單迴路串聯：IL = 18 / (6 + 3) = 2A（正負整數好算）</a:t>
            </a:r>
          </a:p>
          <a:p xmlns:a="http://schemas.openxmlformats.org/drawingml/2006/main">
            <a:r>
              <a:t>🚨 防呆叮嚀：求 Rth 時獨立電壓源應「視為短路 (0V)」，學生常誤當開路！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題 03：戴維寧最大功率轉移特性</a:t>
            </a:r>
          </a:p>
          <a:p xmlns:a="http://schemas.openxmlformats.org/drawingml/2006/main">
            <a:r>
              <a:t>【題幹】Eth = 20V，Rth = 5Ω。求使負載獲最大功率之 RL 阻值與最大功率 PL(max)？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正解 (A) RL=5Ω, PL=20W | 公式：PL(max) = Eth² / (4×Rth) = 400 / 20 = 20W</a:t>
            </a:r>
          </a:p>
          <a:p xmlns:a="http://schemas.openxmlformats.org/drawingml/2006/main">
            <a:r>
              <a:t>🚨 防呆叮嚀：分母常忘乘係數 4，誤選 80W（選項 B 典型誘答陷阱）！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電子學專題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13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實測對決 03：電子學 BJT 共射極放大器 ✕ rπ 小訊號等效模型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🔌 步驟一：共射極 (CE) 放大電路與直流 Q 點</a:t>
            </a:r>
          </a:p>
          <a:p xmlns:a="http://schemas.openxmlformats.org/drawingml/2006/main">
            <a:r>
              <a:t>【規格】VCC=12V, RB=565kΩ, RC=3kΩ, RL=3kΩ, β=100, VT=26mV，含耦合與旁路電容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直流與小訊號參數：IB = (12-0.7)/565k = 20µA ➔ IC = β·IB = 2mA</a:t>
            </a:r>
          </a:p>
          <a:p xmlns:a="http://schemas.openxmlformats.org/drawingml/2006/main">
            <a:r>
              <a:t>⚡ 轉導 gm = IC / VT ≈ 76.92 mA/V  |  輸入電阻 rπ = β / gm = 1.3 kΩ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📐 步驟二：交流小訊號 rπ 等效電路與電壓增益</a:t>
            </a:r>
          </a:p>
          <a:p xmlns:a="http://schemas.openxmlformats.org/drawingml/2006/main">
            <a:r>
              <a:t>【交流接地】直流電源 VCC 視為交流接地 (0V)，電容視為交流短路，射極 E 直接接地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電壓增益：Av = vo/vs = -gm × (RC // RL) = -76.92m × (3k // 3k) ≈ -115.4 V/V</a:t>
            </a:r>
          </a:p>
          <a:p xmlns:a="http://schemas.openxmlformats.org/drawingml/2006/main">
            <a:r>
              <a:t>🌐 互動模擬：stjedu.github.io/www/electronics_bjt.html（含即時 180° 反相波形與隨堂測驗）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14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提示語大師核心公式：CRIS 萬用架構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 - Context（背景與角色）</a:t>
            </a:r>
          </a:p>
          <a:p xmlns:a="http://schemas.openxmlformats.org/drawingml/2006/main">
            <a:r>
              <a:t>設定 AI 的專業身分，以及面對的年級、學生程度與教學情境。</a:t>
            </a:r>
          </a:p>
          <a:p xmlns:a="http://schemas.openxmlformats.org/drawingml/2006/main">
            <a:r>
              <a:t>例：『你是技高電機電子群名師，面對高二電子學學生...』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- Request（明確目標任務）</a:t>
            </a:r>
          </a:p>
          <a:p xmlns:a="http://schemas.openxmlformats.org/drawingml/2006/main">
            <a:r>
              <a:t>以動詞開頭，直接告訴 AI 最終要完成什麼工作。</a:t>
            </a:r>
          </a:p>
          <a:p xmlns:a="http://schemas.openxmlformats.org/drawingml/2006/main">
            <a:r>
              <a:t>例：『請設計 BJT 共射極小訊號 rπ 模型推導教材與互動計算網頁...』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- Instructions（條件與限制規則）</a:t>
            </a:r>
          </a:p>
          <a:p xmlns:a="http://schemas.openxmlformats.org/drawingml/2006/main">
            <a:r>
              <a:t>限制難易度、題型、字數、避免提及的內容。</a:t>
            </a:r>
          </a:p>
          <a:p xmlns:a="http://schemas.openxmlformats.org/drawingml/2006/main">
            <a:r>
              <a:t>例：『使用 schemdraw 繪製 300DPI 電路圖、KaTeX 渲染公式、標註 180° 反相觀念...』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 - Style &amp; Format（風格與輸出格式）</a:t>
            </a:r>
          </a:p>
          <a:p xmlns:a="http://schemas.openxmlformats.org/drawingml/2006/main">
            <a:r>
              <a:t>指定輸出外觀，如單一 HTML 網頁、Markdown 表格或 Excel 試算表。</a:t>
            </a:r>
          </a:p>
          <a:p xmlns:a="http://schemas.openxmlformats.org/drawingml/2006/main">
            <a:r>
              <a:t>例：『以溫暖校園風 HTML 呈現，含即時參數計算機與 4 題素養測驗...』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15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代理人專用：下達「連續動作鏈 (Chain of Action)」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1：讀取與繪圖</a:t>
            </a:r>
          </a:p>
          <a:p xmlns:a="http://schemas.openxmlformats.org/drawingml/2006/main">
            <a:r>
              <a:t>範例指令：「先用 Python schemdraw 繪製高解析度 BJT 共射極電路圖與 rπ 等效模型圖，存入 circuits/ 資料夾...」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2：計算與建檔</a:t>
            </a:r>
          </a:p>
          <a:p xmlns:a="http://schemas.openxmlformats.org/drawingml/2006/main">
            <a:r>
              <a:t>範例指令：「接著建立 electronics_bjt.html，嵌入電路圖、KaTeX 公式推導、即時增益計算機與反相波形圖...」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3：審查與推播</a:t>
            </a:r>
          </a:p>
          <a:p xmlns:a="http://schemas.openxmlformats.org/drawingml/2006/main">
            <a:r>
              <a:t>範例指令：「最後自我檢查所有公式渲染與圖片路徑無誤後，自動 Commit 並推播更新至 GitHub Pages！」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16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神級代理人：MCP 瀏覽器自動化 —— 人機接力與 1 鍵啟動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🤝 30 秒人機接力黃金法則</a:t>
            </a:r>
          </a:p>
          <a:p xmlns:a="http://schemas.openxmlformats.org/drawingml/2006/main">
            <a:r>
              <a:t>💡「資安歸老師，苦工歸 AI！」</a:t>
            </a:r>
          </a:p>
          <a:p xmlns:a="http://schemas.openxmlformats.org/drawingml/2006/main">
            <a:r>
              <a:t>👤 老師親手做（前 30 秒免踩雷）：</a:t>
            </a:r>
          </a:p>
          <a:p xmlns:a="http://schemas.openxmlformats.org/drawingml/2006/main">
            <a:r>
              <a:t>   1. 點兩下「啟動AI伴讀Chrome.bat」（遠端除錯埠 9222）</a:t>
            </a:r>
          </a:p>
          <a:p xmlns:a="http://schemas.openxmlformats.org/drawingml/2006/main">
            <a:r>
              <a:t>   2. 親自登入教育雲 OpenID（免個資外洩、免驗證碼）</a:t>
            </a:r>
          </a:p>
          <a:p xmlns:a="http://schemas.openxmlformats.org/drawingml/2006/main">
            <a:r>
              <a:t>   3. 點開課程第一單元，按一次播放鍵！</a:t>
            </a:r>
          </a:p>
          <a:p xmlns:a="http://schemas.openxmlformats.org/drawingml/2006/main">
            <a:r>
              <a:t>🤖 AI 代理人接管（後 30 分鐘全代勞）：</a:t>
            </a:r>
          </a:p>
          <a:p xmlns:a="http://schemas.openxmlformats.org/drawingml/2006/main">
            <a:r>
              <a:t>   • 0.5 秒自動代點「下一單元」微小按鈕</a:t>
            </a:r>
          </a:p>
          <a:p xmlns:a="http://schemas.openxmlformats.org/drawingml/2006/main">
            <a:r>
              <a:t>   • 自動按掉「禁止多重視窗」等中斷警告彈窗</a:t>
            </a:r>
          </a:p>
          <a:p xmlns:a="http://schemas.openxmlformats.org/drawingml/2006/main">
            <a:r>
              <a:t>   • 每 24 分鐘微暫停 5 秒重置防閒置計時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提示詞範本 03-A：生手「一鍵通」秒殺指令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請使用 chrome-devtools-mcp 連接我目前開啟的 Chrome 瀏覽器：</a:t>
            </a:r>
          </a:p>
          <a:p xmlns:a="http://schemas.openxmlformats.org/drawingml/2006/main">
            <a:r>
              <a:t>1. 找到我正在播放研習影片的磨課師（或數位學習平臺）分頁。</a:t>
            </a:r>
          </a:p>
          <a:p xmlns:a="http://schemas.openxmlformats.org/drawingml/2006/main">
            <a:r>
              <a:t>2. 幫我監控影片進度：當前單元播完時，自動幫我點擊「下一單元」繼續播放。</a:t>
            </a:r>
          </a:p>
          <a:p xmlns:a="http://schemas.openxmlformats.org/drawingml/2006/main">
            <a:r>
              <a:t>3. 若畫面彈出「禁止多重視窗」或確認警示窗，請自動點擊「確定」排除。</a:t>
            </a:r>
          </a:p>
          <a:p xmlns:a="http://schemas.openxmlformats.org/drawingml/2006/main">
            <a:r>
              <a:t>4. 開始執行，並在每完成一個章節時向我回報！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17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生手一次就成功：全自動巡航 ✕ 突發狀況急救包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提示詞範本 03-B：大師級全自動巡航 CRIS 咒語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【角色】請扮演我的「數位研習全自動伴讀導航員」。</a:t>
            </a:r>
          </a:p>
          <a:p xmlns:a="http://schemas.openxmlformats.org/drawingml/2006/main">
            <a:r>
              <a:t>【情境】我已登入磨課師研習平臺（Chrome 9222 遠端除錯埠），畫面正停在課程播放頁。</a:t>
            </a:r>
          </a:p>
          <a:p xmlns:a="http://schemas.openxmlformats.org/drawingml/2006/main">
            <a:r>
              <a:t>【任務與執行規則】：</a:t>
            </a:r>
          </a:p>
          <a:p xmlns:a="http://schemas.openxmlformats.org/drawingml/2006/main">
            <a:r>
              <a:t>1. 鎖定分頁：使用 list_pages 與 select_page 鎖定包含「moocs」或「elearning」課程分頁。</a:t>
            </a:r>
          </a:p>
          <a:p xmlns:a="http://schemas.openxmlformats.org/drawingml/2006/main">
            <a:r>
              <a:t>2. 連播機制：以 1.0x 正常速度播放，影片播畢自動點擊「下一單元（nav_next）」。</a:t>
            </a:r>
          </a:p>
          <a:p xmlns:a="http://schemas.openxmlformats.org/drawingml/2006/main">
            <a:r>
              <a:t>3. 防閒置破解：每播 24 分鐘自動微暫停 5 秒後恢復，重置 25/30 分鐘防閒置計時器。</a:t>
            </a:r>
          </a:p>
          <a:p xmlns:a="http://schemas.openxmlformats.org/drawingml/2006/main">
            <a:r>
              <a:t>4. 彈窗攔截：呼叫 handle_dialog，一旦有警告彈窗 0 秒點確定。</a:t>
            </a:r>
          </a:p>
          <a:p xmlns:a="http://schemas.openxmlformats.org/drawingml/2006/main">
            <a:r>
              <a:t>5. 持續巡航，並在右側記錄完成章節數與累積研習時數！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🛠️ 研習現場突發狀況「急救包」</a:t>
            </a:r>
          </a:p>
          <a:p xmlns:a="http://schemas.openxmlformats.org/drawingml/2006/main">
            <a:r>
              <a:t>遇到意外狀況？複製這幾句咒語貼上立即排除：</a:t>
            </a:r>
          </a:p>
          <a:p xmlns:a="http://schemas.openxmlformats.org/drawingml/2006/main">
            <a:r>
              <a:t>⚠️ 狀況 1：抓錯分頁</a:t>
            </a:r>
          </a:p>
          <a:p xmlns:a="http://schemas.openxmlformats.org/drawingml/2006/main">
            <a:r>
              <a:t>   「請列出 Chrome 所有開啟分頁標題，並將焦點切換到磨課師課程那一頁。」</a:t>
            </a:r>
          </a:p>
          <a:p xmlns:a="http://schemas.openxmlformats.org/drawingml/2006/main">
            <a:r>
              <a:t>⚠️ 狀況 2：彈窗卡住</a:t>
            </a:r>
          </a:p>
          <a:p xmlns:a="http://schemas.openxmlformats.org/drawingml/2006/main">
            <a:r>
              <a:t>   「畫面上跳出警告對話框，請呼叫 handle_dialog 幫我自動按確定關閉。」</a:t>
            </a:r>
          </a:p>
          <a:p xmlns:a="http://schemas.openxmlformats.org/drawingml/2006/main">
            <a:r>
              <a:t>⚠️ 狀況 3：按鈕微小</a:t>
            </a:r>
          </a:p>
          <a:p xmlns:a="http://schemas.openxmlformats.org/drawingml/2006/main">
            <a:r>
              <a:t>   「請在當前網頁尋找包含『下一頁』或『下一單元』按鈕並點擊它。」</a:t>
            </a:r>
          </a:p>
          <a:p xmlns:a="http://schemas.openxmlformats.org/drawingml/2006/main">
            <a:r>
              <a:t>⚠️ 狀況 4：查詢進度</a:t>
            </a:r>
          </a:p>
          <a:p xmlns:a="http://schemas.openxmlformats.org/drawingml/2006/main">
            <a:r>
              <a:t>   「請幫我查看當前課程的累計閱讀時數與完成進度百分比。」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單元四：Excel 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18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Office 自動化第一彈：手動拉公式算成績的終結者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傳統算成績的痛苦</a:t>
            </a:r>
          </a:p>
          <a:p xmlns:a="http://schemas.openxmlformats.org/drawingml/2006/main">
            <a:r>
              <a:t>• 總分、平均手動打 =SUM、=AVERAGE</a:t>
            </a:r>
          </a:p>
          <a:p xmlns:a="http://schemas.openxmlformats.org/drawingml/2006/main">
            <a:r>
              <a:t>• 不及格要一欄一欄篩選、改粉紅色</a:t>
            </a:r>
          </a:p>
          <a:p xmlns:a="http://schemas.openxmlformats.org/drawingml/2006/main">
            <a:r>
              <a:t>• 等第判定寫巢狀 =IF 寫到眼花</a:t>
            </a:r>
          </a:p>
          <a:p xmlns:a="http://schemas.openxmlformats.org/drawingml/2006/main">
            <a:r>
              <a:t>• 全班最高分、最低分還要再算一次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Antigravity 代理人解法</a:t>
            </a:r>
          </a:p>
          <a:p xmlns:a="http://schemas.openxmlformats.org/drawingml/2006/main">
            <a:r>
              <a:t>• 把原始資料給它，或直接模擬整班成績</a:t>
            </a:r>
          </a:p>
          <a:p xmlns:a="http://schemas.openxmlformats.org/drawingml/2006/main">
            <a:r>
              <a:t>• AI 在背景自行執行演算法運算</a:t>
            </a:r>
          </a:p>
          <a:p xmlns:a="http://schemas.openxmlformats.org/drawingml/2006/main">
            <a:r>
              <a:t>• 自動標記不及格粉紅色底色</a:t>
            </a:r>
          </a:p>
          <a:p xmlns:a="http://schemas.openxmlformats.org/drawingml/2006/main">
            <a:r>
              <a:t>• 幾秒鐘直接產出格式化完成的 .xlsx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單元四：Excel 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19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實戰演練：全自動班級成績統計與等第運算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實戰提示詞範本 04：Excel 自動算成績大師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請扮演我的「教務與實習成績統計助理」。</a:t>
            </a:r>
          </a:p>
          <a:p xmlns:a="http://schemas.openxmlformats.org/drawingml/2006/main">
            <a:r>
              <a:t>任務：在工作區建立「高二電子科專業實習第一次段考成績表.xlsx」。</a:t>
            </a:r>
          </a:p>
          <a:p xmlns:a="http://schemas.openxmlformats.org/drawingml/2006/main">
            <a:r>
              <a:t>資料要求：</a:t>
            </a:r>
          </a:p>
          <a:p xmlns:a="http://schemas.openxmlformats.org/drawingml/2006/main">
            <a:r>
              <a:t>1. 模擬 15 位技高學生名單（座號 1~15、學生姓名用王小明等假名），包含三項成績：</a:t>
            </a:r>
          </a:p>
          <a:p xmlns:a="http://schemas.openxmlformats.org/drawingml/2006/main">
            <a:r>
              <a:t>   - 專業筆試 (占 30%)</a:t>
            </a:r>
          </a:p>
          <a:p xmlns:a="http://schemas.openxmlformats.org/drawingml/2006/main">
            <a:r>
              <a:t>   - 示波器實作量測 (占 50%)</a:t>
            </a:r>
          </a:p>
          <a:p xmlns:a="http://schemas.openxmlformats.org/drawingml/2006/main">
            <a:r>
              <a:t>   - 平時實習表現與工安規範 (占 20%)</a:t>
            </a:r>
          </a:p>
          <a:p xmlns:a="http://schemas.openxmlformats.org/drawingml/2006/main">
            <a:r>
              <a:t>2. 自動計算：</a:t>
            </a:r>
          </a:p>
          <a:p xmlns:a="http://schemas.openxmlformats.org/drawingml/2006/main">
            <a:r>
              <a:t>   - 每位學生「學期加權總分（四捨五入至小數第一位）」。</a:t>
            </a:r>
          </a:p>
          <a:p xmlns:a="http://schemas.openxmlformats.org/drawingml/2006/main">
            <a:r>
              <a:t>   - 根據加權總分判定「等第」（90優/80甲/70乙/60丙/未滿60丁）。</a:t>
            </a:r>
          </a:p>
          <a:p xmlns:a="http://schemas.openxmlformats.org/drawingml/2006/main">
            <a:r>
              <a:t>   - 實作或筆試未滿 60 分用醒目粉紅色底色標記。</a:t>
            </a:r>
          </a:p>
          <a:p xmlns:a="http://schemas.openxmlformats.org/drawingml/2006/main">
            <a:r>
              <a:t>3. 表格最下方計算各項「全班平均」、「最高分」、「最低分」。</a:t>
            </a:r>
          </a:p>
          <a:p xmlns:a="http://schemas.openxmlformats.org/drawingml/2006/main">
            <a:r>
              <a:t>完成後儲存為 .xlsx 檔案並提供預覽。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📊 預期產出：高二電子科專業實習第一次段考成績表.xlsx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單元四：Excel 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20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進階演練：成績深入學情分析與圖表自動生成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實戰提示詞範本 05：學情診斷與視覺化圖表生成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請讀取剛剛建立的「高二電子科專業實習第一次段考成績表.xlsx」，進行深入學情分析：</a:t>
            </a:r>
          </a:p>
          <a:p xmlns:a="http://schemas.openxmlformats.org/drawingml/2006/main">
            <a:r>
              <a:t>1. 請繪製一張「實作成績分布級距長條圖」（以 10 分為一個級距），存成圖檔放入工作區。</a:t>
            </a:r>
          </a:p>
          <a:p xmlns:a="http://schemas.openxmlformats.org/drawingml/2006/main">
            <a:r>
              <a:t>2. 請列出分析摘要：</a:t>
            </a:r>
          </a:p>
          <a:p xmlns:a="http://schemas.openxmlformats.org/drawingml/2006/main">
            <a:r>
              <a:t>   - 班上實作前三名同學是誰？儀器操作亮點在哪？</a:t>
            </a:r>
          </a:p>
          <a:p xmlns:a="http://schemas.openxmlformats.org/drawingml/2006/main">
            <a:r>
              <a:t>   - 筆試或實作不及格人數各有幾位？</a:t>
            </a:r>
          </a:p>
          <a:p xmlns:a="http://schemas.openxmlformats.org/drawingml/2006/main">
            <a:r>
              <a:t>3. 請幫我寫一段 200 字左右的「技高專業實習學情檢討摘要」，適合直接複製到我的實習教學日誌或教學研究會報告中。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單元五：成果網頁化與 GitHub 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21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成果發布 01：免費帳號開立 ✕ 建立專屬倉庫 (www)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📝 步驟一：註冊個人 GitHub 帳號</a:t>
            </a:r>
          </a:p>
          <a:p xmlns:a="http://schemas.openxmlformats.org/drawingml/2006/main">
            <a:r>
              <a:t>1. 前往官網</a:t>
            </a:r>
          </a:p>
          <a:p xmlns:a="http://schemas.openxmlformats.org/drawingml/2006/main">
            <a:r>
              <a:t>瀏覽器打開 github.com，點右上角綠色「Sign up」。</a:t>
            </a:r>
          </a:p>
          <a:p xmlns:a="http://schemas.openxmlformats.org/drawingml/2006/main">
            <a:r>
              <a:t>2. 填寫三要素</a:t>
            </a:r>
          </a:p>
          <a:p xmlns:a="http://schemas.openxmlformats.org/drawingml/2006/main">
            <a:r>
              <a:t>輸入信箱（收驗證碼）➔ 設定高強度密碼 ➔ 決定 Username。</a:t>
            </a:r>
          </a:p>
          <a:p xmlns:a="http://schemas.openxmlformats.org/drawingml/2006/main">
            <a:r>
              <a:t>⭐ 命名即網址！</a:t>
            </a:r>
          </a:p>
          <a:p xmlns:a="http://schemas.openxmlformats.org/drawingml/2006/main">
            <a:r>
              <a:t>Username 會直接變成個人教學網站網址！例如簡老師為 stjedu，日後專屬站點即為 stjedu.github.io。</a:t>
            </a:r>
          </a:p>
          <a:p xmlns:a="http://schemas.openxmlformats.org/drawingml/2006/main">
            <a:r>
              <a:t>3. 驗證啟用</a:t>
            </a:r>
          </a:p>
          <a:p xmlns:a="http://schemas.openxmlformats.org/drawingml/2006/main">
            <a:r>
              <a:t>完成防偽驗證，收信填入驗證碼即可啟用免費雲端空間！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📂 步驟二：建立名為 www 的儲存庫</a:t>
            </a:r>
          </a:p>
          <a:p xmlns:a="http://schemas.openxmlformats.org/drawingml/2006/main">
            <a:r>
              <a:t>1. 點擊右上角「+」號</a:t>
            </a:r>
          </a:p>
          <a:p xmlns:a="http://schemas.openxmlformats.org/drawingml/2006/main">
            <a:r>
              <a:t>在 GitHub 畫面右上角點選「New repository」。</a:t>
            </a:r>
          </a:p>
          <a:p xmlns:a="http://schemas.openxmlformats.org/drawingml/2006/main">
            <a:r>
              <a:t>2. 倉庫名稱填寫 www</a:t>
            </a:r>
          </a:p>
          <a:p xmlns:a="http://schemas.openxmlformats.org/drawingml/2006/main">
            <a:r>
              <a:t>Repository name 輸入 www，代表個人教學首頁根目錄。</a:t>
            </a:r>
          </a:p>
          <a:p xmlns:a="http://schemas.openxmlformats.org/drawingml/2006/main">
            <a:r>
              <a:t>3. 務必勾選 Public（公開）</a:t>
            </a:r>
          </a:p>
          <a:p xmlns:a="http://schemas.openxmlformats.org/drawingml/2006/main">
            <a:r>
              <a:t>勾選 Public，其餘 README、.gitignore 保持預設空白免勾。</a:t>
            </a:r>
          </a:p>
          <a:p xmlns:a="http://schemas.openxmlformats.org/drawingml/2006/main">
            <a:r>
              <a:t>4. 點綠色按鈕建立</a:t>
            </a:r>
          </a:p>
          <a:p xmlns:a="http://schemas.openxmlformats.org/drawingml/2006/main">
            <a:r>
              <a:t>按下「Create repository」，取得網址：github.com/stjedu/www。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單元五：成果網頁化與 GitHub 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22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成果發布 02：產生個人安全金鑰 (Personal Access Token)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🔑 步驟三：為什麼不能用登入密碼？</a:t>
            </a:r>
          </a:p>
          <a:p xmlns:a="http://schemas.openxmlformats.org/drawingml/2006/main">
            <a:r>
              <a:t>🛡️ GitHub 資安規範升級</a:t>
            </a:r>
          </a:p>
          <a:p xmlns:a="http://schemas.openxmlformats.org/drawingml/2006/main">
            <a:r>
              <a:t>為防止密碼遭竊，GitHub 禁止終端機推播使用傳統密碼，必須改用 Personal Access Token (PAT)。</a:t>
            </a:r>
          </a:p>
          <a:p xmlns:a="http://schemas.openxmlformats.org/drawingml/2006/main">
            <a:r>
              <a:t>1. 前往金鑰設定頁面</a:t>
            </a:r>
          </a:p>
          <a:p xmlns:a="http://schemas.openxmlformats.org/drawingml/2006/main">
            <a:r>
              <a:t>瀏覽器前往 github.com/settings/tokens，點 Generate new token (classic)。</a:t>
            </a:r>
          </a:p>
          <a:p xmlns:a="http://schemas.openxmlformats.org/drawingml/2006/main">
            <a:r>
              <a:t>2. Note 填寫 antigravity</a:t>
            </a:r>
          </a:p>
          <a:p xmlns:a="http://schemas.openxmlformats.org/drawingml/2006/main">
            <a:r>
              <a:t>有效期限選 30 天或自訂天數。</a:t>
            </a:r>
          </a:p>
          <a:p xmlns:a="http://schemas.openxmlformats.org/drawingml/2006/main">
            <a:r>
              <a:t>3. ⭐ 關鍵勾選 repo</a:t>
            </a:r>
          </a:p>
          <a:p xmlns:a="http://schemas.openxmlformats.org/drawingml/2006/main">
            <a:r>
              <a:t>請務必將第一個「repo」（倉庫完整存取）打勾！</a:t>
            </a:r>
          </a:p>
          <a:p xmlns:a="http://schemas.openxmlformats.org/drawingml/2006/main">
            <a:r>
              <a:t>4. 複製金鑰代碼</a:t>
            </a:r>
          </a:p>
          <a:p xmlns:a="http://schemas.openxmlformats.org/drawingml/2006/main">
            <a:r>
              <a:t>點擊最下方綠色按鈕，複製開頭為 ghp_ 的專屬權杖！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🔒 資安第一：金鑰遮罩防洩漏守則</a:t>
            </a:r>
          </a:p>
          <a:p xmlns:a="http://schemas.openxmlformats.org/drawingml/2006/main">
            <a:r>
              <a:t>🚨 金鑰等同於您的臨時身分證！</a:t>
            </a:r>
          </a:p>
          <a:p xmlns:a="http://schemas.openxmlformats.org/drawingml/2006/main">
            <a:r>
              <a:t>任何人拿到您的 Token 都可以修改或覆寫您的雲端倉庫，切勿寫進公開腳本。</a:t>
            </a:r>
          </a:p>
          <a:p xmlns:a="http://schemas.openxmlformats.org/drawingml/2006/main">
            <a:r>
              <a:t>🙈 示範或講義中必須打馬賽克：</a:t>
            </a:r>
          </a:p>
          <a:p xmlns:a="http://schemas.openxmlformats.org/drawingml/2006/main">
            <a:r>
              <a:t>在簡報或公開錄影時，代碼必須做馬賽克遮罩處理：</a:t>
            </a:r>
          </a:p>
          <a:p xmlns:a="http://schemas.openxmlformats.org/drawingml/2006/main">
            <a:r>
              <a:t>   代碼示範：</a:t>
            </a:r>
          </a:p>
          <a:p xmlns:a="http://schemas.openxmlformats.org/drawingml/2006/main">
            <a:r>
              <a:t>token = 'ghp_████████████████████████████████'</a:t>
            </a:r>
          </a:p>
          <a:p xmlns:a="http://schemas.openxmlformats.org/drawingml/2006/main">
            <a:r>
              <a:t>⚡ 代理人自動化驗證機制：</a:t>
            </a:r>
          </a:p>
          <a:p xmlns:a="http://schemas.openxmlformats.org/drawingml/2006/main">
            <a:r>
              <a:t>結合 Windows Git Credential Manager，代理人可安全完成推播，無需在硬碟留存任何明文金鑰！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單元五：成果網頁化與 GitHub 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23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成果發布 03：代理人一鍵推播 ✕ GitHub Pages 上線 (Prompt 06)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 06：全自動推播咒語</a:t>
            </a:r>
          </a:p>
          <a:p xmlns:a="http://schemas.openxmlformats.org/drawingml/2006/main">
            <a:r>
              <a:t>💡 可直接反白複製使用：</a:t>
            </a:r>
          </a:p>
          <a:p xmlns:a="http://schemas.openxmlformats.org/drawingml/2006/main">
            <a:r>
              <a:t>我已在 GitHub 建立好公開儲存庫：https://github.com/stjedu/www，</a:t>
            </a:r>
          </a:p>
          <a:p xmlns:a="http://schemas.openxmlformats.org/drawingml/2006/main">
            <a:r>
              <a:t>請幫我執行以下自動化連續動作鏈：</a:t>
            </a:r>
          </a:p>
          <a:p xmlns:a="http://schemas.openxmlformats.org/drawingml/2006/main">
            <a:r>
              <a:t>1. 將今日的「基本電學與電子學 BJT 小訊號放大題庫與標準電路圖」做成個人教學入口網站 (index.html 與 electronics_bjt.html)。</a:t>
            </a:r>
          </a:p>
          <a:p xmlns:a="http://schemas.openxmlformats.org/drawingml/2006/main">
            <a:r>
              <a:t>2. 將網頁、circuits/ 電路圖與 PPTX 投影片 Commit 並推播到 main 分支。</a:t>
            </a:r>
          </a:p>
          <a:p xmlns:a="http://schemas.openxmlformats.org/drawingml/2006/main">
            <a:r>
              <a:t>3. 啟用 GitHub Pages 靜態伺服器！</a:t>
            </a:r>
          </a:p>
          <a:p xmlns:a="http://schemas.openxmlformats.org/drawingml/2006/main">
            <a:r>
              <a:t>4. 回報我最終公開上線的個人教學網站網址！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🎉 成果大功告成：六大教學網頁隨點隨看！</a:t>
            </a:r>
          </a:p>
          <a:p xmlns:a="http://schemas.openxmlformats.org/drawingml/2006/main">
            <a:r>
              <a:t>🌐 研習主入口與電學題庫：</a:t>
            </a:r>
          </a:p>
          <a:p xmlns:a="http://schemas.openxmlformats.org/drawingml/2006/main">
            <a:r>
              <a:t>👉 https://stjedu.github.io/www/</a:t>
            </a:r>
          </a:p>
          <a:p xmlns:a="http://schemas.openxmlformats.org/drawingml/2006/main">
            <a:r>
              <a:t>📐 電子學 BJT 小訊號 rπ 專頁：</a:t>
            </a:r>
          </a:p>
          <a:p xmlns:a="http://schemas.openxmlformats.org/drawingml/2006/main">
            <a:r>
              <a:t>👉 https://stjedu.github.io/www/electronics_bjt.html</a:t>
            </a:r>
          </a:p>
          <a:p xmlns:a="http://schemas.openxmlformats.org/drawingml/2006/main">
            <a:r>
              <a:t>🔬 示波器與丙級檢定模擬器：</a:t>
            </a:r>
          </a:p>
          <a:p xmlns:a="http://schemas.openxmlformats.org/drawingml/2006/main">
            <a:r>
              <a:t>👉 https://stjedu.github.io/www/instrument.html</a:t>
            </a:r>
          </a:p>
          <a:p xmlns:a="http://schemas.openxmlformats.org/drawingml/2006/main">
            <a:r>
              <a:t>📷 YOLO 視覺與 ESP32 物聯網：</a:t>
            </a:r>
          </a:p>
          <a:p xmlns:a="http://schemas.openxmlformats.org/drawingml/2006/main">
            <a:r>
              <a:t>👉 yolo_webcam_course.html  |  esp32_mqtt_course.html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24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【高階實戰案例】虛擬電子儀表 ✕ 丙級試題二模擬系統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純前端單檔教學模擬器 (instrument.html)</a:t>
            </a:r>
          </a:p>
          <a:p xmlns:a="http://schemas.openxmlformats.org/drawingml/2006/main">
            <a:r>
              <a:t>⚡ 整合 GDS-2102E 示波器 ＆ MFG-2110 任意波形信號產生器</a:t>
            </a:r>
          </a:p>
          <a:p xmlns:a="http://schemas.openxmlformats.org/drawingml/2006/main">
            <a:r>
              <a:t>🔌 一鍵連線測試：自動接線、通電、開輸出並 Autoset 展開最佳波形</a:t>
            </a:r>
          </a:p>
          <a:p xmlns:a="http://schemas.openxmlformats.org/drawingml/2006/main">
            <a:r>
              <a:t>🔒 靜態觸發鎖定：徹底解決高頻正弦波滾動問題，穩定清晰</a:t>
            </a:r>
          </a:p>
          <a:p xmlns:a="http://schemas.openxmlformats.org/drawingml/2006/main">
            <a:r>
              <a:t>🎬 10 步驟全自動教學導航：每 3.5s 計時自動模擬實機按鍵動作</a:t>
            </a:r>
          </a:p>
          <a:p xmlns:a="http://schemas.openxmlformats.org/drawingml/2006/main">
            <a:r>
              <a:t>📝 台灣工業電子丙級術科試題二：12 題組電路模擬與自動評分扣分</a:t>
            </a:r>
          </a:p>
          <a:p xmlns:a="http://schemas.openxmlformats.org/drawingml/2006/main">
            <a:r>
              <a:t>💡 零外部相依：純 SVG 手繪面板 ✕ Canvas 繪圖，完全離線可用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實機操作：信號產生器直連示波器 CH1，鎖定 Trig'd 靜態波形與 18px 黃色大字體 Measure 讀數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25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工程級教具的底層靈魂：依據三大官方資料手冊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📚 三大官方標準與物理模型</a:t>
            </a:r>
          </a:p>
          <a:p xmlns:a="http://schemas.openxmlformats.org/drawingml/2006/main">
            <a:r>
              <a:t>🔹 1. GW INSTEK GDS-2000E 使用手冊</a:t>
            </a:r>
          </a:p>
          <a:p xmlns:a="http://schemas.openxmlformats.org/drawingml/2006/main">
            <a:r>
              <a:t>   垂直 1-2-5 序列、時基擴展、2Vpp 1kHz 校驗方波暫態過沖公式：ΔV(t)=c×0.8×exp(-t/40µs)</a:t>
            </a:r>
          </a:p>
          <a:p xmlns:a="http://schemas.openxmlformats.org/drawingml/2006/main">
            <a:r>
              <a:t>🔹 2. GW INSTEK MFG-2000 原廠手冊</a:t>
            </a:r>
          </a:p>
          <a:p xmlns:a="http://schemas.openxmlformats.org/drawingml/2006/main">
            <a:r>
              <a:t>   輸出阻抗 50Ω 負載效應模型：接示波器(1MΩ)端電壓放大 2 倍(設 3V 實出 6V)，High Z 則為 1 倍</a:t>
            </a:r>
          </a:p>
          <a:p xmlns:a="http://schemas.openxmlformats.org/drawingml/2006/main">
            <a:r>
              <a:t>🔹 3. 工業電子丙級試題二規範 (02800-960302)</a:t>
            </a:r>
          </a:p>
          <a:p xmlns:a="http://schemas.openxmlformats.org/drawingml/2006/main">
            <a:r>
              <a:t>   正弦波 1kHz 3Vpp 50Ω、探棒開關 1:1、DC 耦合；12 題組 ±10% 容許度與零點偏移扣分規準</a:t>
            </a:r>
          </a:p>
          <a:p xmlns:a="http://schemas.openxmlformats.org/drawingml/2006/main">
            <a:r>
              <a:t>🔹 4. 全系統自動驗收腳本 (runAutoAudit)</a:t>
            </a:r>
          </a:p>
          <a:p xmlns:a="http://schemas.openxmlformats.org/drawingml/2006/main">
            <a:r>
              <a:t>   內建 10 項驗收指標，單檔離線開立即可自我檢查合格！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網頁內建【提示語與教學手冊】分頁：附帶一鍵複製提示語與 10 項標準即時自動稽核報告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26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📌【工程級 Master Prompt (上篇)】角色定位與三大手冊物理規範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[ROLE] &amp; [TASK] 角色與系統架構</a:t>
            </a:r>
          </a:p>
          <a:p xmlns:a="http://schemas.openxmlformats.org/drawingml/2006/main">
            <a:r>
              <a:t>【專業角色設定】</a:t>
            </a:r>
          </a:p>
          <a:p xmlns:a="http://schemas.openxmlformats.org/drawingml/2006/main">
            <a:r>
              <a:t>你是一位精通「電子量測儀器硬體模擬」與「台灣工業電子丙級術科規範」的資深全端工程師兼金牌實習指導教師。</a:t>
            </a:r>
          </a:p>
          <a:p xmlns:a="http://schemas.openxmlformats.org/drawingml/2006/main">
            <a:r>
              <a:t>【核心開發任務】</a:t>
            </a:r>
          </a:p>
          <a:p xmlns:a="http://schemas.openxmlformats.org/drawingml/2006/main">
            <a:r>
              <a:t>製作單一檔案、高擬真互動模擬系統 (instrument.html)：</a:t>
            </a:r>
          </a:p>
          <a:p xmlns:a="http://schemas.openxmlformats.org/drawingml/2006/main">
            <a:r>
              <a:t>1. 固緯 GDS-2102E 數位示波器 ＆ MFG-2110 信號產生器</a:t>
            </a:r>
          </a:p>
          <a:p xmlns:a="http://schemas.openxmlformats.org/drawingml/2006/main">
            <a:r>
              <a:t>2. 工業電子丙級試題二（12 題組電路量測與自動評分）</a:t>
            </a:r>
          </a:p>
          <a:p xmlns:a="http://schemas.openxmlformats.org/drawingml/2006/main">
            <a:r>
              <a:t>【三階段工作流 WORKFLOW】</a:t>
            </a:r>
          </a:p>
          <a:p xmlns:a="http://schemas.openxmlformats.org/drawingml/2006/main">
            <a:r>
              <a:t>1. 解析三份官方手冊之規格、尺寸、公式與扣分標準</a:t>
            </a:r>
          </a:p>
          <a:p xmlns:a="http://schemas.openxmlformats.org/drawingml/2006/main">
            <a:r>
              <a:t>2. 模組化開發：CSS、SVG 向量面板、Canvas 波形全部內嵌於單一 HTML</a:t>
            </a:r>
          </a:p>
          <a:p xmlns:a="http://schemas.openxmlformats.org/drawingml/2006/main">
            <a:r>
              <a:t>3. 跨裝置 RWD 測試 (375/768/1440px) 並通過 runAutoAudit() 自動驗收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📘 [MANUAL_REFERENCES] 三大原廠手冊物理規範</a:t>
            </a:r>
          </a:p>
          <a:p xmlns:a="http://schemas.openxmlformats.org/drawingml/2006/main">
            <a:r>
              <a:t>1. 《GW INSTEK GDS-2000E User Manual》</a:t>
            </a:r>
          </a:p>
          <a:p xmlns:a="http://schemas.openxmlformats.org/drawingml/2006/main">
            <a:r>
              <a:t>• 垂直 1mV~10V/div、時基 1ns~100s/div (1-2-5 序列)</a:t>
            </a:r>
          </a:p>
          <a:p xmlns:a="http://schemas.openxmlformats.org/drawingml/2006/main">
            <a:r>
              <a:t>• 探棒校驗 2Vpp 1kHz 方波暫態過沖：ΔV(t) = c×0.8×exp(-t/40µs)</a:t>
            </a:r>
          </a:p>
          <a:p xmlns:a="http://schemas.openxmlformats.org/drawingml/2006/main">
            <a:r>
              <a:t>• 800×536 螢幕，10×8 格線，上下狀態資訊列</a:t>
            </a:r>
          </a:p>
          <a:p xmlns:a="http://schemas.openxmlformats.org/drawingml/2006/main">
            <a:r>
              <a:t>2. 《GW INSTEK MFG-2000 User Manual》</a:t>
            </a:r>
          </a:p>
          <a:p xmlns:a="http://schemas.openxmlformats.org/drawingml/2006/main">
            <a:r>
              <a:t>• 輸出阻抗 50Ω：設 50Ω 接示波器(1MΩ)產生 2 倍電壓效應(設3V實出6V)；設 High Z 為 1 倍</a:t>
            </a:r>
          </a:p>
          <a:p xmlns:a="http://schemas.openxmlformats.org/drawingml/2006/main">
            <a:r>
              <a:t>• 有效值換算：正弦波 Vpp = 2√2 Vrms；三角波 Vpp = 2√3 Vrms</a:t>
            </a:r>
          </a:p>
          <a:p xmlns:a="http://schemas.openxmlformats.org/drawingml/2006/main">
            <a:r>
              <a:t>3. 《工業電子丙級術科試題二 (02800-960302)》</a:t>
            </a:r>
          </a:p>
          <a:p xmlns:a="http://schemas.openxmlformats.org/drawingml/2006/main">
            <a:r>
              <a:t>• 輸入設定：正弦波 1kHz、3.000Vpp、負載 50Ω、探棒 1:1、DC 耦合</a:t>
            </a:r>
          </a:p>
          <a:p xmlns:a="http://schemas.openxmlformats.org/drawingml/2006/main">
            <a:r>
              <a:t>• 評分規準：12 題組理論電壓 ±10% 容許度、探棒非 1:1 扣 10 分、零位偏離 &gt;0.5 格扣 5 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27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📌【工程級 Master Prompt (下篇)】硬性約束、引擎演算法與自動驗收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⚙️ [CONSTRAINTS] &amp; [ENGINE_SPEC] 核心引擎規範</a:t>
            </a:r>
          </a:p>
          <a:p xmlns:a="http://schemas.openxmlformats.org/drawingml/2006/main">
            <a:r>
              <a:t>【硬性約束 HARD_CONSTRAINTS】</a:t>
            </a:r>
          </a:p>
          <a:p xmlns:a="http://schemas.openxmlformats.org/drawingml/2006/main">
            <a:r>
              <a:t>• 單一獨立檔案 instrument.html，零外部相依，完全離線可用</a:t>
            </a:r>
          </a:p>
          <a:p xmlns:a="http://schemas.openxmlformats.org/drawingml/2006/main">
            <a:r>
              <a:t>• 台灣專業術語（探棒、觸發、時基、耦合、峰對峰值）</a:t>
            </a:r>
          </a:p>
          <a:p xmlns:a="http://schemas.openxmlformats.org/drawingml/2006/main">
            <a:r>
              <a:t>• 頂部提供【🔌 一鍵測試：信號源 ➔ CH1】自動接線並展開波形</a:t>
            </a:r>
          </a:p>
          <a:p xmlns:a="http://schemas.openxmlformats.org/drawingml/2006/main">
            <a:r>
              <a:t>【靜態觸發鎖定演算法 Stationary Trigger Lock】</a:t>
            </a:r>
          </a:p>
          <a:p xmlns:a="http://schemas.openxmlformats.org/drawingml/2006/main">
            <a:r>
              <a:t>• 當狀態為 Trig'd 綠燈時，時基精確鎖定正向過零相位：</a:t>
            </a:r>
          </a:p>
          <a:p xmlns:a="http://schemas.openxmlformats.org/drawingml/2006/main">
            <a:r>
              <a:t>  t_lock = arcsin((Vtrig - Vavg)/(Vpp/2)) / (2πf)</a:t>
            </a:r>
          </a:p>
          <a:p xmlns:a="http://schemas.openxmlformats.org/drawingml/2006/main">
            <a:r>
              <a:t>• 波形完全靜止清晰；未觸發 (Auto) 時才水平漂移</a:t>
            </a:r>
          </a:p>
          <a:p xmlns:a="http://schemas.openxmlformats.org/drawingml/2006/main">
            <a:r>
              <a:t>【Autoset 與大字體量測視窗】</a:t>
            </a:r>
          </a:p>
          <a:p xmlns:a="http://schemas.openxmlformats.org/drawingml/2006/main">
            <a:r>
              <a:t>• Measure 視窗加大至 280×92px，採用 bold 18px 螢光黃顯示 Vpp 與 Freq</a:t>
            </a:r>
          </a:p>
          <a:p xmlns:a="http://schemas.openxmlformats.org/drawingml/2006/main">
            <a:r>
              <a:t>• Autoset 自動將振幅限制在 3~6.5 格，時基展開 2~4 個週期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✅ [GUIDE_SPEC] &amp; [ACCEPTANCE] 導航與 10 項驗收</a:t>
            </a:r>
          </a:p>
          <a:p xmlns:a="http://schemas.openxmlformats.org/drawingml/2006/main">
            <a:r>
              <a:t>【雙指引 10 步驟自動教學排程】</a:t>
            </a:r>
          </a:p>
          <a:p xmlns:a="http://schemas.openxmlformats.org/drawingml/2006/main">
            <a:r>
              <a:t>• 示波器與信號產生器各配一組 10 步教學指引卡（每 3.5 秒自動推進）</a:t>
            </a:r>
          </a:p>
          <a:p xmlns:a="http://schemas.openxmlformats.org/drawingml/2006/main">
            <a:r>
              <a:t>• 步驟推進時自動調用硬體 API（Default、接線、Probe 10X、Autoset），實機對應按鈕同步橘光呼吸高亮</a:t>
            </a:r>
          </a:p>
          <a:p xmlns:a="http://schemas.openxmlformats.org/drawingml/2006/main">
            <a:r>
              <a:t>【自動化驗收腳本 window.runAutoAudit() 十項指標】</a:t>
            </a:r>
          </a:p>
          <a:p xmlns:a="http://schemas.openxmlformats.org/drawingml/2006/main">
            <a:r>
              <a:t>01. 離線單檔無外部依賴     02. 探棒補償尖角/圓角判定</a:t>
            </a:r>
          </a:p>
          <a:p xmlns:a="http://schemas.openxmlformats.org/drawingml/2006/main">
            <a:r>
              <a:t>03. 50Ω負載2倍/HiZ 1倍效應  04. Autoset 波形 3~6.5 格</a:t>
            </a:r>
          </a:p>
          <a:p xmlns:a="http://schemas.openxmlformats.org/drawingml/2006/main">
            <a:r>
              <a:t>05. 觸發準位 Trig'd 穩定鎖定  06. 丙級 12 題組數據完備</a:t>
            </a:r>
          </a:p>
          <a:p xmlns:a="http://schemas.openxmlformats.org/drawingml/2006/main">
            <a:r>
              <a:t>07. 觸控標靶尺寸 ≥ 40px      08. 探棒開關與讀數倍率換算</a:t>
            </a:r>
          </a:p>
          <a:p xmlns:a="http://schemas.openxmlformats.org/drawingml/2006/main">
            <a:r>
              <a:t>09. 雙指引卡 10 步自動引擎    10. Measure 讀數 18px 高清晰</a:t>
            </a:r>
          </a:p>
          <a:p xmlns:a="http://schemas.openxmlformats.org/drawingml/2006/main">
            <a:r>
              <a:t>💡 完整提示語可直接至網頁複製：</a:t>
            </a:r>
          </a:p>
          <a:p xmlns:a="http://schemas.openxmlformats.org/drawingml/2006/main">
            <a:r>
              <a:t>👉 https://stjedu.github.io/www/instrument.html（點擊上方【提示語與教學手冊】分頁即可一鍵複製）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研習總結與未來展望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28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研習總結：今日解鎖技能 ✕ 教師的教具開發思維升級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🎉 今日已解鎖之七大實戰技能</a:t>
            </a:r>
          </a:p>
          <a:p xmlns:a="http://schemas.openxmlformats.org/drawingml/2006/main">
            <a:r>
              <a:t>✅ 完成 Antigravity 工作區建置與沙盒安全檢測</a:t>
            </a:r>
          </a:p>
          <a:p xmlns:a="http://schemas.openxmlformats.org/drawingml/2006/main">
            <a:r>
              <a:t>✅ 掌握零代碼一鍵自動安裝 Python / 繪圖 / Office 套件</a:t>
            </a:r>
          </a:p>
          <a:p xmlns:a="http://schemas.openxmlformats.org/drawingml/2006/main">
            <a:r>
              <a:t>✅ 掌握基本電學戴維寧定理之結構化命題與標準電路圖生成</a:t>
            </a:r>
          </a:p>
          <a:p xmlns:a="http://schemas.openxmlformats.org/drawingml/2006/main">
            <a:r>
              <a:t>✅ 掌握進階電子學 BJT 共射極小訊號 rπ 模型推導與互動網頁</a:t>
            </a:r>
          </a:p>
          <a:p xmlns:a="http://schemas.openxmlformats.org/drawingml/2006/main">
            <a:r>
              <a:t>✅ 掌握 MCP 磨課師自動化：30 秒人機接力與突發急救包</a:t>
            </a:r>
          </a:p>
          <a:p xmlns:a="http://schemas.openxmlformats.org/drawingml/2006/main">
            <a:r>
              <a:t>✅ 實戰 Excel 自動算技高加權成績、粉紅標記與學情分析圖表</a:t>
            </a:r>
          </a:p>
          <a:p xmlns:a="http://schemas.openxmlformats.org/drawingml/2006/main">
            <a:r>
              <a:t>✅ 掌握 GitHub Pages 發布與工業電子丙級虛擬儀表開發心法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🚀 三大關鍵思維升級 ＆ 結語金句</a:t>
            </a:r>
          </a:p>
          <a:p xmlns:a="http://schemas.openxmlformats.org/drawingml/2006/main">
            <a:r>
              <a:t>🧩 模組化規格思維</a:t>
            </a:r>
          </a:p>
          <a:p xmlns:a="http://schemas.openxmlformats.org/drawingml/2006/main">
            <a:r>
              <a:t>AI 不是魔術，AI 需要精準的「規格說明書 (CRIS)」。懂得定義功能邊界，AI 就能打造工程級作品。</a:t>
            </a:r>
          </a:p>
          <a:p xmlns:a="http://schemas.openxmlformats.org/drawingml/2006/main">
            <a:r>
              <a:t>🔬 公式即代碼規範</a:t>
            </a:r>
          </a:p>
          <a:p xmlns:a="http://schemas.openxmlformats.org/drawingml/2006/main">
            <a:r>
              <a:t>把課本與原廠手冊公式（如 rπ 模型、50Ω 負載效應）寫進 Prompt，AI 就能做出物理級高擬真教具。</a:t>
            </a:r>
          </a:p>
          <a:p xmlns:a="http://schemas.openxmlformats.org/drawingml/2006/main">
            <a:r>
              <a:t>🌟 人人皆能打造專屬實驗室</a:t>
            </a:r>
          </a:p>
          <a:p xmlns:a="http://schemas.openxmlformats.org/drawingml/2006/main">
            <a:r>
              <a:t>不需等待廠商開發！只要您具備學科專業＋下對 Prompt，每門課都能擁有專屬線上互動實驗室！</a:t>
            </a:r>
          </a:p>
          <a:p xmlns:a="http://schemas.openxmlformats.org/drawingml/2006/main">
            <a:r>
              <a:t>「AI 不會取代老師，但善用代理 AI 開發教具的老師，將徹底點亮學生的學習視野！」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生成現代學術風背景與插畫，並非實體事件或儀器的紀錄照片。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96aad19ec48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fb716cbaf47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9e93e0e8843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433e9a86b40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2f4fbc98644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8a12ed2b9452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b6a33fb934ef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9b3d45a6b4ce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0cc701c2fc43d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deb38a3e0433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5312761f74dc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2DA8C5-158F-434B-BD10-9E2D25B33C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A2C9F37-79F5-4D54-BA96-2C3EFAA940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CE679B-1AC0-462A-8F63-CC312CADCF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2A24DA-F676-474F-918B-8C6806ECCF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297C89-D122-4030-8999-7DDD507885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0251F8-FCD9-4AD2-9052-58A23A3C4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C0FFA08-B0AF-47F4-9B16-EC093D9B4F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903D69-E912-43B5-B9CB-16EFC88926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403C5F-1716-465C-BD3D-9E52C63FA6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5259B9-8F73-491D-B077-685BE0D710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DC30F8-CFAA-4DD9-9EE5-485EA68DB8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952E1B-69C6-4C16-99CB-0EA28A8986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F7F185-7A37-43D3-95B6-FA96E47ED9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4525B2-17CF-4C1E-BD67-22BC8A1117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2CF67E-5642-4400-9CE4-A8CF3B927F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7A5280-82F7-4863-A46F-939E1004D8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823F88-5F62-42BF-A3AA-02F9D4E0B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8F7D4C2-A0C6-4E48-BBDF-3E5676ACCF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1A2326-799E-4E31-AD24-062B3C382F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C3A606F-940A-418B-AE7D-B11B240F97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DCC7A1E-872D-469A-B325-CAA6AC7231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833758-D5F6-4AE2-8937-B1185C368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0E82A5-ED74-4B06-9428-E569CEB287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CDF5EB0-A716-43D7-BA5B-0370E98E6D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CF8217C-D5D1-4F9C-884D-B15859B70A0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4ED47CA-ADE4-4AA2-B320-DF104396626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E73ED3D-F707-4376-8875-050703FE00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7735A75-6BC4-4209-B569-0FC9CB88B2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C610F63-8915-4868-9D53-D6274E573D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7CB319-F385-46D0-8470-49FFE373C0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12EAE7-688A-4F50-B42D-966D9142E1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1E29228-4915-46A3-86EF-ED265698E5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581D25F-31BC-4363-BAFD-D142445EF1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CE1B16E-7E37-47FD-9591-CCB16336E1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14F5189-EA92-409C-B929-BA45D2473D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AAB3DF4-CAF5-4813-82C2-49AF8C834A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5CE42D-BD12-4D13-8F4F-BDD3B6D865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0997E2F-F5AF-48BA-9482-8FB29289BF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54B5CD3-0B59-44DC-8253-45F40C473C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1C38DC8-1166-46D6-AAD6-0C54FDCF4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43D9FA8-0603-48D2-A8CE-A5EF17C6AB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D70A176-667F-445E-B07D-67744FF355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A2A533-40E0-4423-BC62-61522C54E6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960C056-D8A4-4D24-89A3-71EA85C5653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388D77D-0F1E-4C6A-B70E-4155B4E1FB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CDFB052-00C9-4B75-ADB3-8AAE9E4EAA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BE645A-7A5F-43A6-99E3-EBDC987987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C47B24-54B9-47D3-AFBF-29B360E8DA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5F50AA-3569-4395-8CF7-89DBCAF97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661F4-4D77-4516-A2C9-54C7D7804F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777CDF-B3D4-4A4F-93E4-93F8D9F50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314323-4447-44FC-997C-798234E93C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B844A4-2EEC-4EE1-A780-79F907FC4C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DCDFEE9-8F16-4D3C-B58E-9E8DA0FA3F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FFE610-6A4D-4085-BCBA-5CB322AAC4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863F48-1B44-4179-9324-3270F63BC1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CF6F71-3FF6-4A6D-AD7C-2D53672AAB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BF7AD97-B11D-4BCC-8BCA-EFF995340C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9d107aa3fe4dc9" /><Relationship Type="http://schemas.openxmlformats.org/officeDocument/2006/relationships/slideLayout" Target="/ppt/slideLayouts/slideLayout1.xml" Id="Rfa1dd1678eed4fd1" /><Relationship Type="http://schemas.openxmlformats.org/officeDocument/2006/relationships/slideLayout" Target="/ppt/slideLayouts/slideLayout2.xml" Id="R77fdb83cd46946af" /><Relationship Type="http://schemas.openxmlformats.org/officeDocument/2006/relationships/slideLayout" Target="/ppt/slideLayouts/slideLayout3.xml" Id="Rca88c145f13e4901" /><Relationship Type="http://schemas.openxmlformats.org/officeDocument/2006/relationships/slideLayout" Target="/ppt/slideLayouts/slideLayout4.xml" Id="R07652986669544bf" /><Relationship Type="http://schemas.openxmlformats.org/officeDocument/2006/relationships/slideLayout" Target="/ppt/slideLayouts/slideLayout5.xml" Id="Ra6e6cd9703734479" /><Relationship Type="http://schemas.openxmlformats.org/officeDocument/2006/relationships/slideLayout" Target="/ppt/slideLayouts/slideLayout6.xml" Id="R7a6de845ff3043fe" /><Relationship Type="http://schemas.openxmlformats.org/officeDocument/2006/relationships/slideLayout" Target="/ppt/slideLayouts/slideLayout7.xml" Id="R6de5da1a715c483f" /><Relationship Type="http://schemas.openxmlformats.org/officeDocument/2006/relationships/slideLayout" Target="/ppt/slideLayouts/slideLayout8.xml" Id="R2c693a02c7f54791" /><Relationship Type="http://schemas.openxmlformats.org/officeDocument/2006/relationships/slideLayout" Target="/ppt/slideLayouts/slideLayout9.xml" Id="R245b103e2e9e40ca" /><Relationship Type="http://schemas.openxmlformats.org/officeDocument/2006/relationships/slideLayout" Target="/ppt/slideLayouts/slideLayout10.xml" Id="R4b8df2c59a914b5d" /><Relationship Type="http://schemas.openxmlformats.org/officeDocument/2006/relationships/slideLayout" Target="/ppt/slideLayouts/slideLayout11.xml" Id="R2cd1582a110a4c7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EB3E05F-A69D-4786-8EAC-196E518028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BCF7FA-EA80-424E-8039-CD3280FD42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08076E-66AF-48DF-B517-0174356AABB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1B39026-5773-4EE3-B41E-968655BA07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634C9E-A744-4F6F-B049-79054847F0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1dd1678eed4fd1"/>
    <p:sldLayoutId xmlns:r="http://schemas.openxmlformats.org/officeDocument/2006/relationships" id="2147483650" r:id="R77fdb83cd46946af"/>
    <p:sldLayoutId xmlns:r="http://schemas.openxmlformats.org/officeDocument/2006/relationships" id="2147483651" r:id="Rca88c145f13e4901"/>
    <p:sldLayoutId xmlns:r="http://schemas.openxmlformats.org/officeDocument/2006/relationships" id="2147483652" r:id="R07652986669544bf"/>
    <p:sldLayoutId xmlns:r="http://schemas.openxmlformats.org/officeDocument/2006/relationships" id="2147483653" r:id="Ra6e6cd9703734479"/>
    <p:sldLayoutId xmlns:r="http://schemas.openxmlformats.org/officeDocument/2006/relationships" id="2147483654" r:id="R7a6de845ff3043fe"/>
    <p:sldLayoutId xmlns:r="http://schemas.openxmlformats.org/officeDocument/2006/relationships" id="2147483655" r:id="R6de5da1a715c483f"/>
    <p:sldLayoutId xmlns:r="http://schemas.openxmlformats.org/officeDocument/2006/relationships" id="2147483656" r:id="R2c693a02c7f54791"/>
    <p:sldLayoutId xmlns:r="http://schemas.openxmlformats.org/officeDocument/2006/relationships" id="2147483657" r:id="R245b103e2e9e40ca"/>
    <p:sldLayoutId xmlns:r="http://schemas.openxmlformats.org/officeDocument/2006/relationships" id="2147483658" r:id="R4b8df2c59a914b5d"/>
    <p:sldLayoutId xmlns:r="http://schemas.openxmlformats.org/officeDocument/2006/relationships" id="2147483659" r:id="R2cd1582a110a4c7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09901561c8417b" /><Relationship Type="http://schemas.openxmlformats.org/officeDocument/2006/relationships/image" Target="/ppt/media/image.png" Id="R6964db89f3a24b54" /><Relationship Type="http://schemas.openxmlformats.org/officeDocument/2006/relationships/notesSlide" Target="/ppt/notesSlides/notesSlide1.xml" Id="R178c92c4cfcf4eb8" /></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94a6617be344204" /><ns0:Relationship Type="http://schemas.openxmlformats.org/officeDocument/2006/relationships/image" Target="../media/image.png" Id="Rfacfaa5a2271423c" /><ns0:Relationship Type="http://schemas.openxmlformats.org/officeDocument/2006/relationships/notesSlide" Target="/ppt/notesSlides/notesSlide2.xml" Id="Rfe99ce50663945c3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a6193b9e63e4499" /><ns0:Relationship Type="http://schemas.openxmlformats.org/officeDocument/2006/relationships/image" Target="../media/image.png" Id="R14b5949fd9314268" /><ns0:Relationship Type="http://schemas.openxmlformats.org/officeDocument/2006/relationships/notesSlide" Target="/ppt/notesSlides/notesSlide3.xml" Id="R84e8e9366bac4958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b5cf7631fff44c3" /><ns0:Relationship Type="http://schemas.openxmlformats.org/officeDocument/2006/relationships/image" Target="../media/image.png" Id="R8a44b891d1714371" /><ns0:Relationship Type="http://schemas.openxmlformats.org/officeDocument/2006/relationships/notesSlide" Target="/ppt/notesSlides/notesSlide4.xml" Id="R850d2e70f72540c8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1c7ac715cf144a0" /><ns0:Relationship Type="http://schemas.openxmlformats.org/officeDocument/2006/relationships/image" Target="../media/image.png" Id="Rf8a485241a1f4367" /><ns0:Relationship Type="http://schemas.openxmlformats.org/officeDocument/2006/relationships/notesSlide" Target="/ppt/notesSlides/notesSlide5.xml" Id="R50a77d710e6e476e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366930451564767" /><ns0:Relationship Type="http://schemas.openxmlformats.org/officeDocument/2006/relationships/image" Target="../media/image.png" Id="R09b29b353c3549c5" /><ns0:Relationship Type="http://schemas.openxmlformats.org/officeDocument/2006/relationships/notesSlide" Target="/ppt/notesSlides/notesSlide6.xml" Id="Ra942a0d2b78740e1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2af39e1e2e9140eb" /><ns0:Relationship Type="http://schemas.openxmlformats.org/officeDocument/2006/relationships/image" Target="../media/image.png" Id="R2b066dbd7fe6427c" /><ns0:Relationship Type="http://schemas.openxmlformats.org/officeDocument/2006/relationships/notesSlide" Target="/ppt/notesSlides/notesSlide7.xml" Id="Ra36bd8d707f74776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ae4d03f41394b11" /><ns0:Relationship Type="http://schemas.openxmlformats.org/officeDocument/2006/relationships/image" Target="../media/image.png" Id="Re993ceaaf7ec4dd6" /><ns0:Relationship Type="http://schemas.openxmlformats.org/officeDocument/2006/relationships/notesSlide" Target="/ppt/notesSlides/notesSlide8.xml" Id="Re45b2a9ce9d84b5a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011ab3baed404605" /><ns0:Relationship Type="http://schemas.openxmlformats.org/officeDocument/2006/relationships/image" Target="../media/image.png" Id="R253e88efdd404e13" /><ns0:Relationship Type="http://schemas.openxmlformats.org/officeDocument/2006/relationships/notesSlide" Target="/ppt/notesSlides/notesSlide9.xml" Id="R5266900d15714644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40dc49cedc04082" /><ns0:Relationship Type="http://schemas.openxmlformats.org/officeDocument/2006/relationships/image" Target="../media/image.png" Id="Rab7e6b8bf5e14447" /><ns0:Relationship Type="http://schemas.openxmlformats.org/officeDocument/2006/relationships/notesSlide" Target="/ppt/notesSlides/notesSlide10.xml" Id="Re53db41b0f5e474e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095f282257a4d2e" /><ns0:Relationship Type="http://schemas.openxmlformats.org/officeDocument/2006/relationships/image" Target="../media/image.png" Id="Rb7f514c9b581421a" /><ns0:Relationship Type="http://schemas.openxmlformats.org/officeDocument/2006/relationships/image" Target="/ppt/media/image12.png" Id="R6d89ea6109e349f7" /><ns0:Relationship Type="http://schemas.openxmlformats.org/officeDocument/2006/relationships/notesSlide" Target="/ppt/notesSlides/notesSlide11.xml" Id="R7b682121d75145cf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214ba219ffd4429b" /><ns0:Relationship Type="http://schemas.openxmlformats.org/officeDocument/2006/relationships/image" Target="../media/image.png" Id="Rba04d0da453349bd" /><ns0:Relationship Type="http://schemas.openxmlformats.org/officeDocument/2006/relationships/image" Target="/ppt/media/image14.png" Id="Ra0b95707c7184013" /><ns0:Relationship Type="http://schemas.openxmlformats.org/officeDocument/2006/relationships/image" Target="/ppt/media/image15.png" Id="Rf5e068c605b7416d" /><ns0:Relationship Type="http://schemas.openxmlformats.org/officeDocument/2006/relationships/notesSlide" Target="/ppt/notesSlides/notesSlide12.xml" Id="R2d630472788a457e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cd95a420fb04e6e" /><ns0:Relationship Type="http://schemas.openxmlformats.org/officeDocument/2006/relationships/image" Target="../media/image.png" Id="Rb08f7320b4674ac9" /><ns0:Relationship Type="http://schemas.openxmlformats.org/officeDocument/2006/relationships/image" Target="/ppt/media/image17.png" Id="R0f9b957c7c0b42ad" /><ns0:Relationship Type="http://schemas.openxmlformats.org/officeDocument/2006/relationships/image" Target="/ppt/media/image18.png" Id="R410261abc94049c3" /><ns0:Relationship Type="http://schemas.openxmlformats.org/officeDocument/2006/relationships/notesSlide" Target="/ppt/notesSlides/notesSlide13.xml" Id="R747ee7ae73e2410a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586a82c29e944c8" /><ns0:Relationship Type="http://schemas.openxmlformats.org/officeDocument/2006/relationships/image" Target="../media/image.png" Id="R2b8632be3d924673" /><ns0:Relationship Type="http://schemas.openxmlformats.org/officeDocument/2006/relationships/notesSlide" Target="/ppt/notesSlides/notesSlide14.xml" Id="R8ae9bf59ea0c402a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1197ab978b04f40" /><ns0:Relationship Type="http://schemas.openxmlformats.org/officeDocument/2006/relationships/image" Target="../media/image.png" Id="R3f0598621e1b441d" /><ns0:Relationship Type="http://schemas.openxmlformats.org/officeDocument/2006/relationships/notesSlide" Target="/ppt/notesSlides/notesSlide15.xml" Id="Rc89fdaeba16f4973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0808dda51fd42c8" /><ns0:Relationship Type="http://schemas.openxmlformats.org/officeDocument/2006/relationships/image" Target="../media/image.png" Id="R68ea7d82f5284ab1" /><ns0:Relationship Type="http://schemas.openxmlformats.org/officeDocument/2006/relationships/notesSlide" Target="/ppt/notesSlides/notesSlide16.xml" Id="R27fc6e627eea4e2c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627df218d8b4ad5" /><ns0:Relationship Type="http://schemas.openxmlformats.org/officeDocument/2006/relationships/image" Target="../media/image.png" Id="Rba867b3f4a4f4a81" /><ns0:Relationship Type="http://schemas.openxmlformats.org/officeDocument/2006/relationships/notesSlide" Target="/ppt/notesSlides/notesSlide17.xml" Id="R1e1ede2485844b5c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0c4512a245b4005" /><ns0:Relationship Type="http://schemas.openxmlformats.org/officeDocument/2006/relationships/image" Target="../media/image.png" Id="R7c6372db0ca74469" /><ns0:Relationship Type="http://schemas.openxmlformats.org/officeDocument/2006/relationships/notesSlide" Target="/ppt/notesSlides/notesSlide18.xml" Id="Rad17bbb95bda4b57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9ff9d22337c48b5" /><ns0:Relationship Type="http://schemas.openxmlformats.org/officeDocument/2006/relationships/image" Target="../media/image.png" Id="Raefb112d07af44be" /><ns0:Relationship Type="http://schemas.openxmlformats.org/officeDocument/2006/relationships/notesSlide" Target="/ppt/notesSlides/notesSlide19.xml" Id="R4d9e03741680499d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db6bc11bf174ae4" /><ns0:Relationship Type="http://schemas.openxmlformats.org/officeDocument/2006/relationships/image" Target="../media/image.png" Id="Rd130d8733a4247b3" /><ns0:Relationship Type="http://schemas.openxmlformats.org/officeDocument/2006/relationships/notesSlide" Target="/ppt/notesSlides/notesSlide20.xml" Id="R85e9d0963f8e45ca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9cb30820b0f4ca0" /><ns0:Relationship Type="http://schemas.openxmlformats.org/officeDocument/2006/relationships/image" Target="../media/image.png" Id="Ra07f56267df045bd" /><ns0:Relationship Type="http://schemas.openxmlformats.org/officeDocument/2006/relationships/notesSlide" Target="/ppt/notesSlides/notesSlide21.xml" Id="Rb47805b64b16425d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004917945f6408e" /><ns0:Relationship Type="http://schemas.openxmlformats.org/officeDocument/2006/relationships/image" Target="../media/image.png" Id="R928754659e1045b3" /><ns0:Relationship Type="http://schemas.openxmlformats.org/officeDocument/2006/relationships/notesSlide" Target="/ppt/notesSlides/notesSlide22.xml" Id="Rebdde9eb50104f71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0115bb08f924878" /><ns0:Relationship Type="http://schemas.openxmlformats.org/officeDocument/2006/relationships/image" Target="../media/image.png" Id="Rd670a2de06e54d09" /><ns0:Relationship Type="http://schemas.openxmlformats.org/officeDocument/2006/relationships/notesSlide" Target="/ppt/notesSlides/notesSlide23.xml" Id="R0ae2c0caccc24c89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446f42c1f1d46ee" /><ns0:Relationship Type="http://schemas.openxmlformats.org/officeDocument/2006/relationships/image" Target="../media/image.png" Id="R6cb5022e4bd24f9c" /><ns0:Relationship Type="http://schemas.openxmlformats.org/officeDocument/2006/relationships/image" Target="/ppt/media/image30.png" Id="Rac27f75770134791" /><ns0:Relationship Type="http://schemas.openxmlformats.org/officeDocument/2006/relationships/notesSlide" Target="/ppt/notesSlides/notesSlide24.xml" Id="R81e227df96bd4c5d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b25a6746f5d4c75" /><ns0:Relationship Type="http://schemas.openxmlformats.org/officeDocument/2006/relationships/image" Target="../media/image.png" Id="Rec8e1f7565d74087" /><ns0:Relationship Type="http://schemas.openxmlformats.org/officeDocument/2006/relationships/image" Target="/ppt/media/image32.png" Id="R10374580bca4490f" /><ns0:Relationship Type="http://schemas.openxmlformats.org/officeDocument/2006/relationships/notesSlide" Target="/ppt/notesSlides/notesSlide25.xml" Id="R666e39afe7c54ad0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0f0c750fcf9243c9" /><ns0:Relationship Type="http://schemas.openxmlformats.org/officeDocument/2006/relationships/image" Target="../media/image.png" Id="Ra77b9777b3914783" /><ns0:Relationship Type="http://schemas.openxmlformats.org/officeDocument/2006/relationships/notesSlide" Target="/ppt/notesSlides/notesSlide26.xml" Id="Rb2620735979a46d7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1676aba97704d01" /><ns0:Relationship Type="http://schemas.openxmlformats.org/officeDocument/2006/relationships/image" Target="../media/image.png" Id="Rbce6f371ec9842d8" /><ns0:Relationship Type="http://schemas.openxmlformats.org/officeDocument/2006/relationships/notesSlide" Target="/ppt/notesSlides/notesSlide27.xml" Id="Rd8377554038c4399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4ab0bf6e04d4a18" /><ns0:Relationship Type="http://schemas.openxmlformats.org/officeDocument/2006/relationships/image" Target="../media/image.png" Id="Rd2b04aba0b4347b8" /><ns0:Relationship Type="http://schemas.openxmlformats.org/officeDocument/2006/relationships/notesSlide" Target="/ppt/notesSlides/notesSlide28.xml" Id="Re1780866c88e46b5" /></ns0: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23685-D329-4B21-A795-D4DF73D5B5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4db89f3a24b54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928723-09B8-4BBD-853E-9EB7344E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429D3AA0-1C01-4DAB-9BE8-A61E6A73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965E2B2D-ABC7-4699-B59A-0F324736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55618D9-6208-4730-867D-7801F52D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400"/>
              </a:spcAft>
              <a:buNone/>
              <a:defRPr sz="18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7670053-6D3E-4DDD-B75C-EF39B1F9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B4C3B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ANTIGRAVITY">
            <a:extLst xmlns:a="http://schemas.openxmlformats.org/drawingml/2006/main">
              <a:ext uri="{FF2B5EF4-FFF2-40B4-BE49-F238E27FC236}">
                <a16:creationId xmlns:a16="http://schemas.microsoft.com/office/drawing/2014/main" id="{10708F2E-5DA4-4DD0-9AAC-E6B1EB50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87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ANTIGRAVITY</a:t>
            </a:r>
          </a:p>
        </p:txBody>
      </p:sp>
      <p:sp>
        <p:nvSpPr>
          <p:cNvPr id="8" name="代理 AI&#10;於教學上的應用">
            <a:extLst xmlns:a="http://schemas.openxmlformats.org/drawingml/2006/main">
              <a:ext uri="{FF2B5EF4-FFF2-40B4-BE49-F238E27FC236}">
                <a16:creationId xmlns:a16="http://schemas.microsoft.com/office/drawing/2014/main" id="{EAB11847-BE34-4946-9428-0EC31466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76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57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代理 AI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57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於教學上的應用</a:t>
            </a:r>
          </a:p>
        </p:txBody>
      </p:sp>
      <p:sp>
        <p:nvSpPr>
          <p:cNvPr id="9" name="從對話到代理執行">
            <a:extLst xmlns:a="http://schemas.openxmlformats.org/drawingml/2006/main">
              <a:ext uri="{FF2B5EF4-FFF2-40B4-BE49-F238E27FC236}">
                <a16:creationId xmlns:a16="http://schemas.microsoft.com/office/drawing/2014/main" id="{4688C112-BDD2-432B-B9C0-BF6065A6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27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從對話到代理執行</a:t>
            </a:r>
          </a:p>
        </p:txBody>
      </p:sp>
      <p:sp>
        <p:nvSpPr>
          <p:cNvPr id="10" name="環境建置  ／  電學圖解  ／  Excel 成績處理&#10;GitHub ">
            <a:extLst xmlns:a="http://schemas.openxmlformats.org/drawingml/2006/main">
              <a:ext uri="{FF2B5EF4-FFF2-40B4-BE49-F238E27FC236}">
                <a16:creationId xmlns:a16="http://schemas.microsoft.com/office/drawing/2014/main" id="{EA81F82C-FB09-45CA-A54F-AB7CD830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環境建置  ／  電學圖解  ／  Excel 成績處理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GitHub 發布  ／  虛擬電子儀表開發</a:t>
            </a:r>
          </a:p>
        </p:txBody>
      </p:sp>
      <p:sp>
        <p:nvSpPr>
          <p:cNvPr id="11" name="教師應用研習    主講：簡樹桐 老師">
            <a:extLst xmlns:a="http://schemas.openxmlformats.org/drawingml/2006/main">
              <a:ext uri="{FF2B5EF4-FFF2-40B4-BE49-F238E27FC236}">
                <a16:creationId xmlns:a16="http://schemas.microsoft.com/office/drawing/2014/main" id="{26CD7A18-9358-408E-AD5A-5A3CCAB2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教師應用研習    主講：簡樹桐 老師</a:t>
            </a:r>
          </a:p>
        </p:txBody>
      </p:sp>
      <p:sp>
        <p:nvSpPr>
          <p:cNvPr id="12" name="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1C8A7647-E706-42DF-8907-37258ECD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75F3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B75F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B75F35"/>
                </a:solidFill>
                <a:latin typeface="Microsoft JhengHei"/>
                <a:ea typeface="Microsoft JhengHei"/>
                <a:cs typeface="Microsoft JhengHei"/>
              </a:rPr>
              <a:t>stjedu.github.io/www/</a:t>
            </a:r>
          </a:p>
        </p:txBody>
      </p:sp>
    </p:spTree>
    <p:extLst>
      <p:ext uri="{BB962C8B-B14F-4D97-AF65-F5344CB8AC3E}">
        <p14:creationId xmlns:p14="http://schemas.microsoft.com/office/powerpoint/2010/main" val="996748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9DD343-F87F-49CF-A13B-B335D9EE1B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faa5a2271423c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B0B8DF-0550-44AC-A03D-5C9997DD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33BCD63-0C20-4566-92BB-4CBC9A70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2711EF-5350-4A81-B188-CF563ADE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F6DFE93-0356-47FA-A0CE-5C564B51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B6219D-6085-4D1C-A8B7-BC51AE92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CB99CFF-38D2-4C3B-98E8-9D73812B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0ACECE4-227B-4B7D-BBC9-494D5492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3B3488E-8E50-4ACD-AAAE-5408015B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83F97A2-4CCC-44CF-8E18-7589EE42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23727EE-186A-476E-A4C4-0195AAB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85E932D-780F-4169-86DA-7CA38464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39E2770-1025-417E-A8A9-F827AE77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85618B3-1D16-436E-AFE7-4069FEBF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D2D7A77-FCA5-483F-A302-2D69B331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68DAAF4-D494-40D2-B409-010E294E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714566C-8772-4366-A2A4-3C5B626D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0E13880-7C4A-438D-B557-234456F7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A07B8E8-BFEE-4A17-9F60-195A1A0D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4AC3DA1-3DD0-4CB0-95DA-CF2146D9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107C41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FE94693D-80C7-41AD-B7A7-8DBDA37B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DCC6826-E287-45ED-8854-3E33CEDC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2759392-6F9A-47FF-B330-05D4F4F7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4A2574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56233B32-7FEF-4276-A325-64AAD3FB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2A91AC2-6EFC-4137-9907-21E52560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384FD98-082E-4571-948E-58525587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0284C7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27" name="研習導覽">
            <a:extLst xmlns:a="http://schemas.openxmlformats.org/drawingml/2006/main">
              <a:ext uri="{FF2B5EF4-FFF2-40B4-BE49-F238E27FC236}">
                <a16:creationId xmlns:a16="http://schemas.microsoft.com/office/drawing/2014/main" id="{7C36C69D-C311-4FAA-BBB1-E162BFC6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研習導覽</a:t>
            </a:r>
          </a:p>
        </p:txBody>
      </p:sp>
      <p:sp>
        <p:nvSpPr>
          <p:cNvPr id="28" name="六大單元學習地圖">
            <a:extLst xmlns:a="http://schemas.openxmlformats.org/drawingml/2006/main">
              <a:ext uri="{FF2B5EF4-FFF2-40B4-BE49-F238E27FC236}">
                <a16:creationId xmlns:a16="http://schemas.microsoft.com/office/drawing/2014/main" id="{0B8BD9A7-D405-49BC-B82D-90E7FC64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六大單元學習地圖</a:t>
            </a:r>
          </a:p>
        </p:txBody>
      </p:sp>
      <p:sp>
        <p:nvSpPr>
          <p:cNvPr id="2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2C9EFF32-EA4F-421A-8357-40146D3A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30" name="02 / 28">
            <a:extLst xmlns:a="http://schemas.openxmlformats.org/drawingml/2006/main">
              <a:ext uri="{FF2B5EF4-FFF2-40B4-BE49-F238E27FC236}">
                <a16:creationId xmlns:a16="http://schemas.microsoft.com/office/drawing/2014/main" id="{857C48B4-5561-4209-AC80-21EC1859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02 / 28</a:t>
            </a:r>
          </a:p>
        </p:txBody>
      </p:sp>
      <p:sp>
        <p:nvSpPr>
          <p:cNvPr id="31" name="01">
            <a:extLst xmlns:a="http://schemas.openxmlformats.org/drawingml/2006/main">
              <a:ext uri="{FF2B5EF4-FFF2-40B4-BE49-F238E27FC236}">
                <a16:creationId xmlns:a16="http://schemas.microsoft.com/office/drawing/2014/main" id="{B1B00917-7BE8-4B14-9877-2B33CB17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01</a:t>
            </a:r>
          </a:p>
        </p:txBody>
      </p:sp>
      <p:sp>
        <p:nvSpPr>
          <p:cNvPr id="32" name="代理 AI 觀念">
            <a:extLst xmlns:a="http://schemas.openxmlformats.org/drawingml/2006/main">
              <a:ext uri="{FF2B5EF4-FFF2-40B4-BE49-F238E27FC236}">
                <a16:creationId xmlns:a16="http://schemas.microsoft.com/office/drawing/2014/main" id="{F01D3AB9-16C7-4B97-9D55-5180EABB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14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代理 AI 觀念</a:t>
            </a:r>
          </a:p>
        </p:txBody>
      </p:sp>
      <p:sp>
        <p:nvSpPr>
          <p:cNvPr id="33" name="顧問與數位實習老師、規劃與工具調用">
            <a:extLst xmlns:a="http://schemas.openxmlformats.org/drawingml/2006/main">
              <a:ext uri="{FF2B5EF4-FFF2-40B4-BE49-F238E27FC236}">
                <a16:creationId xmlns:a16="http://schemas.microsoft.com/office/drawing/2014/main" id="{77AAC6EA-1516-4D62-A7FB-8D28409C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1932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顧問與數位實習老師、規劃與工具調用</a:t>
            </a:r>
          </a:p>
        </p:txBody>
      </p:sp>
      <p:sp>
        <p:nvSpPr>
          <p:cNvPr id="34" name="P. 03–05">
            <a:extLst xmlns:a="http://schemas.openxmlformats.org/drawingml/2006/main">
              <a:ext uri="{FF2B5EF4-FFF2-40B4-BE49-F238E27FC236}">
                <a16:creationId xmlns:a16="http://schemas.microsoft.com/office/drawing/2014/main" id="{B845CEEC-D3EA-4B6B-822C-B09D1DED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P. 03–05</a:t>
            </a:r>
          </a:p>
        </p:txBody>
      </p:sp>
      <p:sp>
        <p:nvSpPr>
          <p:cNvPr id="35" name="02">
            <a:extLst xmlns:a="http://schemas.openxmlformats.org/drawingml/2006/main">
              <a:ext uri="{FF2B5EF4-FFF2-40B4-BE49-F238E27FC236}">
                <a16:creationId xmlns:a16="http://schemas.microsoft.com/office/drawing/2014/main" id="{C3492A24-05BC-4321-8E4A-AE0C988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02</a:t>
            </a:r>
          </a:p>
        </p:txBody>
      </p:sp>
      <p:sp>
        <p:nvSpPr>
          <p:cNvPr id="36" name="環境建置與安全">
            <a:extLst xmlns:a="http://schemas.openxmlformats.org/drawingml/2006/main">
              <a:ext uri="{FF2B5EF4-FFF2-40B4-BE49-F238E27FC236}">
                <a16:creationId xmlns:a16="http://schemas.microsoft.com/office/drawing/2014/main" id="{18AB7894-8F2A-4F53-92E9-B1216500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99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環境建置與安全</a:t>
            </a:r>
          </a:p>
        </p:txBody>
      </p:sp>
      <p:sp>
        <p:nvSpPr>
          <p:cNvPr id="37" name="工作區、沙盒概念、環境健檢與建檔">
            <a:extLst xmlns:a="http://schemas.openxmlformats.org/drawingml/2006/main">
              <a:ext uri="{FF2B5EF4-FFF2-40B4-BE49-F238E27FC236}">
                <a16:creationId xmlns:a16="http://schemas.microsoft.com/office/drawing/2014/main" id="{D0457F27-EFCC-4ADF-A821-F873295A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工作區、沙盒概念、環境健檢與建檔</a:t>
            </a:r>
          </a:p>
        </p:txBody>
      </p:sp>
      <p:sp>
        <p:nvSpPr>
          <p:cNvPr id="38" name="P. 06–09">
            <a:extLst xmlns:a="http://schemas.openxmlformats.org/drawingml/2006/main">
              <a:ext uri="{FF2B5EF4-FFF2-40B4-BE49-F238E27FC236}">
                <a16:creationId xmlns:a16="http://schemas.microsoft.com/office/drawing/2014/main" id="{ECF50546-33FB-4FC7-80EF-4D7D4231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38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P. 06–09</a:t>
            </a:r>
          </a:p>
        </p:txBody>
      </p:sp>
      <p:sp>
        <p:nvSpPr>
          <p:cNvPr id="39" name="03">
            <a:extLst xmlns:a="http://schemas.openxmlformats.org/drawingml/2006/main">
              <a:ext uri="{FF2B5EF4-FFF2-40B4-BE49-F238E27FC236}">
                <a16:creationId xmlns:a16="http://schemas.microsoft.com/office/drawing/2014/main" id="{CBCEDAD9-A108-474C-8EAF-1CB43223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03</a:t>
            </a:r>
          </a:p>
        </p:txBody>
      </p:sp>
      <p:sp>
        <p:nvSpPr>
          <p:cNvPr id="40" name="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BCB3C1BC-02F6-456C-8DF5-C848AFCA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05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提示詞與電學實作</a:t>
            </a:r>
          </a:p>
        </p:txBody>
      </p:sp>
      <p:sp>
        <p:nvSpPr>
          <p:cNvPr id="41" name="CRIS、戴維寧、BJT 小訊號與 MCP 伴讀">
            <a:extLst xmlns:a="http://schemas.openxmlformats.org/drawingml/2006/main">
              <a:ext uri="{FF2B5EF4-FFF2-40B4-BE49-F238E27FC236}">
                <a16:creationId xmlns:a16="http://schemas.microsoft.com/office/drawing/2014/main" id="{64B93A13-6521-428A-8B55-565E6473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1017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CRIS、戴維寧、BJT 小訊號與 MCP 伴讀</a:t>
            </a:r>
          </a:p>
        </p:txBody>
      </p:sp>
      <p:sp>
        <p:nvSpPr>
          <p:cNvPr id="42" name="P. 10–17">
            <a:extLst xmlns:a="http://schemas.openxmlformats.org/drawingml/2006/main">
              <a:ext uri="{FF2B5EF4-FFF2-40B4-BE49-F238E27FC236}">
                <a16:creationId xmlns:a16="http://schemas.microsoft.com/office/drawing/2014/main" id="{0A01A733-A82D-43F9-BC7F-86F658C9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P. 10–17</a:t>
            </a:r>
          </a:p>
        </p:txBody>
      </p:sp>
      <p:sp>
        <p:nvSpPr>
          <p:cNvPr id="43" name="04">
            <a:extLst xmlns:a="http://schemas.openxmlformats.org/drawingml/2006/main">
              <a:ext uri="{FF2B5EF4-FFF2-40B4-BE49-F238E27FC236}">
                <a16:creationId xmlns:a16="http://schemas.microsoft.com/office/drawing/2014/main" id="{0C137143-0616-4035-A2D5-11CD5F51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04</a:t>
            </a:r>
          </a:p>
        </p:txBody>
      </p:sp>
      <p:sp>
        <p:nvSpPr>
          <p:cNvPr id="44" name="Excel 成績自動化">
            <a:extLst xmlns:a="http://schemas.openxmlformats.org/drawingml/2006/main">
              <a:ext uri="{FF2B5EF4-FFF2-40B4-BE49-F238E27FC236}">
                <a16:creationId xmlns:a16="http://schemas.microsoft.com/office/drawing/2014/main" id="{3500071A-7278-4B91-B505-6DC80D19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Excel 成績自動化</a:t>
            </a:r>
          </a:p>
        </p:txBody>
      </p:sp>
      <p:sp>
        <p:nvSpPr>
          <p:cNvPr id="45" name="加權算分、等第、條件格式與學情分析">
            <a:extLst xmlns:a="http://schemas.openxmlformats.org/drawingml/2006/main">
              <a:ext uri="{FF2B5EF4-FFF2-40B4-BE49-F238E27FC236}">
                <a16:creationId xmlns:a16="http://schemas.microsoft.com/office/drawing/2014/main" id="{5542EB1A-D906-47DF-9C9F-7B9E24AA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1932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加權算分、等第、條件格式與學情分析</a:t>
            </a:r>
          </a:p>
        </p:txBody>
      </p:sp>
      <p:sp>
        <p:nvSpPr>
          <p:cNvPr id="46" name="P. 18–20">
            <a:extLst xmlns:a="http://schemas.openxmlformats.org/drawingml/2006/main">
              <a:ext uri="{FF2B5EF4-FFF2-40B4-BE49-F238E27FC236}">
                <a16:creationId xmlns:a16="http://schemas.microsoft.com/office/drawing/2014/main" id="{23FFACA3-077A-43AE-8479-0FF8B745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43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P. 18–20</a:t>
            </a:r>
          </a:p>
        </p:txBody>
      </p:sp>
      <p:sp>
        <p:nvSpPr>
          <p:cNvPr id="47" name="05">
            <a:extLst xmlns:a="http://schemas.openxmlformats.org/drawingml/2006/main">
              <a:ext uri="{FF2B5EF4-FFF2-40B4-BE49-F238E27FC236}">
                <a16:creationId xmlns:a16="http://schemas.microsoft.com/office/drawing/2014/main" id="{2825CC8B-E3BE-40F2-B692-CAD63B24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99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05</a:t>
            </a:r>
          </a:p>
        </p:txBody>
      </p:sp>
      <p:sp>
        <p:nvSpPr>
          <p:cNvPr id="48" name="教學網站發布">
            <a:extLst xmlns:a="http://schemas.openxmlformats.org/drawingml/2006/main">
              <a:ext uri="{FF2B5EF4-FFF2-40B4-BE49-F238E27FC236}">
                <a16:creationId xmlns:a16="http://schemas.microsoft.com/office/drawing/2014/main" id="{EAD3B05E-6F8B-43E9-9EB1-9A704E29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99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教學網站發布</a:t>
            </a:r>
          </a:p>
        </p:txBody>
      </p:sp>
      <p:sp>
        <p:nvSpPr>
          <p:cNvPr id="49" name="GitHub 儲存庫、權杖與 Pages 發布">
            <a:extLst xmlns:a="http://schemas.openxmlformats.org/drawingml/2006/main">
              <a:ext uri="{FF2B5EF4-FFF2-40B4-BE49-F238E27FC236}">
                <a16:creationId xmlns:a16="http://schemas.microsoft.com/office/drawing/2014/main" id="{67997F3C-DD56-4998-9B63-0DEBA131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GitHub 儲存庫、權杖與 Pages 發布</a:t>
            </a:r>
          </a:p>
        </p:txBody>
      </p:sp>
      <p:sp>
        <p:nvSpPr>
          <p:cNvPr id="50" name="P. 21–23">
            <a:extLst xmlns:a="http://schemas.openxmlformats.org/drawingml/2006/main">
              <a:ext uri="{FF2B5EF4-FFF2-40B4-BE49-F238E27FC236}">
                <a16:creationId xmlns:a16="http://schemas.microsoft.com/office/drawing/2014/main" id="{A2B62214-C7B7-48BB-80A2-36EF0A1E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38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P. 21–23</a:t>
            </a:r>
          </a:p>
        </p:txBody>
      </p:sp>
      <p:sp>
        <p:nvSpPr>
          <p:cNvPr id="51" name="06">
            <a:extLst xmlns:a="http://schemas.openxmlformats.org/drawingml/2006/main">
              <a:ext uri="{FF2B5EF4-FFF2-40B4-BE49-F238E27FC236}">
                <a16:creationId xmlns:a16="http://schemas.microsoft.com/office/drawing/2014/main" id="{15D37303-9514-4DDE-B678-0C630C32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285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06</a:t>
            </a:r>
          </a:p>
        </p:txBody>
      </p:sp>
      <p:sp>
        <p:nvSpPr>
          <p:cNvPr id="52" name="虛擬電子儀表">
            <a:extLst xmlns:a="http://schemas.openxmlformats.org/drawingml/2006/main">
              <a:ext uri="{FF2B5EF4-FFF2-40B4-BE49-F238E27FC236}">
                <a16:creationId xmlns:a16="http://schemas.microsoft.com/office/drawing/2014/main" id="{687458B1-B577-4BB6-ADCB-01938875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05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虛擬電子儀表</a:t>
            </a:r>
          </a:p>
        </p:txBody>
      </p:sp>
      <p:sp>
        <p:nvSpPr>
          <p:cNvPr id="53" name="示波器、信號源與丙級量測模擬">
            <a:extLst xmlns:a="http://schemas.openxmlformats.org/drawingml/2006/main">
              <a:ext uri="{FF2B5EF4-FFF2-40B4-BE49-F238E27FC236}">
                <a16:creationId xmlns:a16="http://schemas.microsoft.com/office/drawing/2014/main" id="{3FEE7C77-EF8B-4272-8316-10CB257D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1017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示波器、信號源與丙級量測模擬</a:t>
            </a:r>
          </a:p>
        </p:txBody>
      </p:sp>
      <p:sp>
        <p:nvSpPr>
          <p:cNvPr id="54" name="P. 24–28">
            <a:extLst xmlns:a="http://schemas.openxmlformats.org/drawingml/2006/main">
              <a:ext uri="{FF2B5EF4-FFF2-40B4-BE49-F238E27FC236}">
                <a16:creationId xmlns:a16="http://schemas.microsoft.com/office/drawing/2014/main" id="{84F72ED6-59D0-4325-B0B8-CC0A5F53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34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P. 24–28</a:t>
            </a:r>
          </a:p>
        </p:txBody>
      </p:sp>
    </p:spTree>
    <p:extLst>
      <p:ext uri="{BB962C8B-B14F-4D97-AF65-F5344CB8AC3E}">
        <p14:creationId xmlns:p14="http://schemas.microsoft.com/office/powerpoint/2010/main" val="1461914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D89443-0627-4F1D-8814-954493C3C1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5949fd9314268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46A586-6CE5-4685-93FA-9A5D0EFB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4D89376-FE25-4047-9081-650ADB91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F83E7B1-B128-405B-A86F-1EEFB0AB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6489030-830A-43BC-9764-0798496A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E963FD-6230-448C-B9D9-DDBD1B01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D8DDB29-F094-4242-886A-5CAAB051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E4834DE-61F8-40EB-8486-9577B5F8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352D540-CC79-4721-A4C6-BE657E69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4AE2F8B-A821-4E6D-BC4E-EE4AC88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21AE2BB-E51C-446F-85EE-BAAB6FF7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2000"/>
              </a:spcAft>
              <a:buNone/>
              <a:defRPr sz="2200" b="1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9ABE58B-7590-49C6-8FD4-CE44901C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85A9866-D311-4AC9-BFC7-935D0717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A22EBC0-CEA5-47BD-9BFE-7190421B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2000"/>
              </a:spcAft>
              <a:buNone/>
              <a:defRPr sz="2200" b="1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F7503C9-0C25-4D17-9188-BEC2DF3D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A6916AF-39D3-468B-A70D-CCF7D677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EC13828-8302-4F4A-9F99-D764A361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2000"/>
              </a:spcAft>
              <a:buNone/>
              <a:defRPr sz="2200" b="1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01  代理 AI 觀念">
            <a:extLst xmlns:a="http://schemas.openxmlformats.org/drawingml/2006/main">
              <a:ext uri="{FF2B5EF4-FFF2-40B4-BE49-F238E27FC236}">
                <a16:creationId xmlns:a16="http://schemas.microsoft.com/office/drawing/2014/main" id="{5E0DF1B7-680E-4A65-9D8D-87811D00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01  代理 AI 觀念</a:t>
            </a:r>
          </a:p>
        </p:txBody>
      </p:sp>
      <p:sp>
        <p:nvSpPr>
          <p:cNvPr id="19" name="教師日常的行政與教學需求">
            <a:extLst xmlns:a="http://schemas.openxmlformats.org/drawingml/2006/main">
              <a:ext uri="{FF2B5EF4-FFF2-40B4-BE49-F238E27FC236}">
                <a16:creationId xmlns:a16="http://schemas.microsoft.com/office/drawing/2014/main" id="{694D94F2-E3F8-4F52-B30B-734C38EC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教師日常的行政與教學需求</a:t>
            </a:r>
          </a:p>
        </p:txBody>
      </p:sp>
      <p:sp>
        <p:nvSpPr>
          <p:cNvPr id="20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A06D41A2-9E6C-4CED-A280-8A0BE586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1" name="03 / 28">
            <a:extLst xmlns:a="http://schemas.openxmlformats.org/drawingml/2006/main">
              <a:ext uri="{FF2B5EF4-FFF2-40B4-BE49-F238E27FC236}">
                <a16:creationId xmlns:a16="http://schemas.microsoft.com/office/drawing/2014/main" id="{CB3679BA-B842-41F9-AACF-76178E12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03 / 28</a:t>
            </a:r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768F0702-6EA9-4C97-82E5-B7FD0918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01</a:t>
            </a:r>
          </a:p>
        </p:txBody>
      </p:sp>
      <p:sp>
        <p:nvSpPr>
          <p:cNvPr id="23" name="成績與行政">
            <a:extLst xmlns:a="http://schemas.openxmlformats.org/drawingml/2006/main">
              <a:ext uri="{FF2B5EF4-FFF2-40B4-BE49-F238E27FC236}">
                <a16:creationId xmlns:a16="http://schemas.microsoft.com/office/drawing/2014/main" id="{64DC8A00-BB9C-4D1C-8187-ECFE7212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成績與行政</a:t>
            </a:r>
          </a:p>
        </p:txBody>
      </p:sp>
      <p:sp>
        <p:nvSpPr>
          <p:cNvPr id="24" name="手動編寫 Excel 加權公式。">
            <a:extLst xmlns:a="http://schemas.openxmlformats.org/drawingml/2006/main">
              <a:ext uri="{FF2B5EF4-FFF2-40B4-BE49-F238E27FC236}">
                <a16:creationId xmlns:a16="http://schemas.microsoft.com/office/drawing/2014/main" id="{9E5A8908-B445-43C3-A537-41C48C78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手動編寫 Excel 加權公式。</a:t>
            </a:r>
          </a:p>
        </p:txBody>
      </p:sp>
      <p:sp>
        <p:nvSpPr>
          <p:cNvPr id="25" name="反覆篩選不及格、設定底色。">
            <a:extLst xmlns:a="http://schemas.openxmlformats.org/drawingml/2006/main">
              <a:ext uri="{FF2B5EF4-FFF2-40B4-BE49-F238E27FC236}">
                <a16:creationId xmlns:a16="http://schemas.microsoft.com/office/drawing/2014/main" id="{D48716D7-F47A-4816-948B-C6886810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78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反覆篩選不及格、設定底色。</a:t>
            </a:r>
          </a:p>
        </p:txBody>
      </p:sp>
      <p:sp>
        <p:nvSpPr>
          <p:cNvPr id="26" name="需要可重複使用的統計流程。">
            <a:extLst xmlns:a="http://schemas.openxmlformats.org/drawingml/2006/main">
              <a:ext uri="{FF2B5EF4-FFF2-40B4-BE49-F238E27FC236}">
                <a16:creationId xmlns:a16="http://schemas.microsoft.com/office/drawing/2014/main" id="{7005B88E-4F34-4F6D-9C94-A2F8D737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0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需要可重複使用的統計流程。</a:t>
            </a:r>
          </a:p>
        </p:txBody>
      </p:sp>
      <p:sp>
        <p:nvSpPr>
          <p:cNvPr id="27" name="02">
            <a:extLst xmlns:a="http://schemas.openxmlformats.org/drawingml/2006/main">
              <a:ext uri="{FF2B5EF4-FFF2-40B4-BE49-F238E27FC236}">
                <a16:creationId xmlns:a16="http://schemas.microsoft.com/office/drawing/2014/main" id="{7EE4B2DD-76B0-4FAE-94F2-C2F82945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02</a:t>
            </a:r>
          </a:p>
        </p:txBody>
      </p:sp>
      <p:sp>
        <p:nvSpPr>
          <p:cNvPr id="28" name="研習影片操作">
            <a:extLst xmlns:a="http://schemas.openxmlformats.org/drawingml/2006/main">
              <a:ext uri="{FF2B5EF4-FFF2-40B4-BE49-F238E27FC236}">
                <a16:creationId xmlns:a16="http://schemas.microsoft.com/office/drawing/2014/main" id="{284115A5-3709-4A46-8F21-21A1125E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研習影片操作</a:t>
            </a:r>
          </a:p>
        </p:txBody>
      </p:sp>
      <p:sp>
        <p:nvSpPr>
          <p:cNvPr id="29" name="登入、播放與切換單元。">
            <a:extLst xmlns:a="http://schemas.openxmlformats.org/drawingml/2006/main">
              <a:ext uri="{FF2B5EF4-FFF2-40B4-BE49-F238E27FC236}">
                <a16:creationId xmlns:a16="http://schemas.microsoft.com/office/drawing/2014/main" id="{1AFE40EA-F992-49B1-95B1-956FFF71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登入、播放與切換單元。</a:t>
            </a:r>
          </a:p>
        </p:txBody>
      </p:sp>
      <p:sp>
        <p:nvSpPr>
          <p:cNvPr id="30" name="處理播放中斷與微小按鈕。">
            <a:extLst xmlns:a="http://schemas.openxmlformats.org/drawingml/2006/main">
              <a:ext uri="{FF2B5EF4-FFF2-40B4-BE49-F238E27FC236}">
                <a16:creationId xmlns:a16="http://schemas.microsoft.com/office/drawing/2014/main" id="{2E832757-FAE7-4DD3-8930-7C5228D7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78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處理播放中斷與微小按鈕。</a:t>
            </a:r>
          </a:p>
        </p:txBody>
      </p:sp>
      <p:sp>
        <p:nvSpPr>
          <p:cNvPr id="31" name="減少觀看時的操作負擔。">
            <a:extLst xmlns:a="http://schemas.openxmlformats.org/drawingml/2006/main">
              <a:ext uri="{FF2B5EF4-FFF2-40B4-BE49-F238E27FC236}">
                <a16:creationId xmlns:a16="http://schemas.microsoft.com/office/drawing/2014/main" id="{1E81A575-634F-4DF9-8B81-2244692A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060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減少觀看時的操作負擔。</a:t>
            </a:r>
          </a:p>
        </p:txBody>
      </p:sp>
      <p:sp>
        <p:nvSpPr>
          <p:cNvPr id="32" name="03">
            <a:extLst xmlns:a="http://schemas.openxmlformats.org/drawingml/2006/main">
              <a:ext uri="{FF2B5EF4-FFF2-40B4-BE49-F238E27FC236}">
                <a16:creationId xmlns:a16="http://schemas.microsoft.com/office/drawing/2014/main" id="{62C9410B-C5C6-4836-8BF5-3F7DEA69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03</a:t>
            </a:r>
          </a:p>
        </p:txBody>
      </p:sp>
      <p:sp>
        <p:nvSpPr>
          <p:cNvPr id="33" name="提示詞表達">
            <a:extLst xmlns:a="http://schemas.openxmlformats.org/drawingml/2006/main">
              <a:ext uri="{FF2B5EF4-FFF2-40B4-BE49-F238E27FC236}">
                <a16:creationId xmlns:a16="http://schemas.microsoft.com/office/drawing/2014/main" id="{B48C98C1-BB74-4DA7-B409-197F16E8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提示詞表達</a:t>
            </a:r>
          </a:p>
        </p:txBody>
      </p:sp>
      <p:sp>
        <p:nvSpPr>
          <p:cNvPr id="34" name="把教學情境說清楚。">
            <a:extLst xmlns:a="http://schemas.openxmlformats.org/drawingml/2006/main">
              <a:ext uri="{FF2B5EF4-FFF2-40B4-BE49-F238E27FC236}">
                <a16:creationId xmlns:a16="http://schemas.microsoft.com/office/drawing/2014/main" id="{CC7A8FE3-09E2-4681-8DDF-57044A83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把教學情境說清楚。</a:t>
            </a:r>
          </a:p>
        </p:txBody>
      </p:sp>
      <p:sp>
        <p:nvSpPr>
          <p:cNvPr id="35" name="補齊題目條件與圖解要求。">
            <a:extLst xmlns:a="http://schemas.openxmlformats.org/drawingml/2006/main">
              <a:ext uri="{FF2B5EF4-FFF2-40B4-BE49-F238E27FC236}">
                <a16:creationId xmlns:a16="http://schemas.microsoft.com/office/drawing/2014/main" id="{66DD788F-A681-41BD-A064-29567823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2978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補齊題目條件與圖解要求。</a:t>
            </a:r>
          </a:p>
        </p:txBody>
      </p:sp>
      <p:sp>
        <p:nvSpPr>
          <p:cNvPr id="36" name="定義具體、可檢查的成果。">
            <a:extLst xmlns:a="http://schemas.openxmlformats.org/drawingml/2006/main">
              <a:ext uri="{FF2B5EF4-FFF2-40B4-BE49-F238E27FC236}">
                <a16:creationId xmlns:a16="http://schemas.microsoft.com/office/drawing/2014/main" id="{B5F67C11-9DA9-4456-B5D5-24D12F29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060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定義具體、可檢查的成果。</a:t>
            </a:r>
          </a:p>
        </p:txBody>
      </p:sp>
    </p:spTree>
    <p:extLst>
      <p:ext uri="{BB962C8B-B14F-4D97-AF65-F5344CB8AC3E}">
        <p14:creationId xmlns:p14="http://schemas.microsoft.com/office/powerpoint/2010/main" val="1773565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4D2A20-9CE5-41F9-BFF7-67B7CB976B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4b891d1714371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641DB8-302A-4F6A-A9A1-734AC02E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388A3F-FDEA-48F1-BACA-375D0B3C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9EC60AD-FF6C-4688-917F-99696924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E327F78-2B98-49D5-804B-6D1B0674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F8D6E4-7DE3-410B-8787-62346BDF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E6F58F-E4DD-4BB8-A559-ED055567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45E970-AA64-41DB-8567-E7774B9E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279A1A4-9D72-426F-89C3-4AC68FE3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B0DAEE7-7040-425F-B839-1B032DD8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7DFEEF3-C9BD-4718-9676-EB64B274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594054A-B8AA-436B-B657-079F0302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1  代理 AI 觀念">
            <a:extLst xmlns:a="http://schemas.openxmlformats.org/drawingml/2006/main">
              <a:ext uri="{FF2B5EF4-FFF2-40B4-BE49-F238E27FC236}">
                <a16:creationId xmlns:a16="http://schemas.microsoft.com/office/drawing/2014/main" id="{9F3D4425-6B9D-407B-8807-0DEC263A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01  代理 AI 觀念</a:t>
            </a:r>
          </a:p>
        </p:txBody>
      </p:sp>
      <p:sp>
        <p:nvSpPr>
          <p:cNvPr id="14" name="對話問答與代理執行">
            <a:extLst xmlns:a="http://schemas.openxmlformats.org/drawingml/2006/main">
              <a:ext uri="{FF2B5EF4-FFF2-40B4-BE49-F238E27FC236}">
                <a16:creationId xmlns:a16="http://schemas.microsoft.com/office/drawing/2014/main" id="{40018AAB-4410-4F59-8B46-1C1C35A3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對話問答與代理執行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8E352B44-70C5-4CB7-9330-4F7D1D6E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04 / 28">
            <a:extLst xmlns:a="http://schemas.openxmlformats.org/drawingml/2006/main">
              <a:ext uri="{FF2B5EF4-FFF2-40B4-BE49-F238E27FC236}">
                <a16:creationId xmlns:a16="http://schemas.microsoft.com/office/drawing/2014/main" id="{5701A3C1-CA32-4FBC-A2C2-525748FE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04 / 28</a:t>
            </a:r>
          </a:p>
        </p:txBody>
      </p:sp>
      <p:sp>
        <p:nvSpPr>
          <p:cNvPr id="17" name="對話式使用">
            <a:extLst xmlns:a="http://schemas.openxmlformats.org/drawingml/2006/main">
              <a:ext uri="{FF2B5EF4-FFF2-40B4-BE49-F238E27FC236}">
                <a16:creationId xmlns:a16="http://schemas.microsoft.com/office/drawing/2014/main" id="{4F3DF77E-E34A-4927-AE4A-6D0BAB72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2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對話式使用</a:t>
            </a:r>
          </a:p>
        </p:txBody>
      </p:sp>
      <p:sp>
        <p:nvSpPr>
          <p:cNvPr id="18" name="以問答、建議與文字草稿協助備課。">
            <a:extLst xmlns:a="http://schemas.openxmlformats.org/drawingml/2006/main">
              <a:ext uri="{FF2B5EF4-FFF2-40B4-BE49-F238E27FC236}">
                <a16:creationId xmlns:a16="http://schemas.microsoft.com/office/drawing/2014/main" id="{5BAD339F-36B0-4964-86DC-654E99A8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457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以問答、建議與文字草稿協助備課。</a:t>
            </a:r>
          </a:p>
        </p:txBody>
      </p:sp>
      <p:sp>
        <p:nvSpPr>
          <p:cNvPr id="19" name="通常需要老師自行整理、複製與轉存。">
            <a:extLst xmlns:a="http://schemas.openxmlformats.org/drawingml/2006/main">
              <a:ext uri="{FF2B5EF4-FFF2-40B4-BE49-F238E27FC236}">
                <a16:creationId xmlns:a16="http://schemas.microsoft.com/office/drawing/2014/main" id="{137BA502-DA93-4136-9780-F14B97F7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511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通常需要老師自行整理、複製與轉存。</a:t>
            </a:r>
          </a:p>
        </p:txBody>
      </p:sp>
      <p:sp>
        <p:nvSpPr>
          <p:cNvPr id="20" name="適合釐清概念、討論方向與修改內容。">
            <a:extLst xmlns:a="http://schemas.openxmlformats.org/drawingml/2006/main">
              <a:ext uri="{FF2B5EF4-FFF2-40B4-BE49-F238E27FC236}">
                <a16:creationId xmlns:a16="http://schemas.microsoft.com/office/drawing/2014/main" id="{CA693D02-CEE6-46E1-B2E3-994C763A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適合釐清概念、討論方向與修改內容。</a:t>
            </a:r>
          </a:p>
        </p:txBody>
      </p:sp>
      <p:sp>
        <p:nvSpPr>
          <p:cNvPr id="21" name="代理式使用">
            <a:extLst xmlns:a="http://schemas.openxmlformats.org/drawingml/2006/main">
              <a:ext uri="{FF2B5EF4-FFF2-40B4-BE49-F238E27FC236}">
                <a16:creationId xmlns:a16="http://schemas.microsoft.com/office/drawing/2014/main" id="{688881A2-AFF0-42B8-B0C0-45481F90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2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代理式使用</a:t>
            </a:r>
          </a:p>
        </p:txBody>
      </p:sp>
      <p:sp>
        <p:nvSpPr>
          <p:cNvPr id="22" name="依照目標規劃多步驟工作。">
            <a:extLst xmlns:a="http://schemas.openxmlformats.org/drawingml/2006/main">
              <a:ext uri="{FF2B5EF4-FFF2-40B4-BE49-F238E27FC236}">
                <a16:creationId xmlns:a16="http://schemas.microsoft.com/office/drawing/2014/main" id="{7BBF4F03-51C1-4C86-A0A1-2377ACD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7457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依照目標規劃多步驟工作。</a:t>
            </a:r>
          </a:p>
        </p:txBody>
      </p:sp>
      <p:sp>
        <p:nvSpPr>
          <p:cNvPr id="23" name="讀寫檔案、執行程式並處理資料。">
            <a:extLst xmlns:a="http://schemas.openxmlformats.org/drawingml/2006/main">
              <a:ext uri="{FF2B5EF4-FFF2-40B4-BE49-F238E27FC236}">
                <a16:creationId xmlns:a16="http://schemas.microsoft.com/office/drawing/2014/main" id="{58E0541A-EF83-4425-ABE1-B26C41C1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511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讀寫檔案、執行程式並處理資料。</a:t>
            </a:r>
          </a:p>
        </p:txBody>
      </p:sp>
      <p:sp>
        <p:nvSpPr>
          <p:cNvPr id="24" name="產出 .xlsx、電路圖與互動網頁。">
            <a:extLst xmlns:a="http://schemas.openxmlformats.org/drawingml/2006/main">
              <a:ext uri="{FF2B5EF4-FFF2-40B4-BE49-F238E27FC236}">
                <a16:creationId xmlns:a16="http://schemas.microsoft.com/office/drawing/2014/main" id="{1E4C630F-EFEF-4F47-AC26-40E77DF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產出 .xlsx、電路圖與互動網頁。</a:t>
            </a:r>
          </a:p>
        </p:txBody>
      </p:sp>
      <p:sp>
        <p:nvSpPr>
          <p:cNvPr id="25" name="老師設定範圍，檢查成果並決定後續操作。">
            <a:extLst xmlns:a="http://schemas.openxmlformats.org/drawingml/2006/main">
              <a:ext uri="{FF2B5EF4-FFF2-40B4-BE49-F238E27FC236}">
                <a16:creationId xmlns:a16="http://schemas.microsoft.com/office/drawing/2014/main" id="{3EFCF879-8E5F-4AC0-A68A-FC1DD7C7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0619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老師設定範圍，檢查成果並決定後續操作。</a:t>
            </a:r>
          </a:p>
        </p:txBody>
      </p:sp>
    </p:spTree>
    <p:extLst>
      <p:ext uri="{BB962C8B-B14F-4D97-AF65-F5344CB8AC3E}">
        <p14:creationId xmlns:p14="http://schemas.microsoft.com/office/powerpoint/2010/main" val="1067033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4F2387-7232-4DB0-B344-893580D9D0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485241a1f4367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28AC76-E889-42BF-A806-66E762BB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C3F94F2-A732-4C10-BDFA-183FE580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D83DEC8-A481-43E9-B614-E0E6A05C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303FBE-AF66-4B58-B210-508F381D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ADF10CA-B8D6-4F53-B6C1-2A300644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55773B4-2C08-4420-9E9A-DCDC699A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78E8DA8-58CD-4A60-9AD8-8DBAE629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43A9C03-6F10-48E1-839B-5F77BD5D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41B8D98D-F2F0-4C5B-8DA6-7F9CE473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75F5AA-29BD-43FE-961E-F39987D1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D96B42D-8438-4C38-8DF4-E4162356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8C2AB720-89E6-4A63-B3F2-32995239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065EB0-5AE7-4B7F-88E6-FE476DBC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E7E8918-81DB-446C-9677-4FED1B97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B1090094-B534-48CB-BF2C-F99E654F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32941CF-4BEF-4D16-9BAC-F94E26A6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01  代理 AI 觀念">
            <a:extLst xmlns:a="http://schemas.openxmlformats.org/drawingml/2006/main">
              <a:ext uri="{FF2B5EF4-FFF2-40B4-BE49-F238E27FC236}">
                <a16:creationId xmlns:a16="http://schemas.microsoft.com/office/drawing/2014/main" id="{8A8BC3DF-F9EC-421D-8238-FBAD6DCD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01  代理 AI 觀念</a:t>
            </a:r>
          </a:p>
        </p:txBody>
      </p:sp>
      <p:sp>
        <p:nvSpPr>
          <p:cNvPr id="19" name="代理 AI 的三項核心能力">
            <a:extLst xmlns:a="http://schemas.openxmlformats.org/drawingml/2006/main">
              <a:ext uri="{FF2B5EF4-FFF2-40B4-BE49-F238E27FC236}">
                <a16:creationId xmlns:a16="http://schemas.microsoft.com/office/drawing/2014/main" id="{BA8838DA-B0B3-481C-8E80-792CC9FA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代理 AI 的三項核心能力</a:t>
            </a:r>
          </a:p>
        </p:txBody>
      </p:sp>
      <p:sp>
        <p:nvSpPr>
          <p:cNvPr id="20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32CBC996-55C0-4224-AA8C-880BE750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1" name="05 / 28">
            <a:extLst xmlns:a="http://schemas.openxmlformats.org/drawingml/2006/main">
              <a:ext uri="{FF2B5EF4-FFF2-40B4-BE49-F238E27FC236}">
                <a16:creationId xmlns:a16="http://schemas.microsoft.com/office/drawing/2014/main" id="{DEAA7F91-9673-4B40-8EDE-A08945AB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05 / 28</a:t>
            </a:r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D8294708-79C2-42AA-BF3B-EDD76295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01</a:t>
            </a:r>
          </a:p>
        </p:txBody>
      </p:sp>
      <p:sp>
        <p:nvSpPr>
          <p:cNvPr id="23" name="自主規劃">
            <a:extLst xmlns:a="http://schemas.openxmlformats.org/drawingml/2006/main">
              <a:ext uri="{FF2B5EF4-FFF2-40B4-BE49-F238E27FC236}">
                <a16:creationId xmlns:a16="http://schemas.microsoft.com/office/drawing/2014/main" id="{A602CA86-EED7-4FE3-9148-852A31FB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自主規劃</a:t>
            </a:r>
          </a:p>
        </p:txBody>
      </p:sp>
      <p:sp>
        <p:nvSpPr>
          <p:cNvPr id="24" name="把教學目標拆成可執行的工作&#10;清單。">
            <a:extLst xmlns:a="http://schemas.openxmlformats.org/drawingml/2006/main">
              <a:ext uri="{FF2B5EF4-FFF2-40B4-BE49-F238E27FC236}">
                <a16:creationId xmlns:a16="http://schemas.microsoft.com/office/drawing/2014/main" id="{91A45E2E-C11E-4705-BA69-A0678FA4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5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把教學目標拆成可執行的工作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清單。</a:t>
            </a:r>
          </a:p>
        </p:txBody>
      </p:sp>
      <p:sp>
        <p:nvSpPr>
          <p:cNvPr id="25" name="確認輸入資料、交付格式與完&#10;成條件。">
            <a:extLst xmlns:a="http://schemas.openxmlformats.org/drawingml/2006/main">
              <a:ext uri="{FF2B5EF4-FFF2-40B4-BE49-F238E27FC236}">
                <a16:creationId xmlns:a16="http://schemas.microsoft.com/office/drawing/2014/main" id="{A92F9C76-F456-4793-8CF1-0D9E817D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36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確認輸入資料、交付格式與完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成條件。</a:t>
            </a:r>
          </a:p>
        </p:txBody>
      </p:sp>
      <p:sp>
        <p:nvSpPr>
          <p:cNvPr id="26" name="02">
            <a:extLst xmlns:a="http://schemas.openxmlformats.org/drawingml/2006/main">
              <a:ext uri="{FF2B5EF4-FFF2-40B4-BE49-F238E27FC236}">
                <a16:creationId xmlns:a16="http://schemas.microsoft.com/office/drawing/2014/main" id="{484CB47F-E34A-430B-A341-94144E5E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02</a:t>
            </a:r>
          </a:p>
        </p:txBody>
      </p:sp>
      <p:sp>
        <p:nvSpPr>
          <p:cNvPr id="27" name="工具調用">
            <a:extLst xmlns:a="http://schemas.openxmlformats.org/drawingml/2006/main">
              <a:ext uri="{FF2B5EF4-FFF2-40B4-BE49-F238E27FC236}">
                <a16:creationId xmlns:a16="http://schemas.microsoft.com/office/drawing/2014/main" id="{95EE98D9-383A-4A83-8A25-E98917B8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工具調用</a:t>
            </a:r>
          </a:p>
        </p:txBody>
      </p:sp>
      <p:sp>
        <p:nvSpPr>
          <p:cNvPr id="28" name="編寫與執行腳本。">
            <a:extLst xmlns:a="http://schemas.openxmlformats.org/drawingml/2006/main">
              <a:ext uri="{FF2B5EF4-FFF2-40B4-BE49-F238E27FC236}">
                <a16:creationId xmlns:a16="http://schemas.microsoft.com/office/drawing/2014/main" id="{AA8B66CD-8B01-4969-A681-00D0D1B3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編寫與執行腳本。</a:t>
            </a:r>
          </a:p>
        </p:txBody>
      </p:sp>
      <p:sp>
        <p:nvSpPr>
          <p:cNvPr id="29" name="繪製電路圖，處理 Excel 加權&#10;與圖表。">
            <a:extLst xmlns:a="http://schemas.openxmlformats.org/drawingml/2006/main">
              <a:ext uri="{FF2B5EF4-FFF2-40B4-BE49-F238E27FC236}">
                <a16:creationId xmlns:a16="http://schemas.microsoft.com/office/drawing/2014/main" id="{FFFC701C-925C-4A99-BBB2-F49F616A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78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繪製電路圖，處理 Excel 加權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與圖表。</a:t>
            </a:r>
          </a:p>
        </p:txBody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6F207B7D-601E-48DD-B3DA-E1147104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03</a:t>
            </a:r>
          </a:p>
        </p:txBody>
      </p:sp>
      <p:sp>
        <p:nvSpPr>
          <p:cNvPr id="31" name="工作區成果">
            <a:extLst xmlns:a="http://schemas.openxmlformats.org/drawingml/2006/main">
              <a:ext uri="{FF2B5EF4-FFF2-40B4-BE49-F238E27FC236}">
                <a16:creationId xmlns:a16="http://schemas.microsoft.com/office/drawing/2014/main" id="{1A93D025-B946-4801-92D5-4BA7866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工作區成果</a:t>
            </a:r>
          </a:p>
        </p:txBody>
      </p:sp>
      <p:sp>
        <p:nvSpPr>
          <p:cNvPr id="32" name="將教材、表格與網頁儲存為檔&#10;案。">
            <a:extLst xmlns:a="http://schemas.openxmlformats.org/drawingml/2006/main">
              <a:ext uri="{FF2B5EF4-FFF2-40B4-BE49-F238E27FC236}">
                <a16:creationId xmlns:a16="http://schemas.microsoft.com/office/drawing/2014/main" id="{3857FADA-B4B6-42EE-ABE8-DA2AF20E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35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將教材、表格與網頁儲存為檔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案。</a:t>
            </a:r>
          </a:p>
        </p:txBody>
      </p:sp>
      <p:sp>
        <p:nvSpPr>
          <p:cNvPr id="33" name="透過預覽檢查內容，再交付或&#10;發布。">
            <a:extLst xmlns:a="http://schemas.openxmlformats.org/drawingml/2006/main">
              <a:ext uri="{FF2B5EF4-FFF2-40B4-BE49-F238E27FC236}">
                <a16:creationId xmlns:a16="http://schemas.microsoft.com/office/drawing/2014/main" id="{B0F37D64-7F30-4EA6-8E3D-873EBB1D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36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透過預覽檢查內容，再交付或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發布。</a:t>
            </a:r>
          </a:p>
        </p:txBody>
      </p:sp>
    </p:spTree>
    <p:extLst>
      <p:ext uri="{BB962C8B-B14F-4D97-AF65-F5344CB8AC3E}">
        <p14:creationId xmlns:p14="http://schemas.microsoft.com/office/powerpoint/2010/main" val="1411752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8F6D9D-2ED1-4007-B38A-353AEFDA1F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29b353c3549c5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066E43-D139-4605-91C4-401215DD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587FCCF-E1DC-4058-AF43-87B2FC02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F35D47-4B62-4CE3-B1CC-0114F903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6E760C4-FB31-4301-8079-9A11DD11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E45E20F-4A5A-419B-9A0F-EE491A29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9AE397D-B505-464C-B578-5601A377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4E2752F-0726-4093-9B64-AD5A3DC9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3A18287-0173-4BC4-AB88-602DBCE2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DD7ED7D-1062-4C6D-9551-92158E51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1A267EC-2667-4AA2-B6FF-0CA4BC9F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E374035-D03D-4152-BDA9-5C541D7A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2EAF2D1-CD7A-4FB5-8F40-5A5783D8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99495EB-983F-48EB-8064-B33B069C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BC111937-BBCE-4B11-AF14-ECDF05EC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02  環境與安全</a:t>
            </a:r>
          </a:p>
        </p:txBody>
      </p:sp>
      <p:sp>
        <p:nvSpPr>
          <p:cNvPr id="16" name="AI 教學工作區">
            <a:extLst xmlns:a="http://schemas.openxmlformats.org/drawingml/2006/main">
              <a:ext uri="{FF2B5EF4-FFF2-40B4-BE49-F238E27FC236}">
                <a16:creationId xmlns:a16="http://schemas.microsoft.com/office/drawing/2014/main" id="{47AD1540-1804-4DED-B203-84AC6123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AI 教學工作區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BCF14D10-4AD8-4AE3-8157-4EB9FA15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06 / 28">
            <a:extLst xmlns:a="http://schemas.openxmlformats.org/drawingml/2006/main">
              <a:ext uri="{FF2B5EF4-FFF2-40B4-BE49-F238E27FC236}">
                <a16:creationId xmlns:a16="http://schemas.microsoft.com/office/drawing/2014/main" id="{E4F55529-002C-4F85-B8CB-AB6E5C10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06 / 28</a:t>
            </a:r>
          </a:p>
        </p:txBody>
      </p:sp>
      <p:sp>
        <p:nvSpPr>
          <p:cNvPr id="19" name="01">
            <a:extLst xmlns:a="http://schemas.openxmlformats.org/drawingml/2006/main">
              <a:ext uri="{FF2B5EF4-FFF2-40B4-BE49-F238E27FC236}">
                <a16:creationId xmlns:a16="http://schemas.microsoft.com/office/drawing/2014/main" id="{92686ADC-1E9C-4161-9071-90BF544E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01</a:t>
            </a:r>
          </a:p>
        </p:txBody>
      </p:sp>
      <p:sp>
        <p:nvSpPr>
          <p:cNvPr id="20" name="專案檔案庫">
            <a:extLst xmlns:a="http://schemas.openxmlformats.org/drawingml/2006/main">
              <a:ext uri="{FF2B5EF4-FFF2-40B4-BE49-F238E27FC236}">
                <a16:creationId xmlns:a16="http://schemas.microsoft.com/office/drawing/2014/main" id="{78FDFBF7-2420-4C04-A107-5A3EB06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專案檔案庫</a:t>
            </a:r>
          </a:p>
        </p:txBody>
      </p:sp>
      <p:sp>
        <p:nvSpPr>
          <p:cNvPr id="21" name="建立「2026_教學專案」工作&#10;區。">
            <a:extLst xmlns:a="http://schemas.openxmlformats.org/drawingml/2006/main">
              <a:ext uri="{FF2B5EF4-FFF2-40B4-BE49-F238E27FC236}">
                <a16:creationId xmlns:a16="http://schemas.microsoft.com/office/drawing/2014/main" id="{38FC5B6F-4BBB-4A10-B8BF-F3534E21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5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建立「2026_教學專案」工作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區。</a:t>
            </a:r>
          </a:p>
        </p:txBody>
      </p:sp>
      <p:sp>
        <p:nvSpPr>
          <p:cNvPr id="22" name="將表格、電路圖與網頁集中管&#10;理。">
            <a:extLst xmlns:a="http://schemas.openxmlformats.org/drawingml/2006/main">
              <a:ext uri="{FF2B5EF4-FFF2-40B4-BE49-F238E27FC236}">
                <a16:creationId xmlns:a16="http://schemas.microsoft.com/office/drawing/2014/main" id="{82EBE6F4-811C-46EB-AF4B-A0CCA8DD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36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將表格、電路圖與網頁集中管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913BD9DB-0BD5-4629-B434-35AABBDD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02</a:t>
            </a:r>
          </a:p>
        </p:txBody>
      </p:sp>
      <p:sp>
        <p:nvSpPr>
          <p:cNvPr id="24" name="對話指揮中心">
            <a:extLst xmlns:a="http://schemas.openxmlformats.org/drawingml/2006/main">
              <a:ext uri="{FF2B5EF4-FFF2-40B4-BE49-F238E27FC236}">
                <a16:creationId xmlns:a16="http://schemas.microsoft.com/office/drawing/2014/main" id="{58793AD8-1573-4895-926A-D348687D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對話指揮中心</a:t>
            </a:r>
          </a:p>
        </p:txBody>
      </p:sp>
      <p:sp>
        <p:nvSpPr>
          <p:cNvPr id="25" name="輸入 CRIS 提示詞與教學需求。">
            <a:extLst xmlns:a="http://schemas.openxmlformats.org/drawingml/2006/main">
              <a:ext uri="{FF2B5EF4-FFF2-40B4-BE49-F238E27FC236}">
                <a16:creationId xmlns:a16="http://schemas.microsoft.com/office/drawing/2014/main" id="{F7AE1C93-A678-4272-9C96-07C429E3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輸入 CRIS 提示詞與教學需求。</a:t>
            </a:r>
          </a:p>
        </p:txBody>
      </p:sp>
      <p:sp>
        <p:nvSpPr>
          <p:cNvPr id="26" name="查看工作計畫、執行狀態與回&#10;報。">
            <a:extLst xmlns:a="http://schemas.openxmlformats.org/drawingml/2006/main">
              <a:ext uri="{FF2B5EF4-FFF2-40B4-BE49-F238E27FC236}">
                <a16:creationId xmlns:a16="http://schemas.microsoft.com/office/drawing/2014/main" id="{83F12DC8-E0AC-461F-A964-9250AB70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78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查看工作計畫、執行狀態與回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報。</a:t>
            </a:r>
          </a:p>
        </p:txBody>
      </p:sp>
      <p:sp>
        <p:nvSpPr>
          <p:cNvPr id="27" name="03">
            <a:extLst xmlns:a="http://schemas.openxmlformats.org/drawingml/2006/main">
              <a:ext uri="{FF2B5EF4-FFF2-40B4-BE49-F238E27FC236}">
                <a16:creationId xmlns:a16="http://schemas.microsoft.com/office/drawing/2014/main" id="{DA323A8E-3DE3-4BED-9C1D-EEC94E8F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525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03</a:t>
            </a:r>
          </a:p>
        </p:txBody>
      </p:sp>
      <p:sp>
        <p:nvSpPr>
          <p:cNvPr id="28" name="成果預覽">
            <a:extLst xmlns:a="http://schemas.openxmlformats.org/drawingml/2006/main">
              <a:ext uri="{FF2B5EF4-FFF2-40B4-BE49-F238E27FC236}">
                <a16:creationId xmlns:a16="http://schemas.microsoft.com/office/drawing/2014/main" id="{B6D416E9-A399-4A75-8495-0E178CBB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成果預覽</a:t>
            </a:r>
          </a:p>
        </p:txBody>
      </p:sp>
      <p:sp>
        <p:nvSpPr>
          <p:cNvPr id="29" name="開啟產出的檔案或網頁。">
            <a:extLst xmlns:a="http://schemas.openxmlformats.org/drawingml/2006/main">
              <a:ext uri="{FF2B5EF4-FFF2-40B4-BE49-F238E27FC236}">
                <a16:creationId xmlns:a16="http://schemas.microsoft.com/office/drawing/2014/main" id="{F0ED2A55-BE2A-4E05-80EF-2E65DDBE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開啟產出的檔案或網頁。</a:t>
            </a:r>
          </a:p>
        </p:txBody>
      </p:sp>
      <p:sp>
        <p:nvSpPr>
          <p:cNvPr id="30" name="確認公式、圖像、文字與操作&#10;結果。">
            <a:extLst xmlns:a="http://schemas.openxmlformats.org/drawingml/2006/main">
              <a:ext uri="{FF2B5EF4-FFF2-40B4-BE49-F238E27FC236}">
                <a16:creationId xmlns:a16="http://schemas.microsoft.com/office/drawing/2014/main" id="{0D6103AF-F034-4269-8510-6B132D03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2978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確認公式、圖像、文字與操作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結果。</a:t>
            </a:r>
          </a:p>
        </p:txBody>
      </p:sp>
    </p:spTree>
    <p:extLst>
      <p:ext uri="{BB962C8B-B14F-4D97-AF65-F5344CB8AC3E}">
        <p14:creationId xmlns:p14="http://schemas.microsoft.com/office/powerpoint/2010/main" val="1730832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FB634-84F7-4531-9D17-F2BC84B5C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66dbd7fe6427c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98F5BD9-990A-4ADE-B3FB-DD36B306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BF8D031-1ADC-45B2-A232-1D5BF926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12A5BB-B662-49D2-BA98-4041191D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577100-3744-4660-BC3F-1391E1C1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92FA0CC-03E7-4A3F-9699-03357DBD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BBACA85-CE1B-4BD7-8E1A-7049FC1C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4EF9B5E-5789-4050-A77C-EFD990D5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C1C8194-1892-4552-896F-C61F7654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AB03037-A055-4F47-B72F-3205E8F9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6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7B76E149-BC86-4E9B-9C74-246E613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02  環境與安全</a:t>
            </a:r>
          </a:p>
        </p:txBody>
      </p:sp>
      <p:sp>
        <p:nvSpPr>
          <p:cNvPr id="12" name="工作區安全與個資保護">
            <a:extLst xmlns:a="http://schemas.openxmlformats.org/drawingml/2006/main">
              <a:ext uri="{FF2B5EF4-FFF2-40B4-BE49-F238E27FC236}">
                <a16:creationId xmlns:a16="http://schemas.microsoft.com/office/drawing/2014/main" id="{4E22BB0F-2595-4E23-A584-331B5CA5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工作區安全與個資保護</a:t>
            </a:r>
          </a:p>
        </p:txBody>
      </p:sp>
      <p:sp>
        <p:nvSpPr>
          <p:cNvPr id="13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DE698063-A06F-4C34-B204-E6545F6D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4" name="07 / 28">
            <a:extLst xmlns:a="http://schemas.openxmlformats.org/drawingml/2006/main">
              <a:ext uri="{FF2B5EF4-FFF2-40B4-BE49-F238E27FC236}">
                <a16:creationId xmlns:a16="http://schemas.microsoft.com/office/drawing/2014/main" id="{EDE707BE-3ACA-4858-A44F-2D7887E0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07 / 28</a:t>
            </a:r>
          </a:p>
        </p:txBody>
      </p:sp>
      <p:sp>
        <p:nvSpPr>
          <p:cNvPr id="15" name="專案範圍與執行紀錄">
            <a:extLst xmlns:a="http://schemas.openxmlformats.org/drawingml/2006/main">
              <a:ext uri="{FF2B5EF4-FFF2-40B4-BE49-F238E27FC236}">
                <a16:creationId xmlns:a16="http://schemas.microsoft.com/office/drawing/2014/main" id="{B5AF0E61-BB36-4419-ABE6-7C3BD538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572750" cy="449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3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專案範圍與執行紀錄</a:t>
            </a:r>
          </a:p>
        </p:txBody>
      </p:sp>
      <p:sp>
        <p:nvSpPr>
          <p:cNvPr id="16" name="練習時使用專屬資料夾，先確認代理工具的實際存取範圍與權限。">
            <a:extLst xmlns:a="http://schemas.openxmlformats.org/drawingml/2006/main">
              <a:ext uri="{FF2B5EF4-FFF2-40B4-BE49-F238E27FC236}">
                <a16:creationId xmlns:a16="http://schemas.microsoft.com/office/drawing/2014/main" id="{83AFDF7D-6A2D-41CD-9653-88A0CC74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4674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練習時使用專屬資料夾，先確認代理工具的實際存取範圍與權限。</a:t>
            </a:r>
          </a:p>
        </p:txBody>
      </p:sp>
      <p:sp>
        <p:nvSpPr>
          <p:cNvPr id="17" name="檢視 AI 計畫、執行紀錄及檔案變更，重要資料先備份。">
            <a:extLst xmlns:a="http://schemas.openxmlformats.org/drawingml/2006/main">
              <a:ext uri="{FF2B5EF4-FFF2-40B4-BE49-F238E27FC236}">
                <a16:creationId xmlns:a16="http://schemas.microsoft.com/office/drawing/2014/main" id="{B6E41C42-BEC7-4A08-A10E-E7F8B011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2359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檢視 AI 計畫、執行紀錄及檔案變更，重要資料先備份。</a:t>
            </a:r>
          </a:p>
        </p:txBody>
      </p:sp>
      <p:sp>
        <p:nvSpPr>
          <p:cNvPr id="18" name="教學資料與權杖保護">
            <a:extLst xmlns:a="http://schemas.openxmlformats.org/drawingml/2006/main">
              <a:ext uri="{FF2B5EF4-FFF2-40B4-BE49-F238E27FC236}">
                <a16:creationId xmlns:a16="http://schemas.microsoft.com/office/drawing/2014/main" id="{884398B3-C9BC-4555-A9D4-11DE7A9A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572750" cy="449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3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教學資料與權杖保護</a:t>
            </a:r>
          </a:p>
        </p:txBody>
      </p:sp>
      <p:sp>
        <p:nvSpPr>
          <p:cNvPr id="19" name="使用假名與模擬成績，避免放入學生身分證字號或家長電話。">
            <a:extLst xmlns:a="http://schemas.openxmlformats.org/drawingml/2006/main">
              <a:ext uri="{FF2B5EF4-FFF2-40B4-BE49-F238E27FC236}">
                <a16:creationId xmlns:a16="http://schemas.microsoft.com/office/drawing/2014/main" id="{DA94E3D5-7BE9-47BD-92E6-C2F4A0B7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0224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使用假名與模擬成績，避免放入學生身分證字號或家長電話。</a:t>
            </a:r>
          </a:p>
        </p:txBody>
      </p:sp>
      <p:sp>
        <p:nvSpPr>
          <p:cNvPr id="20" name="API Token 妥善保存，示範、截圖與公開教材都需遮罩。">
            <a:extLst xmlns:a="http://schemas.openxmlformats.org/drawingml/2006/main">
              <a:ext uri="{FF2B5EF4-FFF2-40B4-BE49-F238E27FC236}">
                <a16:creationId xmlns:a16="http://schemas.microsoft.com/office/drawing/2014/main" id="{1CDDD8C8-25D6-4105-BB5A-31693E12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7909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API Token 妥善保存，示範、截圖與公開教材都需遮罩。</a:t>
            </a:r>
          </a:p>
        </p:txBody>
      </p:sp>
    </p:spTree>
    <p:extLst>
      <p:ext uri="{BB962C8B-B14F-4D97-AF65-F5344CB8AC3E}">
        <p14:creationId xmlns:p14="http://schemas.microsoft.com/office/powerpoint/2010/main" val="1350890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08E2B8-9F44-4B0C-8EBA-A31CD9CE7E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3ceaaf7ec4dd6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673CC4-FC47-44B9-97AA-82AF9BE7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360A9A4-0ED6-48FE-AC77-4BFA6A63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A1882F-3085-4F5E-A552-5E61510C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9DE016A-3DD5-46C3-8557-D53C225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1FD61B2-C8D1-43DF-AE02-A88929C2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C61058E-9C2E-4FC7-B6E4-7E153C8A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4696B45-197B-4F7D-AA63-F993B890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DD90813-71C5-4D7D-8B76-F2C87472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2946B81-9F3E-47EA-861D-E9D7853B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6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A5B1562-3380-4165-A602-145FC39E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80FCB21-67F7-47FE-8B05-ADF8EB89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73A9E2-A3B3-4477-9ED3-D95D62C8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C07D804-D43E-4E48-975E-A61D3589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211161AD-8ACB-41C1-9A43-3700ABC9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02  環境與安全</a:t>
            </a:r>
          </a:p>
        </p:txBody>
      </p:sp>
      <p:sp>
        <p:nvSpPr>
          <p:cNvPr id="16" name="環境健檢與教學工具清單">
            <a:extLst xmlns:a="http://schemas.openxmlformats.org/drawingml/2006/main">
              <a:ext uri="{FF2B5EF4-FFF2-40B4-BE49-F238E27FC236}">
                <a16:creationId xmlns:a16="http://schemas.microsoft.com/office/drawing/2014/main" id="{A60FA3AE-7A87-45DB-9D49-4FF0DF40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環境健檢與教學工具清單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5155058C-2CE1-441D-9510-022A42A0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08 / 28">
            <a:extLst xmlns:a="http://schemas.openxmlformats.org/drawingml/2006/main">
              <a:ext uri="{FF2B5EF4-FFF2-40B4-BE49-F238E27FC236}">
                <a16:creationId xmlns:a16="http://schemas.microsoft.com/office/drawing/2014/main" id="{9B2C3983-A454-4456-8C3C-4B693FD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08 / 28</a:t>
            </a:r>
          </a:p>
        </p:txBody>
      </p:sp>
      <p:sp>
        <p:nvSpPr>
          <p:cNvPr id="19" name="教學工具清單">
            <a:extLst xmlns:a="http://schemas.openxmlformats.org/drawingml/2006/main">
              <a:ext uri="{FF2B5EF4-FFF2-40B4-BE49-F238E27FC236}">
                <a16:creationId xmlns:a16="http://schemas.microsoft.com/office/drawing/2014/main" id="{CB97EAF5-6EDC-4C4A-8AAD-22BB52B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教學工具清單</a:t>
            </a:r>
          </a:p>
        </p:txBody>
      </p:sp>
      <p:sp>
        <p:nvSpPr>
          <p:cNvPr id="20" name="核心：Python、Node.js、Git。">
            <a:extLst xmlns:a="http://schemas.openxmlformats.org/drawingml/2006/main">
              <a:ext uri="{FF2B5EF4-FFF2-40B4-BE49-F238E27FC236}">
                <a16:creationId xmlns:a16="http://schemas.microsoft.com/office/drawing/2014/main" id="{58380329-AED2-490C-9AB5-CFC82D4D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核心：Python、Node.js、Git。</a:t>
            </a:r>
          </a:p>
        </p:txBody>
      </p:sp>
      <p:sp>
        <p:nvSpPr>
          <p:cNvPr id="21" name="電學圖解：schemdraw、matplotlib、Pillow。">
            <a:extLst xmlns:a="http://schemas.openxmlformats.org/drawingml/2006/main">
              <a:ext uri="{FF2B5EF4-FFF2-40B4-BE49-F238E27FC236}">
                <a16:creationId xmlns:a16="http://schemas.microsoft.com/office/drawing/2014/main" id="{B6DF53E7-464E-469B-9DFF-2B5DEA01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電學圖解：schemdraw、matplotlib、Pillow。</a:t>
            </a:r>
          </a:p>
        </p:txBody>
      </p:sp>
      <p:sp>
        <p:nvSpPr>
          <p:cNvPr id="22" name="Office：openpyxl、pandas、python-pptx、&#10;">
            <a:extLst xmlns:a="http://schemas.openxmlformats.org/drawingml/2006/main">
              <a:ext uri="{FF2B5EF4-FFF2-40B4-BE49-F238E27FC236}">
                <a16:creationId xmlns:a16="http://schemas.microsoft.com/office/drawing/2014/main" id="{7EA3CD00-751C-4EFF-80FE-67DE3F0F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918"/>
            <a:ext cx="51625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Office：openpyxl、pandas、python-pptx、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python-docx。</a:t>
            </a:r>
          </a:p>
        </p:txBody>
      </p:sp>
      <p:sp>
        <p:nvSpPr>
          <p:cNvPr id="23" name="網頁與公式：瀏覽器自動化工具、KaTeX。">
            <a:extLst xmlns:a="http://schemas.openxmlformats.org/drawingml/2006/main">
              <a:ext uri="{FF2B5EF4-FFF2-40B4-BE49-F238E27FC236}">
                <a16:creationId xmlns:a16="http://schemas.microsoft.com/office/drawing/2014/main" id="{0AB0EDF8-D6EE-46B3-9E8B-42F6FEE5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3919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網頁與公式：瀏覽器自動化工具、KaTeX。</a:t>
            </a:r>
          </a:p>
        </p:txBody>
      </p:sp>
      <p:sp>
        <p:nvSpPr>
          <p:cNvPr id="24" name="環境健檢提示詞">
            <a:extLst xmlns:a="http://schemas.openxmlformats.org/drawingml/2006/main">
              <a:ext uri="{FF2B5EF4-FFF2-40B4-BE49-F238E27FC236}">
                <a16:creationId xmlns:a16="http://schemas.microsoft.com/office/drawing/2014/main" id="{D838F454-AEB2-4236-814C-14F293CA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環境健檢提示詞</a:t>
            </a:r>
          </a:p>
        </p:txBody>
      </p:sp>
      <p:sp>
        <p:nvSpPr>
          <p:cNvPr id="25" name="請檢查教學工作區，確認核心工具與套件，缺少時&#10;再協助安裝。">
            <a:extLst xmlns:a="http://schemas.openxmlformats.org/drawingml/2006/main">
              <a:ext uri="{FF2B5EF4-FFF2-40B4-BE49-F238E27FC236}">
                <a16:creationId xmlns:a16="http://schemas.microsoft.com/office/drawing/2014/main" id="{C2FB8490-6550-4BCF-BE0F-11450E56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5708"/>
            <a:ext cx="51625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請檢查教學工作區，確認核心工具與套件，缺少時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再協助安裝。</a:t>
            </a:r>
          </a:p>
        </p:txBody>
      </p:sp>
      <p:sp>
        <p:nvSpPr>
          <p:cNvPr id="26" name="1. 回報 Python、Node.js 與 Git 版本。">
            <a:extLst xmlns:a="http://schemas.openxmlformats.org/drawingml/2006/main">
              <a:ext uri="{FF2B5EF4-FFF2-40B4-BE49-F238E27FC236}">
                <a16:creationId xmlns:a16="http://schemas.microsoft.com/office/drawing/2014/main" id="{A8298D06-BC95-4DFA-A4E2-80F845F5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5709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1. 回報 Python、Node.js 與 Git 版本。</a:t>
            </a:r>
          </a:p>
        </p:txBody>
      </p:sp>
      <p:sp>
        <p:nvSpPr>
          <p:cNvPr id="27" name="2. 檢查 Office 與電學繪圖套件。">
            <a:extLst xmlns:a="http://schemas.openxmlformats.org/drawingml/2006/main">
              <a:ext uri="{FF2B5EF4-FFF2-40B4-BE49-F238E27FC236}">
                <a16:creationId xmlns:a16="http://schemas.microsoft.com/office/drawing/2014/main" id="{CB348B83-B7B1-4456-ACFC-7C7151AD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4814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2. 檢查 Office 與電學繪圖套件。</a:t>
            </a:r>
          </a:p>
        </p:txBody>
      </p:sp>
      <p:sp>
        <p:nvSpPr>
          <p:cNvPr id="28" name="3. 在目前目錄建立「健檢回報.txt」，測試檔案&#10;讀寫。">
            <a:extLst xmlns:a="http://schemas.openxmlformats.org/drawingml/2006/main">
              <a:ext uri="{FF2B5EF4-FFF2-40B4-BE49-F238E27FC236}">
                <a16:creationId xmlns:a16="http://schemas.microsoft.com/office/drawing/2014/main" id="{9EDDDE20-C5F2-41BB-BE63-F012990E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23919"/>
            <a:ext cx="51625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3. 在目前目錄建立「健檢回報.txt」，測試檔案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讀寫。</a:t>
            </a:r>
          </a:p>
        </p:txBody>
      </p:sp>
      <p:sp>
        <p:nvSpPr>
          <p:cNvPr id="29" name="4. 以繁體中文列出檢查結果與待處理項目。">
            <a:extLst xmlns:a="http://schemas.openxmlformats.org/drawingml/2006/main">
              <a:ext uri="{FF2B5EF4-FFF2-40B4-BE49-F238E27FC236}">
                <a16:creationId xmlns:a16="http://schemas.microsoft.com/office/drawing/2014/main" id="{C1757C20-3164-412B-8990-E1CCFF03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93920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4. 以繁體中文列出檢查結果與待處理項目。</a:t>
            </a:r>
          </a:p>
        </p:txBody>
      </p:sp>
    </p:spTree>
    <p:extLst>
      <p:ext uri="{BB962C8B-B14F-4D97-AF65-F5344CB8AC3E}">
        <p14:creationId xmlns:p14="http://schemas.microsoft.com/office/powerpoint/2010/main" val="1714725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044BDC-9EDD-4028-8BC3-75BBE78034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e88efdd404e13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0E7B5B8-C05E-4500-9F73-CC455537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D40A7F6-211A-4490-A2F8-ACA7DC85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0454303-18E0-4495-AF5D-E85FC88C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9FFD057-5666-4B2C-9BC7-06B1FC6D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B85407A-1E99-4E6D-89C2-BD78A8CF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1F2D9D8-1836-4806-9425-A64F7908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1461EF3-AF6D-4691-88BA-A92223BC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580A897-DAB3-4327-BF5D-8ACFA12F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BE29879-1E9D-47BD-8EE8-279A006C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4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BE2A51E-399A-4A99-ABD5-747DF2EF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7BE1612-12BB-4A0A-8AB0-F632B5D2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59CC73D-448C-4D78-A02A-B2C0576A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169171-85C7-4380-97B2-CBDE8A1A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3A54B007-2B2D-4061-B885-180B393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02  環境與安全</a:t>
            </a:r>
          </a:p>
        </p:txBody>
      </p:sp>
      <p:sp>
        <p:nvSpPr>
          <p:cNvPr id="16" name="第一份自主建檔練習">
            <a:extLst xmlns:a="http://schemas.openxmlformats.org/drawingml/2006/main">
              <a:ext uri="{FF2B5EF4-FFF2-40B4-BE49-F238E27FC236}">
                <a16:creationId xmlns:a16="http://schemas.microsoft.com/office/drawing/2014/main" id="{95C123D7-5EC2-44C7-AA8A-D05233E6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第一份自主建檔練習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B9D0029C-A4A9-4CD4-AB69-80C93173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09 / 28">
            <a:extLst xmlns:a="http://schemas.openxmlformats.org/drawingml/2006/main">
              <a:ext uri="{FF2B5EF4-FFF2-40B4-BE49-F238E27FC236}">
                <a16:creationId xmlns:a16="http://schemas.microsoft.com/office/drawing/2014/main" id="{A118C6B8-3EB9-465D-9FC7-AEE9F451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09 / 28</a:t>
            </a:r>
          </a:p>
        </p:txBody>
      </p:sp>
      <p:sp>
        <p:nvSpPr>
          <p:cNvPr id="19" name="練習觀察重點">
            <a:extLst xmlns:a="http://schemas.openxmlformats.org/drawingml/2006/main">
              <a:ext uri="{FF2B5EF4-FFF2-40B4-BE49-F238E27FC236}">
                <a16:creationId xmlns:a16="http://schemas.microsoft.com/office/drawing/2014/main" id="{5993DE69-3131-44C6-9CC4-45D9D209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練習觀察重點</a:t>
            </a:r>
          </a:p>
        </p:txBody>
      </p:sp>
      <p:sp>
        <p:nvSpPr>
          <p:cNvPr id="20" name="建立「研習簽到與教學備忘.txt」。">
            <a:extLst xmlns:a="http://schemas.openxmlformats.org/drawingml/2006/main">
              <a:ext uri="{FF2B5EF4-FFF2-40B4-BE49-F238E27FC236}">
                <a16:creationId xmlns:a16="http://schemas.microsoft.com/office/drawing/2014/main" id="{7BFAF0AF-5718-4E8B-9A51-515BC839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27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建立「研習簽到與教學備忘.txt」。</a:t>
            </a:r>
          </a:p>
        </p:txBody>
      </p:sp>
      <p:sp>
        <p:nvSpPr>
          <p:cNvPr id="21" name="觀察代理工具執行建檔。">
            <a:extLst xmlns:a="http://schemas.openxmlformats.org/drawingml/2006/main">
              <a:ext uri="{FF2B5EF4-FFF2-40B4-BE49-F238E27FC236}">
                <a16:creationId xmlns:a16="http://schemas.microsoft.com/office/drawing/2014/main" id="{DED5848D-4141-40B3-AE6A-968F665F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471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觀察代理工具執行建檔。</a:t>
            </a:r>
          </a:p>
        </p:txBody>
      </p:sp>
      <p:sp>
        <p:nvSpPr>
          <p:cNvPr id="22" name="在檔案清單中開啟成果。">
            <a:extLst xmlns:a="http://schemas.openxmlformats.org/drawingml/2006/main">
              <a:ext uri="{FF2B5EF4-FFF2-40B4-BE49-F238E27FC236}">
                <a16:creationId xmlns:a16="http://schemas.microsoft.com/office/drawing/2014/main" id="{4D0D68CE-8D73-41CA-BE01-76DD146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667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在檔案清單中開啟成果。</a:t>
            </a:r>
          </a:p>
        </p:txBody>
      </p:sp>
      <p:sp>
        <p:nvSpPr>
          <p:cNvPr id="23" name="確認內容與儲存位置符合要求。">
            <a:extLst xmlns:a="http://schemas.openxmlformats.org/drawingml/2006/main">
              <a:ext uri="{FF2B5EF4-FFF2-40B4-BE49-F238E27FC236}">
                <a16:creationId xmlns:a16="http://schemas.microsoft.com/office/drawing/2014/main" id="{6AFB4AB5-90B4-48FC-9D30-14B468D4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確認內容與儲存位置符合要求。</a:t>
            </a:r>
          </a:p>
        </p:txBody>
      </p:sp>
      <p:sp>
        <p:nvSpPr>
          <p:cNvPr id="24" name="自主建檔提示詞">
            <a:extLst xmlns:a="http://schemas.openxmlformats.org/drawingml/2006/main">
              <a:ext uri="{FF2B5EF4-FFF2-40B4-BE49-F238E27FC236}">
                <a16:creationId xmlns:a16="http://schemas.microsoft.com/office/drawing/2014/main" id="{518FDBCB-5C7A-461C-83D1-36E61645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64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8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38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838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自主建檔提示詞</a:t>
            </a:r>
          </a:p>
        </p:txBody>
      </p:sp>
      <p:sp>
        <p:nvSpPr>
          <p:cNvPr id="25" name="你好！我是 [請填寫學校：例如 大安高工 / 彰師附工&#10;] 的 [請填寫">
            <a:extLst xmlns:a="http://schemas.openxmlformats.org/drawingml/2006/main">
              <a:ext uri="{FF2B5EF4-FFF2-40B4-BE49-F238E27FC236}">
                <a16:creationId xmlns:a16="http://schemas.microsoft.com/office/drawing/2014/main" id="{292DDDE7-7130-4CCF-91B0-6CB2E112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3323"/>
            <a:ext cx="5162550" cy="604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你好！我是 [請填寫學校：例如 大安高工 / 彰師附工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] 的 [請填寫學科：例如 電子科 / 資訊科] 老師。</a:t>
            </a:r>
          </a:p>
        </p:txBody>
      </p:sp>
      <p:sp>
        <p:nvSpPr>
          <p:cNvPr id="26" name="請在我們的工作資料夾中，幫我建立一個名為「研習簽&#10;到與教學備忘.txt」">
            <a:extLst xmlns:a="http://schemas.openxmlformats.org/drawingml/2006/main">
              <a:ext uri="{FF2B5EF4-FFF2-40B4-BE49-F238E27FC236}">
                <a16:creationId xmlns:a16="http://schemas.microsoft.com/office/drawing/2014/main" id="{956FDCEA-49A6-4D3E-885F-019F863A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8077"/>
            <a:ext cx="5162550" cy="604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請在我們的工作資料夾中，幫我建立一個名為「研習簽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到與教學備忘.txt」的檔案，</a:t>
            </a:r>
          </a:p>
        </p:txBody>
      </p:sp>
      <p:sp>
        <p:nvSpPr>
          <p:cNvPr id="27" name="內容寫入：">
            <a:extLst xmlns:a="http://schemas.openxmlformats.org/drawingml/2006/main">
              <a:ext uri="{FF2B5EF4-FFF2-40B4-BE49-F238E27FC236}">
                <a16:creationId xmlns:a16="http://schemas.microsoft.com/office/drawing/2014/main" id="{1016B292-22D0-4403-B293-687EBB5D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92830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內容寫入：</a:t>
            </a:r>
          </a:p>
        </p:txBody>
      </p:sp>
      <p:sp>
        <p:nvSpPr>
          <p:cNvPr id="28" name="- 今日日期與時間">
            <a:extLst xmlns:a="http://schemas.openxmlformats.org/drawingml/2006/main">
              <a:ext uri="{FF2B5EF4-FFF2-40B4-BE49-F238E27FC236}">
                <a16:creationId xmlns:a16="http://schemas.microsoft.com/office/drawing/2014/main" id="{2E152025-34F6-44DD-90F2-7B60E7B1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9073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- 今日日期與時間</a:t>
            </a:r>
          </a:p>
        </p:txBody>
      </p:sp>
      <p:sp>
        <p:nvSpPr>
          <p:cNvPr id="29" name="- 研習主題：Antigravity 代理 AI 教學應用實戰">
            <a:extLst xmlns:a="http://schemas.openxmlformats.org/drawingml/2006/main">
              <a:ext uri="{FF2B5EF4-FFF2-40B4-BE49-F238E27FC236}">
                <a16:creationId xmlns:a16="http://schemas.microsoft.com/office/drawing/2014/main" id="{56768087-DAA6-4DF3-8B58-14089486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5315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- 研習主題：Antigravity 代理 AI 教學應用實戰</a:t>
            </a:r>
          </a:p>
        </p:txBody>
      </p:sp>
      <p:sp>
        <p:nvSpPr>
          <p:cNvPr id="30" name="- 我的教學願景：期許用 AI 幫自己每週省下 3 小時&#10;備課時間">
            <a:extLst xmlns:a="http://schemas.openxmlformats.org/drawingml/2006/main">
              <a:ext uri="{FF2B5EF4-FFF2-40B4-BE49-F238E27FC236}">
                <a16:creationId xmlns:a16="http://schemas.microsoft.com/office/drawing/2014/main" id="{5E8895FD-E8A6-4EA9-866F-692E39AD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41558"/>
            <a:ext cx="5162550" cy="604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- 我的教學願景：期許用 AI 幫自己每週省下 3 小時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備課時間</a:t>
            </a:r>
          </a:p>
        </p:txBody>
      </p:sp>
      <p:sp>
        <p:nvSpPr>
          <p:cNvPr id="31" name="- 給老師的一句備課激勵金句">
            <a:extLst xmlns:a="http://schemas.openxmlformats.org/drawingml/2006/main">
              <a:ext uri="{FF2B5EF4-FFF2-40B4-BE49-F238E27FC236}">
                <a16:creationId xmlns:a16="http://schemas.microsoft.com/office/drawing/2014/main" id="{0624B3CE-9796-4F71-8B99-2C349440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36311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- 給老師的一句備課激勵金句</a:t>
            </a:r>
          </a:p>
        </p:txBody>
      </p:sp>
      <p:sp>
        <p:nvSpPr>
          <p:cNvPr id="32" name="建立完成後，請告訴我檔案已儲存。">
            <a:extLst xmlns:a="http://schemas.openxmlformats.org/drawingml/2006/main">
              <a:ext uri="{FF2B5EF4-FFF2-40B4-BE49-F238E27FC236}">
                <a16:creationId xmlns:a16="http://schemas.microsoft.com/office/drawing/2014/main" id="{15D8164D-DD0E-4070-ADED-608881CD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52554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建立完成後，請告訴我檔案已儲存。</a:t>
            </a:r>
          </a:p>
        </p:txBody>
      </p:sp>
    </p:spTree>
    <p:extLst>
      <p:ext uri="{BB962C8B-B14F-4D97-AF65-F5344CB8AC3E}">
        <p14:creationId xmlns:p14="http://schemas.microsoft.com/office/powerpoint/2010/main" val="1912649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EE807C-F7EA-4AF5-8F8F-085ED6028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e6b8bf5e14447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638B92E-B5BE-472D-9C4A-47F72091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67AC765-142C-42F2-9D58-C8954180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8BAAB88-6D23-4ED1-93D0-DE1E17E9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1EEAD0-83D6-448E-A6E3-679971D0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B5998C-0E15-45F8-A04C-C1CDF2FF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D062B6-FCF9-4734-B3AC-0A499C4D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861170-A45F-417C-906C-17218699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9B82D00-0FAE-40DD-8E1D-8BBEF61F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879FDDE-8E3F-4746-8C7F-5652C8E7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400"/>
              </a:spcAft>
              <a:buNone/>
              <a:defRPr sz="2000" b="1">
                <a:solidFill>
                  <a:srgbClr val="BC474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7A98703-A93F-437B-BD1D-DB5C742D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343522B-F01F-4A9D-A6AE-E2B1DCF3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2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1E4584A9-3CCA-41CF-BEE8-D0537DDF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03  提示詞與電學實作</a:t>
            </a:r>
          </a:p>
        </p:txBody>
      </p:sp>
      <p:sp>
        <p:nvSpPr>
          <p:cNvPr id="14" name="清楚的提示詞，具體的教學成果">
            <a:extLst xmlns:a="http://schemas.openxmlformats.org/drawingml/2006/main">
              <a:ext uri="{FF2B5EF4-FFF2-40B4-BE49-F238E27FC236}">
                <a16:creationId xmlns:a16="http://schemas.microsoft.com/office/drawing/2014/main" id="{B444AF92-E1CF-46F4-82F6-0057F880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清楚的提示詞，具體的教學成果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F270C1C0-7EA5-476E-BBD5-BEEBC768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10 / 28">
            <a:extLst xmlns:a="http://schemas.openxmlformats.org/drawingml/2006/main">
              <a:ext uri="{FF2B5EF4-FFF2-40B4-BE49-F238E27FC236}">
                <a16:creationId xmlns:a16="http://schemas.microsoft.com/office/drawing/2014/main" id="{8AE191A0-D3D8-41F2-A5E9-46B02897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10 / 28</a:t>
            </a:r>
          </a:p>
        </p:txBody>
      </p:sp>
      <p:sp>
        <p:nvSpPr>
          <p:cNvPr id="17" name="模糊需求">
            <a:extLst xmlns:a="http://schemas.openxmlformats.org/drawingml/2006/main">
              <a:ext uri="{FF2B5EF4-FFF2-40B4-BE49-F238E27FC236}">
                <a16:creationId xmlns:a16="http://schemas.microsoft.com/office/drawing/2014/main" id="{DF030109-E1C3-4871-B5B5-BFEF1259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模糊需求</a:t>
            </a:r>
          </a:p>
        </p:txBody>
      </p:sp>
      <p:sp>
        <p:nvSpPr>
          <p:cNvPr id="18" name="「幫我出幾題基本電學題目。」">
            <a:extLst xmlns:a="http://schemas.openxmlformats.org/drawingml/2006/main">
              <a:ext uri="{FF2B5EF4-FFF2-40B4-BE49-F238E27FC236}">
                <a16:creationId xmlns:a16="http://schemas.microsoft.com/office/drawing/2014/main" id="{82B49EFE-000C-455D-86C5-B3FE6A14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「幫我出幾題基本電學題目。」</a:t>
            </a:r>
          </a:p>
        </p:txBody>
      </p:sp>
      <p:sp>
        <p:nvSpPr>
          <p:cNvPr id="19" name="缺少年級、學習範圍與難度。">
            <a:extLst xmlns:a="http://schemas.openxmlformats.org/drawingml/2006/main">
              <a:ext uri="{FF2B5EF4-FFF2-40B4-BE49-F238E27FC236}">
                <a16:creationId xmlns:a16="http://schemas.microsoft.com/office/drawing/2014/main" id="{DA4F410E-9747-419A-8C4D-A87444D2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缺少年級、學習範圍與難度。</a:t>
            </a:r>
          </a:p>
        </p:txBody>
      </p:sp>
      <p:sp>
        <p:nvSpPr>
          <p:cNvPr id="20" name="未定義選項、詳解或電路圖格式。">
            <a:extLst xmlns:a="http://schemas.openxmlformats.org/drawingml/2006/main">
              <a:ext uri="{FF2B5EF4-FFF2-40B4-BE49-F238E27FC236}">
                <a16:creationId xmlns:a16="http://schemas.microsoft.com/office/drawing/2014/main" id="{68A7ECE5-662B-4274-8E80-28BCF12F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未定義選項、詳解或電路圖格式。</a:t>
            </a:r>
          </a:p>
        </p:txBody>
      </p:sp>
      <p:sp>
        <p:nvSpPr>
          <p:cNvPr id="21" name="產出後仍需花時間補題與驗算。">
            <a:extLst xmlns:a="http://schemas.openxmlformats.org/drawingml/2006/main">
              <a:ext uri="{FF2B5EF4-FFF2-40B4-BE49-F238E27FC236}">
                <a16:creationId xmlns:a16="http://schemas.microsoft.com/office/drawing/2014/main" id="{18575C9D-7479-40F2-BC3F-0C360E06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產出後仍需花時間補題與驗算。</a:t>
            </a:r>
          </a:p>
        </p:txBody>
      </p:sp>
      <p:sp>
        <p:nvSpPr>
          <p:cNvPr id="22" name="結構化需求">
            <a:extLst xmlns:a="http://schemas.openxmlformats.org/drawingml/2006/main">
              <a:ext uri="{FF2B5EF4-FFF2-40B4-BE49-F238E27FC236}">
                <a16:creationId xmlns:a16="http://schemas.microsoft.com/office/drawing/2014/main" id="{CF27F4F5-4C39-4B2E-A568-4CBC4CB1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結構化需求</a:t>
            </a:r>
          </a:p>
        </p:txBody>
      </p:sp>
      <p:sp>
        <p:nvSpPr>
          <p:cNvPr id="23" name="角色：技高電機電子群教師。">
            <a:extLst xmlns:a="http://schemas.openxmlformats.org/drawingml/2006/main">
              <a:ext uri="{FF2B5EF4-FFF2-40B4-BE49-F238E27FC236}">
                <a16:creationId xmlns:a16="http://schemas.microsoft.com/office/drawing/2014/main" id="{58D7FE5C-64B5-45E3-BE46-449C2391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角色：技高電機電子群教師。</a:t>
            </a:r>
          </a:p>
        </p:txBody>
      </p:sp>
      <p:sp>
        <p:nvSpPr>
          <p:cNvPr id="24" name="情境：高一電阻網路與戴維寧定理。">
            <a:extLst xmlns:a="http://schemas.openxmlformats.org/drawingml/2006/main">
              <a:ext uri="{FF2B5EF4-FFF2-40B4-BE49-F238E27FC236}">
                <a16:creationId xmlns:a16="http://schemas.microsoft.com/office/drawing/2014/main" id="{8D6413F6-D929-4EDF-B8FD-A6F2AAD5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情境：高一電阻網路與戴維寧定理。</a:t>
            </a:r>
          </a:p>
        </p:txBody>
      </p:sp>
      <p:sp>
        <p:nvSpPr>
          <p:cNvPr id="25" name="任務：設計 3 題選擇題，提供 4 個選項。">
            <a:extLst xmlns:a="http://schemas.openxmlformats.org/drawingml/2006/main">
              <a:ext uri="{FF2B5EF4-FFF2-40B4-BE49-F238E27FC236}">
                <a16:creationId xmlns:a16="http://schemas.microsoft.com/office/drawing/2014/main" id="{132A5E10-70AD-4C5B-9630-F7CD5568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任務：設計 3 題選擇題，提供 4 個選項。</a:t>
            </a:r>
          </a:p>
        </p:txBody>
      </p:sp>
      <p:sp>
        <p:nvSpPr>
          <p:cNvPr id="26" name="條件：便於手算的數值，附答案與推導。">
            <a:extLst xmlns:a="http://schemas.openxmlformats.org/drawingml/2006/main">
              <a:ext uri="{FF2B5EF4-FFF2-40B4-BE49-F238E27FC236}">
                <a16:creationId xmlns:a16="http://schemas.microsoft.com/office/drawing/2014/main" id="{7FF4B4CE-6BEA-4820-96ED-68D4DAED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條件：便於手算的數值，附答案與推導。</a:t>
            </a:r>
          </a:p>
        </p:txBody>
      </p:sp>
      <p:sp>
        <p:nvSpPr>
          <p:cNvPr id="27" name="成果：完整電路圖、常見誤區及可列印題目。">
            <a:extLst xmlns:a="http://schemas.openxmlformats.org/drawingml/2006/main">
              <a:ext uri="{FF2B5EF4-FFF2-40B4-BE49-F238E27FC236}">
                <a16:creationId xmlns:a16="http://schemas.microsoft.com/office/drawing/2014/main" id="{91D05730-7166-4459-9E28-22DB3BEB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3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成果：完整電路圖、常見誤區及可列印題目。</a:t>
            </a:r>
          </a:p>
        </p:txBody>
      </p:sp>
    </p:spTree>
    <p:extLst>
      <p:ext uri="{BB962C8B-B14F-4D97-AF65-F5344CB8AC3E}">
        <p14:creationId xmlns:p14="http://schemas.microsoft.com/office/powerpoint/2010/main" val="20288381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02D062-4342-4DDA-8AEA-4ACADAEF5C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514c9b581421a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8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B7300BAE-76DA-4504-83F5-A73AA5A6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52768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451419-CC41-4887-8114-C47BDCEB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D430BA6-2D91-4142-8ECB-631D4CA9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4D89A7A-564D-4464-ADA0-F51E3132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A095CB-EEBF-44FF-B9A7-5AD19AE3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97C079B-35B0-4065-BA87-D4A7C117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0F2F8A2-8B8C-4626-ADA0-FF1B6794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35D0DA3-60AF-409C-B9F4-9361286C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015C1FE-D379-40D6-A800-836764A0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D348D13-AA3C-45FB-ABD9-54FA92D3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900" b="1">
                <a:solidFill>
                  <a:srgbClr val="BC474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232E9C4-FBE0-4EFD-B77B-31A38B82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77EABA-6ACD-449F-B4F4-F82FE615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8469BC1B-A554-4E4A-A69E-B6E3075F26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9ea6109e349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3181350"/>
            <a:ext cx="5162550" cy="2238375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44596D7-CD78-4F8F-BA93-046F9E39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7C5DD1DE-04E7-493C-ACD5-40CC7154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03  提示詞與電學實作</a:t>
            </a:r>
          </a:p>
        </p:txBody>
      </p:sp>
      <p:sp>
        <p:nvSpPr>
          <p:cNvPr id="16" name="電阻串並聯化簡">
            <a:extLst xmlns:a="http://schemas.openxmlformats.org/drawingml/2006/main">
              <a:ext uri="{FF2B5EF4-FFF2-40B4-BE49-F238E27FC236}">
                <a16:creationId xmlns:a16="http://schemas.microsoft.com/office/drawing/2014/main" id="{BF93EA87-F35E-41EF-B6AE-381F73D7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電阻串並聯化簡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2B29E18F-BB98-4B57-878A-4EFC36BD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11 / 28">
            <a:extLst xmlns:a="http://schemas.openxmlformats.org/drawingml/2006/main">
              <a:ext uri="{FF2B5EF4-FFF2-40B4-BE49-F238E27FC236}">
                <a16:creationId xmlns:a16="http://schemas.microsoft.com/office/drawing/2014/main" id="{5CC2D29E-3844-4413-965D-A79BBDD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11 / 28</a:t>
            </a:r>
          </a:p>
        </p:txBody>
      </p:sp>
      <p:sp>
        <p:nvSpPr>
          <p:cNvPr id="19" name="輸出品質檢查">
            <a:extLst xmlns:a="http://schemas.openxmlformats.org/drawingml/2006/main">
              <a:ext uri="{FF2B5EF4-FFF2-40B4-BE49-F238E27FC236}">
                <a16:creationId xmlns:a16="http://schemas.microsoft.com/office/drawing/2014/main" id="{33F783DA-70C5-4380-B913-92240DF1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輸出品質檢查</a:t>
            </a:r>
          </a:p>
        </p:txBody>
      </p:sp>
      <p:sp>
        <p:nvSpPr>
          <p:cNvPr id="20" name="題目需符合技高學生程度。">
            <a:extLst xmlns:a="http://schemas.openxmlformats.org/drawingml/2006/main">
              <a:ext uri="{FF2B5EF4-FFF2-40B4-BE49-F238E27FC236}">
                <a16:creationId xmlns:a16="http://schemas.microsoft.com/office/drawing/2014/main" id="{E807C978-CFDC-41DF-A54D-41FB01ED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題目需符合技高學生程度。</a:t>
            </a:r>
          </a:p>
        </p:txBody>
      </p:sp>
      <p:sp>
        <p:nvSpPr>
          <p:cNvPr id="21" name="數值應支援核心概念，避免無意義的繁算。">
            <a:extLst xmlns:a="http://schemas.openxmlformats.org/drawingml/2006/main">
              <a:ext uri="{FF2B5EF4-FFF2-40B4-BE49-F238E27FC236}">
                <a16:creationId xmlns:a16="http://schemas.microsoft.com/office/drawing/2014/main" id="{38DC8285-CB26-4D16-A1CE-7B0154A5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數值應支援核心概念，避免無意義的繁算。</a:t>
            </a:r>
          </a:p>
        </p:txBody>
      </p:sp>
      <p:sp>
        <p:nvSpPr>
          <p:cNvPr id="22" name="題幹提及「下圖」時，必須實際附圖。">
            <a:extLst xmlns:a="http://schemas.openxmlformats.org/drawingml/2006/main">
              <a:ext uri="{FF2B5EF4-FFF2-40B4-BE49-F238E27FC236}">
                <a16:creationId xmlns:a16="http://schemas.microsoft.com/office/drawing/2014/main" id="{01E8B011-12C5-4A01-A77F-D3610EE0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題幹提及「下圖」時，必須實際附圖。</a:t>
            </a:r>
          </a:p>
        </p:txBody>
      </p:sp>
      <p:sp>
        <p:nvSpPr>
          <p:cNvPr id="23" name="選項、答案與詳解需完整且一致。">
            <a:extLst xmlns:a="http://schemas.openxmlformats.org/drawingml/2006/main">
              <a:ext uri="{FF2B5EF4-FFF2-40B4-BE49-F238E27FC236}">
                <a16:creationId xmlns:a16="http://schemas.microsoft.com/office/drawing/2014/main" id="{8E7E0D3E-9B55-41A5-A82A-C4975F7E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選項、答案與詳解需完整且一致。</a:t>
            </a:r>
          </a:p>
        </p:txBody>
      </p:sp>
      <p:sp>
        <p:nvSpPr>
          <p:cNvPr id="24" name="串並聯化簡範例">
            <a:extLst xmlns:a="http://schemas.openxmlformats.org/drawingml/2006/main">
              <a:ext uri="{FF2B5EF4-FFF2-40B4-BE49-F238E27FC236}">
                <a16:creationId xmlns:a16="http://schemas.microsoft.com/office/drawing/2014/main" id="{8EF57220-BB1D-4F0D-89FC-3480583A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串並聯化簡範例</a:t>
            </a:r>
          </a:p>
        </p:txBody>
      </p:sp>
      <p:sp>
        <p:nvSpPr>
          <p:cNvPr id="25" name="E = 24 V">
            <a:extLst xmlns:a="http://schemas.openxmlformats.org/drawingml/2006/main">
              <a:ext uri="{FF2B5EF4-FFF2-40B4-BE49-F238E27FC236}">
                <a16:creationId xmlns:a16="http://schemas.microsoft.com/office/drawing/2014/main" id="{AF1D600B-30B9-4C28-97E8-613F7E7C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E = 24 V</a:t>
            </a:r>
          </a:p>
        </p:txBody>
      </p:sp>
      <p:sp>
        <p:nvSpPr>
          <p:cNvPr id="26" name="6 Ω 與 12 Ω 並聯，再串聯 8 Ω。">
            <a:extLst xmlns:a="http://schemas.openxmlformats.org/drawingml/2006/main">
              <a:ext uri="{FF2B5EF4-FFF2-40B4-BE49-F238E27FC236}">
                <a16:creationId xmlns:a16="http://schemas.microsoft.com/office/drawing/2014/main" id="{26D97CA5-CD1A-453E-9B66-1C5C679B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6 Ω 與 12 Ω 並聯，再串聯 8 Ω。</a:t>
            </a:r>
          </a:p>
        </p:txBody>
      </p:sp>
      <p:sp>
        <p:nvSpPr>
          <p:cNvPr id="27" name="R₁∥R₂ = 4 Ω    RＴ = 12 Ω    IＴ = 2 A">
            <a:extLst xmlns:a="http://schemas.openxmlformats.org/drawingml/2006/main">
              <a:ext uri="{FF2B5EF4-FFF2-40B4-BE49-F238E27FC236}">
                <a16:creationId xmlns:a16="http://schemas.microsoft.com/office/drawing/2014/main" id="{1BDAF0C0-AA62-4364-A631-C1C42971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7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R₁∥R₂ = 4 Ω    RＴ = 12 Ω    IＴ = 2 A</a:t>
            </a:r>
          </a:p>
        </p:txBody>
      </p:sp>
    </p:spTree>
    <p:extLst>
      <p:ext uri="{BB962C8B-B14F-4D97-AF65-F5344CB8AC3E}">
        <p14:creationId xmlns:p14="http://schemas.microsoft.com/office/powerpoint/2010/main" val="20180369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6409CA-9426-4C12-92C7-80AFF8A92E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4d0da453349bd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9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2476C37C-DC96-41DD-B0F0-3EFAE061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47975"/>
            <a:ext cx="52768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D8A4C12A-5886-4D68-8498-8FE92C89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52768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72049D-61EB-47B9-89C8-4952F9BD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C7C9DA-06D2-4ABF-951A-7E6D3332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1669AE1-C321-4F10-BE22-08170DA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AA7C04D-C54C-46A5-A610-04EA0193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F21C87A-1C96-4AFB-B7E7-A374436B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6CDA64B-54CB-41C9-8A53-8F716360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5650BD0-E324-4B3F-9DEF-588EF959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F5139C6-2DE9-438C-A7F1-4C639306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55E9B2E-37D0-4314-86CD-C5782F1E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33356B95-66CA-479B-A1FA-6342BCE9D0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95707c7184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048000"/>
            <a:ext cx="5162550" cy="2019300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B509D1F-4A24-4EF7-972E-B69FCBE6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58B25DC-BBB5-4785-88B1-6893AD8F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44A2E2-FF89-40E0-9834-29986B66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A04844E8-7731-455F-B3A3-CF314AAB32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068c605b741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905125"/>
            <a:ext cx="5162550" cy="2609850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043D126-70B2-41A7-BB84-A20D4F87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F5AA406B-0889-4EEB-BFBD-5AADDDCF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03  提示詞與電學實作</a:t>
            </a:r>
          </a:p>
        </p:txBody>
      </p:sp>
      <p:sp>
        <p:nvSpPr>
          <p:cNvPr id="18" name="戴維寧等效與最大功率轉移">
            <a:extLst xmlns:a="http://schemas.openxmlformats.org/drawingml/2006/main">
              <a:ext uri="{FF2B5EF4-FFF2-40B4-BE49-F238E27FC236}">
                <a16:creationId xmlns:a16="http://schemas.microsoft.com/office/drawing/2014/main" id="{54A254C2-B977-4C58-8EB9-C0CAA4F2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戴維寧等效與最大功率轉移</a:t>
            </a:r>
          </a:p>
        </p:txBody>
      </p:sp>
      <p:sp>
        <p:nvSpPr>
          <p:cNvPr id="1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90A9618F-9A55-4EE7-AD94-CD852853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0" name="12 / 28">
            <a:extLst xmlns:a="http://schemas.openxmlformats.org/drawingml/2006/main">
              <a:ext uri="{FF2B5EF4-FFF2-40B4-BE49-F238E27FC236}">
                <a16:creationId xmlns:a16="http://schemas.microsoft.com/office/drawing/2014/main" id="{BA40F877-7244-431A-BB14-A68D906D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12 / 28</a:t>
            </a:r>
          </a:p>
        </p:txBody>
      </p:sp>
      <p:sp>
        <p:nvSpPr>
          <p:cNvPr id="21" name="戴維寧等效與負載電流">
            <a:extLst xmlns:a="http://schemas.openxmlformats.org/drawingml/2006/main">
              <a:ext uri="{FF2B5EF4-FFF2-40B4-BE49-F238E27FC236}">
                <a16:creationId xmlns:a16="http://schemas.microsoft.com/office/drawing/2014/main" id="{D6AE10BA-9A47-4034-B37B-3FF4A337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戴維寧等效與負載電流</a:t>
            </a:r>
          </a:p>
        </p:txBody>
      </p:sp>
      <p:sp>
        <p:nvSpPr>
          <p:cNvPr id="22" name="E th = 18 V，R th = 6 Ω，R L = 3 Ω。">
            <a:extLst xmlns:a="http://schemas.openxmlformats.org/drawingml/2006/main">
              <a:ext uri="{FF2B5EF4-FFF2-40B4-BE49-F238E27FC236}">
                <a16:creationId xmlns:a16="http://schemas.microsoft.com/office/drawing/2014/main" id="{F5FAEE97-18E9-4E12-8A00-6809E8AA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E th = 18 V，R th = 6 Ω，R L = 3 Ω。</a:t>
            </a:r>
          </a:p>
        </p:txBody>
      </p:sp>
      <p:sp>
        <p:nvSpPr>
          <p:cNvPr id="23" name="最大功率轉移">
            <a:extLst xmlns:a="http://schemas.openxmlformats.org/drawingml/2006/main">
              <a:ext uri="{FF2B5EF4-FFF2-40B4-BE49-F238E27FC236}">
                <a16:creationId xmlns:a16="http://schemas.microsoft.com/office/drawing/2014/main" id="{BDCF4C9F-0D3A-402A-8F70-18B5EB66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最大功率轉移</a:t>
            </a:r>
          </a:p>
        </p:txBody>
      </p:sp>
      <p:sp>
        <p:nvSpPr>
          <p:cNvPr id="24" name="E th = 20 V，R th = 5 Ω。">
            <a:extLst xmlns:a="http://schemas.openxmlformats.org/drawingml/2006/main">
              <a:ext uri="{FF2B5EF4-FFF2-40B4-BE49-F238E27FC236}">
                <a16:creationId xmlns:a16="http://schemas.microsoft.com/office/drawing/2014/main" id="{F5F6D8B6-E8DD-4A89-94E6-5C3272AF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E th = 20 V，R th = 5 Ω。</a:t>
            </a:r>
          </a:p>
        </p:txBody>
      </p:sp>
      <p:sp>
        <p:nvSpPr>
          <p:cNvPr id="25" name="I L = 18 ÷ (6 + 3) = 2 A">
            <a:extLst xmlns:a="http://schemas.openxmlformats.org/drawingml/2006/main">
              <a:ext uri="{FF2B5EF4-FFF2-40B4-BE49-F238E27FC236}">
                <a16:creationId xmlns:a16="http://schemas.microsoft.com/office/drawing/2014/main" id="{2DF94E62-24F5-447F-9604-F73DE6A0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I L = 18 ÷ (6 + 3) = 2 A</a:t>
            </a:r>
          </a:p>
        </p:txBody>
      </p:sp>
      <p:sp>
        <p:nvSpPr>
          <p:cNvPr id="26" name="R L = 5 Ω    P max = 20 W">
            <a:extLst xmlns:a="http://schemas.openxmlformats.org/drawingml/2006/main">
              <a:ext uri="{FF2B5EF4-FFF2-40B4-BE49-F238E27FC236}">
                <a16:creationId xmlns:a16="http://schemas.microsoft.com/office/drawing/2014/main" id="{A0DA8B7C-8FEE-4981-9B43-86124748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8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R L = 5 Ω    P max = 20 W</a:t>
            </a:r>
          </a:p>
        </p:txBody>
      </p:sp>
      <p:sp>
        <p:nvSpPr>
          <p:cNvPr id="27" name="求等效電阻時，獨立電壓源設為 0 V。">
            <a:extLst xmlns:a="http://schemas.openxmlformats.org/drawingml/2006/main">
              <a:ext uri="{FF2B5EF4-FFF2-40B4-BE49-F238E27FC236}">
                <a16:creationId xmlns:a16="http://schemas.microsoft.com/office/drawing/2014/main" id="{83051051-35EF-4A98-8D20-783FC24B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516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求等效電阻時，獨立電壓源設為 0 V。</a:t>
            </a:r>
          </a:p>
        </p:txBody>
      </p:sp>
    </p:spTree>
    <p:extLst>
      <p:ext uri="{BB962C8B-B14F-4D97-AF65-F5344CB8AC3E}">
        <p14:creationId xmlns:p14="http://schemas.microsoft.com/office/powerpoint/2010/main" val="17893682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3A6786-F107-46F4-988C-6D42D86A3D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f7320b4674ac9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0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53A4A55D-289A-41A6-97CC-C2FCC548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14675"/>
            <a:ext cx="527685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90F7C468-F953-4116-AA80-6631D6E4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527685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7B1A83-D639-44D0-B418-59001EDA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5DE23CB-237F-40DC-A626-0FC9F70F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B6893AA-7152-4B3E-A3D6-08C05885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8F4BA6-CAF2-441A-AFFD-1DBE43C4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2AE6059-34EA-4B03-96D1-8BEFE69F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40BC8D-88C3-4D3C-80A3-C84C6E28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85B3717-E9B6-4BE6-A6A9-EE6E2C99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FB661E5-3548-4F0F-8A58-ED574F43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4CCADE0-A588-495C-BBB7-8B30B65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50" b="1">
                <a:solidFill>
                  <a:srgbClr val="4A2574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FC890E0E-6B31-413F-8534-6C24342F8C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b957c7c0b42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171825"/>
            <a:ext cx="5162550" cy="2676525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430DDD8-28E4-401E-92AE-47B22878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4A2574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2357E96-BA17-4A3F-AA00-0A1F8CFA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11D3025-4E92-40A4-839D-F107F04B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6B86048E-CAD3-4969-B328-50B0AC6C6C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261abc94049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3171825"/>
            <a:ext cx="5162550" cy="2676525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D38B779-A40F-4DD0-A7C5-778C8B23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09007B5A-21AF-465F-8D5A-2B4C6359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03  提示詞與電學實作</a:t>
            </a:r>
          </a:p>
        </p:txBody>
      </p:sp>
      <p:sp>
        <p:nvSpPr>
          <p:cNvPr id="18" name="BJT 共射極與小訊號等效模型">
            <a:extLst xmlns:a="http://schemas.openxmlformats.org/drawingml/2006/main">
              <a:ext uri="{FF2B5EF4-FFF2-40B4-BE49-F238E27FC236}">
                <a16:creationId xmlns:a16="http://schemas.microsoft.com/office/drawing/2014/main" id="{2BA54D29-27B9-46F1-9F89-C42BD150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BJT 共射極與小訊號等效模型</a:t>
            </a:r>
          </a:p>
        </p:txBody>
      </p:sp>
      <p:sp>
        <p:nvSpPr>
          <p:cNvPr id="1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37CAD2BD-723B-4BD5-9B8D-F19E4A28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0" name="13 / 28">
            <a:extLst xmlns:a="http://schemas.openxmlformats.org/drawingml/2006/main">
              <a:ext uri="{FF2B5EF4-FFF2-40B4-BE49-F238E27FC236}">
                <a16:creationId xmlns:a16="http://schemas.microsoft.com/office/drawing/2014/main" id="{425C1617-5998-47A4-8A3C-77F965FC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13 / 28</a:t>
            </a:r>
          </a:p>
        </p:txBody>
      </p:sp>
      <p:sp>
        <p:nvSpPr>
          <p:cNvPr id="21" name="直流工作點與參數">
            <a:extLst xmlns:a="http://schemas.openxmlformats.org/drawingml/2006/main">
              <a:ext uri="{FF2B5EF4-FFF2-40B4-BE49-F238E27FC236}">
                <a16:creationId xmlns:a16="http://schemas.microsoft.com/office/drawing/2014/main" id="{D220DA56-9D0B-45FA-866D-5FF1BF84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8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直流工作點與參數</a:t>
            </a:r>
          </a:p>
        </p:txBody>
      </p:sp>
      <p:sp>
        <p:nvSpPr>
          <p:cNvPr id="22" name="VCC = 12 V，RB = 565 kΩ，RC = RL = 3 k">
            <a:extLst xmlns:a="http://schemas.openxmlformats.org/drawingml/2006/main">
              <a:ext uri="{FF2B5EF4-FFF2-40B4-BE49-F238E27FC236}">
                <a16:creationId xmlns:a16="http://schemas.microsoft.com/office/drawing/2014/main" id="{90333627-2013-4050-9A87-2A22632D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VCC = 12 V，RB = 565 kΩ，RC = RL = 3 kΩ。</a:t>
            </a:r>
          </a:p>
        </p:txBody>
      </p:sp>
      <p:sp>
        <p:nvSpPr>
          <p:cNvPr id="23" name="β = 100，VT = 26 mV。">
            <a:extLst xmlns:a="http://schemas.openxmlformats.org/drawingml/2006/main">
              <a:ext uri="{FF2B5EF4-FFF2-40B4-BE49-F238E27FC236}">
                <a16:creationId xmlns:a16="http://schemas.microsoft.com/office/drawing/2014/main" id="{783BA363-0746-4DF1-9474-8278242E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461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β = 100，VT = 26 mV。</a:t>
            </a:r>
          </a:p>
        </p:txBody>
      </p:sp>
      <p:sp>
        <p:nvSpPr>
          <p:cNvPr id="24" name="交流 rπ 等效模型">
            <a:extLst xmlns:a="http://schemas.openxmlformats.org/drawingml/2006/main">
              <a:ext uri="{FF2B5EF4-FFF2-40B4-BE49-F238E27FC236}">
                <a16:creationId xmlns:a16="http://schemas.microsoft.com/office/drawing/2014/main" id="{D7D5C85F-9125-4F81-9FD4-2353C1F2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8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交流 rπ 等效模型</a:t>
            </a:r>
          </a:p>
        </p:txBody>
      </p:sp>
      <p:sp>
        <p:nvSpPr>
          <p:cNvPr id="25" name="VCC 為交流接地，耦合電容視為交流短路。">
            <a:extLst xmlns:a="http://schemas.openxmlformats.org/drawingml/2006/main">
              <a:ext uri="{FF2B5EF4-FFF2-40B4-BE49-F238E27FC236}">
                <a16:creationId xmlns:a16="http://schemas.microsoft.com/office/drawing/2014/main" id="{299E81B5-4B47-4DF5-86DF-C6739CC5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VCC 為交流接地，耦合電容視為交流短路。</a:t>
            </a:r>
          </a:p>
        </p:txBody>
      </p:sp>
      <p:sp>
        <p:nvSpPr>
          <p:cNvPr id="26" name="射極 E 直接接地。">
            <a:extLst xmlns:a="http://schemas.openxmlformats.org/drawingml/2006/main">
              <a:ext uri="{FF2B5EF4-FFF2-40B4-BE49-F238E27FC236}">
                <a16:creationId xmlns:a16="http://schemas.microsoft.com/office/drawing/2014/main" id="{A678F0B0-433D-448A-8D13-38496360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3461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射極 E 直接接地。</a:t>
            </a:r>
          </a:p>
        </p:txBody>
      </p:sp>
      <p:sp>
        <p:nvSpPr>
          <p:cNvPr id="27" name="IB = 20 µA   IC = 2 mA   rπ = 1.3 kΩ">
            <a:extLst xmlns:a="http://schemas.openxmlformats.org/drawingml/2006/main">
              <a:ext uri="{FF2B5EF4-FFF2-40B4-BE49-F238E27FC236}">
                <a16:creationId xmlns:a16="http://schemas.microsoft.com/office/drawing/2014/main" id="{7E631676-974D-4579-8F01-C9F42B11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5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IB = 20 µA   IC = 2 mA   rπ = 1.3 kΩ</a:t>
            </a:r>
          </a:p>
        </p:txBody>
      </p:sp>
      <p:sp>
        <p:nvSpPr>
          <p:cNvPr id="28" name="gm ≈ 76.92 mA/V    Av ≈ −115.4 V/V">
            <a:extLst xmlns:a="http://schemas.openxmlformats.org/drawingml/2006/main">
              <a:ext uri="{FF2B5EF4-FFF2-40B4-BE49-F238E27FC236}">
                <a16:creationId xmlns:a16="http://schemas.microsoft.com/office/drawing/2014/main" id="{69908202-4BD4-4BAC-B07B-E9ABEEF5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53125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5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gm ≈ 76.92 mA/V    Av ≈ −115.4 V/V</a:t>
            </a:r>
          </a:p>
        </p:txBody>
      </p:sp>
    </p:spTree>
    <p:extLst>
      <p:ext uri="{BB962C8B-B14F-4D97-AF65-F5344CB8AC3E}">
        <p14:creationId xmlns:p14="http://schemas.microsoft.com/office/powerpoint/2010/main" val="19609322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A8944D-EBB2-4D1C-B3E0-4C68B2CE69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632be3d924673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B62DB50-946E-4B15-9012-D9F6DECF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A63629-DF15-4575-80E4-FBA631EF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18084F-155B-427B-9502-BD7FC84C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B855355-68F5-4EBD-891B-5154A802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8152197-CEB4-4BAF-89BA-61D08918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423E912-08E7-4632-91C7-E98597B0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D3D2C3B-B0E0-476D-A862-15DB6439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780D983-367E-4DB5-BADE-EE79F0C5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A9A050-F769-4DDD-9B53-410437BB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D86BEBE-DC3C-4B9C-8CD0-DE94E4E4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2C97962-C86A-47A1-AC7E-9B95F8CC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7D5A614-6639-4B74-A106-34BBD09F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0CF9305-EEDB-4997-92CC-BED0EAE5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B6ACB18-7965-4E47-9F25-EE72DAF5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5FCEB77-2522-4978-9A65-091D433C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8EA89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DDDC7CF5-C38A-42CB-9320-4A851621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03  提示詞與電學實作</a:t>
            </a:r>
          </a:p>
        </p:txBody>
      </p:sp>
      <p:sp>
        <p:nvSpPr>
          <p:cNvPr id="18" name="CRIS 提示詞架構">
            <a:extLst xmlns:a="http://schemas.openxmlformats.org/drawingml/2006/main">
              <a:ext uri="{FF2B5EF4-FFF2-40B4-BE49-F238E27FC236}">
                <a16:creationId xmlns:a16="http://schemas.microsoft.com/office/drawing/2014/main" id="{178B5F9A-93BD-4D94-A9F2-441D4FA8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CRIS 提示詞架構</a:t>
            </a:r>
          </a:p>
        </p:txBody>
      </p:sp>
      <p:sp>
        <p:nvSpPr>
          <p:cNvPr id="1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BB8EFB44-2D58-4D98-BF5B-3EF9EB90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0" name="14 / 28">
            <a:extLst xmlns:a="http://schemas.openxmlformats.org/drawingml/2006/main">
              <a:ext uri="{FF2B5EF4-FFF2-40B4-BE49-F238E27FC236}">
                <a16:creationId xmlns:a16="http://schemas.microsoft.com/office/drawing/2014/main" id="{1CF0C157-B3A6-45EE-8A32-6362091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14 / 28</a:t>
            </a:r>
          </a:p>
        </p:txBody>
      </p:sp>
      <p:sp>
        <p:nvSpPr>
          <p:cNvPr id="21" name="C">
            <a:extLst xmlns:a="http://schemas.openxmlformats.org/drawingml/2006/main">
              <a:ext uri="{FF2B5EF4-FFF2-40B4-BE49-F238E27FC236}">
                <a16:creationId xmlns:a16="http://schemas.microsoft.com/office/drawing/2014/main" id="{B0052320-8971-4D08-B7CB-11707FE7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9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C</a:t>
            </a:r>
          </a:p>
        </p:txBody>
      </p:sp>
      <p:sp>
        <p:nvSpPr>
          <p:cNvPr id="22" name="背景與角色">
            <a:extLst xmlns:a="http://schemas.openxmlformats.org/drawingml/2006/main">
              <a:ext uri="{FF2B5EF4-FFF2-40B4-BE49-F238E27FC236}">
                <a16:creationId xmlns:a16="http://schemas.microsoft.com/office/drawing/2014/main" id="{E15BC33C-C5DA-43F5-A0C7-795E92C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743075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背景與角色</a:t>
            </a:r>
          </a:p>
        </p:txBody>
      </p:sp>
      <p:sp>
        <p:nvSpPr>
          <p:cNvPr id="23" name="交代授課對象、年級、程度與學習情境。">
            <a:extLst xmlns:a="http://schemas.openxmlformats.org/drawingml/2006/main">
              <a:ext uri="{FF2B5EF4-FFF2-40B4-BE49-F238E27FC236}">
                <a16:creationId xmlns:a16="http://schemas.microsoft.com/office/drawing/2014/main" id="{4577AD35-91BD-435F-81E1-99D36593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279904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交代授課對象、年級、程度與學習情境。</a:t>
            </a:r>
          </a:p>
        </p:txBody>
      </p:sp>
      <p:sp>
        <p:nvSpPr>
          <p:cNvPr id="24" name="例：你是面對高二電子科學生的電子學教&#10;師。">
            <a:extLst xmlns:a="http://schemas.openxmlformats.org/drawingml/2006/main">
              <a:ext uri="{FF2B5EF4-FFF2-40B4-BE49-F238E27FC236}">
                <a16:creationId xmlns:a16="http://schemas.microsoft.com/office/drawing/2014/main" id="{DE9458D0-8D6E-49E4-8E12-B8482C71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721864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例：你是面對高二電子科學生的電子學教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師。</a:t>
            </a:r>
          </a:p>
        </p:txBody>
      </p:sp>
      <p:sp>
        <p:nvSpPr>
          <p:cNvPr id="25" name="R">
            <a:extLst xmlns:a="http://schemas.openxmlformats.org/drawingml/2006/main">
              <a:ext uri="{FF2B5EF4-FFF2-40B4-BE49-F238E27FC236}">
                <a16:creationId xmlns:a16="http://schemas.microsoft.com/office/drawing/2014/main" id="{28968C12-5C87-472E-8A56-5DE78DB0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9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R</a:t>
            </a:r>
          </a:p>
        </p:txBody>
      </p:sp>
      <p:sp>
        <p:nvSpPr>
          <p:cNvPr id="26" name="明確任務">
            <a:extLst xmlns:a="http://schemas.openxmlformats.org/drawingml/2006/main">
              <a:ext uri="{FF2B5EF4-FFF2-40B4-BE49-F238E27FC236}">
                <a16:creationId xmlns:a16="http://schemas.microsoft.com/office/drawing/2014/main" id="{8EFB313D-857A-4A80-8008-EBCEC333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743075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明確任務</a:t>
            </a:r>
          </a:p>
        </p:txBody>
      </p:sp>
      <p:sp>
        <p:nvSpPr>
          <p:cNvPr id="27" name="說明要完成的工作與學習目標。">
            <a:extLst xmlns:a="http://schemas.openxmlformats.org/drawingml/2006/main">
              <a:ext uri="{FF2B5EF4-FFF2-40B4-BE49-F238E27FC236}">
                <a16:creationId xmlns:a16="http://schemas.microsoft.com/office/drawing/2014/main" id="{0473E41A-629A-41C9-A578-C0B5F878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79904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說明要完成的工作與學習目標。</a:t>
            </a:r>
          </a:p>
        </p:txBody>
      </p:sp>
      <p:sp>
        <p:nvSpPr>
          <p:cNvPr id="28" name="例：設計 BJT 共射極小訊號模型教材與互&#10;動網頁。">
            <a:extLst xmlns:a="http://schemas.openxmlformats.org/drawingml/2006/main">
              <a:ext uri="{FF2B5EF4-FFF2-40B4-BE49-F238E27FC236}">
                <a16:creationId xmlns:a16="http://schemas.microsoft.com/office/drawing/2014/main" id="{7C002E73-40A1-410F-A69C-31307AB8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21864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例：設計 BJT 共射極小訊號模型教材與互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動網頁。</a:t>
            </a:r>
          </a:p>
        </p:txBody>
      </p:sp>
      <p:sp>
        <p:nvSpPr>
          <p:cNvPr id="29" name="I">
            <a:extLst xmlns:a="http://schemas.openxmlformats.org/drawingml/2006/main">
              <a:ext uri="{FF2B5EF4-FFF2-40B4-BE49-F238E27FC236}">
                <a16:creationId xmlns:a16="http://schemas.microsoft.com/office/drawing/2014/main" id="{1358BA86-D889-415E-AA3F-8473CF77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9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I</a:t>
            </a:r>
          </a:p>
        </p:txBody>
      </p:sp>
      <p:sp>
        <p:nvSpPr>
          <p:cNvPr id="30" name="條件與限制">
            <a:extLst xmlns:a="http://schemas.openxmlformats.org/drawingml/2006/main">
              <a:ext uri="{FF2B5EF4-FFF2-40B4-BE49-F238E27FC236}">
                <a16:creationId xmlns:a16="http://schemas.microsoft.com/office/drawing/2014/main" id="{67713ABB-FEA1-4F5F-A962-2C25F55B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38600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條件與限制</a:t>
            </a:r>
          </a:p>
        </p:txBody>
      </p:sp>
      <p:sp>
        <p:nvSpPr>
          <p:cNvPr id="31" name="指定難度、方法、品質與驗證要求。">
            <a:extLst xmlns:a="http://schemas.openxmlformats.org/drawingml/2006/main">
              <a:ext uri="{FF2B5EF4-FFF2-40B4-BE49-F238E27FC236}">
                <a16:creationId xmlns:a16="http://schemas.microsoft.com/office/drawing/2014/main" id="{FDE3E4E6-E985-43EC-A0CE-11FFB918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575429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指定難度、方法、品質與驗證要求。</a:t>
            </a:r>
          </a:p>
        </p:txBody>
      </p:sp>
      <p:sp>
        <p:nvSpPr>
          <p:cNvPr id="32" name="例：300 DPI 電路圖、KaTeX 公式、180°&#10;反相觀念。">
            <a:extLst xmlns:a="http://schemas.openxmlformats.org/drawingml/2006/main">
              <a:ext uri="{FF2B5EF4-FFF2-40B4-BE49-F238E27FC236}">
                <a16:creationId xmlns:a16="http://schemas.microsoft.com/office/drawing/2014/main" id="{4758EDB6-AECE-4FEE-BF8C-27C30A6B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017389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例：300 DPI 電路圖、KaTeX 公式、180°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反相觀念。</a:t>
            </a:r>
          </a:p>
        </p:txBody>
      </p:sp>
      <p:sp>
        <p:nvSpPr>
          <p:cNvPr id="33" name="S">
            <a:extLst xmlns:a="http://schemas.openxmlformats.org/drawingml/2006/main">
              <a:ext uri="{FF2B5EF4-FFF2-40B4-BE49-F238E27FC236}">
                <a16:creationId xmlns:a16="http://schemas.microsoft.com/office/drawing/2014/main" id="{311FF661-8F88-4A57-97BC-9A501ED8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0025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9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S</a:t>
            </a:r>
          </a:p>
        </p:txBody>
      </p:sp>
      <p:sp>
        <p:nvSpPr>
          <p:cNvPr id="34" name="風格與格式">
            <a:extLst xmlns:a="http://schemas.openxmlformats.org/drawingml/2006/main">
              <a:ext uri="{FF2B5EF4-FFF2-40B4-BE49-F238E27FC236}">
                <a16:creationId xmlns:a16="http://schemas.microsoft.com/office/drawing/2014/main" id="{557B6DA2-7BE5-40C9-9879-75FBA4BA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38600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風格與格式</a:t>
            </a:r>
          </a:p>
        </p:txBody>
      </p:sp>
      <p:sp>
        <p:nvSpPr>
          <p:cNvPr id="35" name="定義交付檔案、版面與呈現方式。">
            <a:extLst xmlns:a="http://schemas.openxmlformats.org/drawingml/2006/main">
              <a:ext uri="{FF2B5EF4-FFF2-40B4-BE49-F238E27FC236}">
                <a16:creationId xmlns:a16="http://schemas.microsoft.com/office/drawing/2014/main" id="{5E353C56-FFFE-4E6D-99C1-1A53C72C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575429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定義交付檔案、版面與呈現方式。</a:t>
            </a:r>
          </a:p>
        </p:txBody>
      </p:sp>
      <p:sp>
        <p:nvSpPr>
          <p:cNvPr id="36" name="例：單一 HTML，含參數計算機與 4 題測&#10;驗。">
            <a:extLst xmlns:a="http://schemas.openxmlformats.org/drawingml/2006/main">
              <a:ext uri="{FF2B5EF4-FFF2-40B4-BE49-F238E27FC236}">
                <a16:creationId xmlns:a16="http://schemas.microsoft.com/office/drawing/2014/main" id="{85A05DF6-6E6F-43B6-917D-0F22F59C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17389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例：單一 HTML，含參數計算機與 4 題測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驗。</a:t>
            </a:r>
          </a:p>
        </p:txBody>
      </p:sp>
    </p:spTree>
    <p:extLst>
      <p:ext uri="{BB962C8B-B14F-4D97-AF65-F5344CB8AC3E}">
        <p14:creationId xmlns:p14="http://schemas.microsoft.com/office/powerpoint/2010/main" val="16299814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3BC6A0-9140-4CBA-961B-3673E2B0F4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598621e1b441d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66C7CC1-2384-4D73-B3B4-8D5F50DF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3C04DC-C046-4F01-9916-88759E07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BF875CB-9ED7-44D0-9F51-5EB590AE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8BC040-5DC3-4501-898F-2417F4A1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B33239C-804A-45A5-9811-FD55F300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FDB757B-4787-45E3-B7D5-29FAFDA9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56E7AE0-2364-41FF-84AB-4176B8CC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7769632-F31C-4DD6-BEA9-A4CA2D5E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CA3B4-73EC-4141-AAC1-7D9C389D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B4D8516-DD41-4A16-A165-7E9904CC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FED281C-84A4-4673-89A9-61E5F858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9F9D882-2059-4E21-9028-64246FB5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34F584E-8098-475D-891D-D10512D8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510B979-C49F-4B5E-ADBD-13CAFB85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2E166859-8306-46B0-B333-73A27A7D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80C010-84E5-49AA-9E13-253B3702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12941927-BBFF-413D-A38D-822FC873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03  提示詞與電學實作</a:t>
            </a:r>
          </a:p>
        </p:txBody>
      </p:sp>
      <p:sp>
        <p:nvSpPr>
          <p:cNvPr id="19" name="多步驟任務的連續動作鏈">
            <a:extLst xmlns:a="http://schemas.openxmlformats.org/drawingml/2006/main">
              <a:ext uri="{FF2B5EF4-FFF2-40B4-BE49-F238E27FC236}">
                <a16:creationId xmlns:a16="http://schemas.microsoft.com/office/drawing/2014/main" id="{5971F493-8BFC-4114-9B82-2D5E79A7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多步驟任務的連續動作鏈</a:t>
            </a:r>
          </a:p>
        </p:txBody>
      </p:sp>
      <p:sp>
        <p:nvSpPr>
          <p:cNvPr id="20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9484AA3A-30C2-4A76-8461-6A910156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1" name="15 / 28">
            <a:extLst xmlns:a="http://schemas.openxmlformats.org/drawingml/2006/main">
              <a:ext uri="{FF2B5EF4-FFF2-40B4-BE49-F238E27FC236}">
                <a16:creationId xmlns:a16="http://schemas.microsoft.com/office/drawing/2014/main" id="{CC7E1397-AFED-4380-A205-97284DA7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15 / 28</a:t>
            </a:r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7FDD1EDC-CD45-433F-992E-35A44E35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6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01</a:t>
            </a:r>
          </a:p>
        </p:txBody>
      </p:sp>
      <p:sp>
        <p:nvSpPr>
          <p:cNvPr id="23" name="讀取與繪圖">
            <a:extLst xmlns:a="http://schemas.openxmlformats.org/drawingml/2006/main">
              <a:ext uri="{FF2B5EF4-FFF2-40B4-BE49-F238E27FC236}">
                <a16:creationId xmlns:a16="http://schemas.microsoft.com/office/drawing/2014/main" id="{D94DDCAF-3BD2-4EDA-BCCB-BE93CDD8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62125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讀取與繪圖</a:t>
            </a:r>
          </a:p>
        </p:txBody>
      </p:sp>
      <p:sp>
        <p:nvSpPr>
          <p:cNvPr id="24" name="繪製 BJT 共射極電路與 rπ 等效圖，儲存至 circuits/。">
            <a:extLst xmlns:a="http://schemas.openxmlformats.org/drawingml/2006/main">
              <a:ext uri="{FF2B5EF4-FFF2-40B4-BE49-F238E27FC236}">
                <a16:creationId xmlns:a16="http://schemas.microsoft.com/office/drawing/2014/main" id="{5DA9E857-65B9-4C11-A531-7D2B3E33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繪製 BJT 共射極電路與 rπ 等效圖，儲存至 circuits/。</a:t>
            </a:r>
          </a:p>
        </p:txBody>
      </p:sp>
      <p:sp>
        <p:nvSpPr>
          <p:cNvPr id="25" name="02">
            <a:extLst xmlns:a="http://schemas.openxmlformats.org/drawingml/2006/main">
              <a:ext uri="{FF2B5EF4-FFF2-40B4-BE49-F238E27FC236}">
                <a16:creationId xmlns:a16="http://schemas.microsoft.com/office/drawing/2014/main" id="{4EE7F412-E148-4257-BE1D-B4ADD6D3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6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02</a:t>
            </a:r>
          </a:p>
        </p:txBody>
      </p:sp>
      <p:sp>
        <p:nvSpPr>
          <p:cNvPr id="26" name="計算與建檔">
            <a:extLst xmlns:a="http://schemas.openxmlformats.org/drawingml/2006/main">
              <a:ext uri="{FF2B5EF4-FFF2-40B4-BE49-F238E27FC236}">
                <a16:creationId xmlns:a16="http://schemas.microsoft.com/office/drawing/2014/main" id="{9E88DD9C-55AA-4ABD-817D-F5C432F6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計算與建檔</a:t>
            </a:r>
          </a:p>
        </p:txBody>
      </p:sp>
      <p:sp>
        <p:nvSpPr>
          <p:cNvPr id="27" name="建立 electronics_bjt.html，嵌入圖解、公式、增益計算">
            <a:extLst xmlns:a="http://schemas.openxmlformats.org/drawingml/2006/main">
              <a:ext uri="{FF2B5EF4-FFF2-40B4-BE49-F238E27FC236}">
                <a16:creationId xmlns:a16="http://schemas.microsoft.com/office/drawing/2014/main" id="{8A413C0D-EB17-4521-ADB4-9C8CDB24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81425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建立 electronics_bjt.html，嵌入圖解、公式、增益計算與反相波形。</a:t>
            </a:r>
          </a:p>
        </p:txBody>
      </p:sp>
      <p:sp>
        <p:nvSpPr>
          <p:cNvPr id="28" name="03">
            <a:extLst xmlns:a="http://schemas.openxmlformats.org/drawingml/2006/main">
              <a:ext uri="{FF2B5EF4-FFF2-40B4-BE49-F238E27FC236}">
                <a16:creationId xmlns:a16="http://schemas.microsoft.com/office/drawing/2014/main" id="{8F6830AD-E05E-4DCA-A45B-463B0DCD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36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03</a:t>
            </a:r>
          </a:p>
        </p:txBody>
      </p:sp>
      <p:sp>
        <p:nvSpPr>
          <p:cNvPr id="29" name="檢查與發布">
            <a:extLst xmlns:a="http://schemas.openxmlformats.org/drawingml/2006/main">
              <a:ext uri="{FF2B5EF4-FFF2-40B4-BE49-F238E27FC236}">
                <a16:creationId xmlns:a16="http://schemas.microsoft.com/office/drawing/2014/main" id="{F5759712-D895-4CD0-9A07-433D9A26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檢查與發布</a:t>
            </a:r>
          </a:p>
        </p:txBody>
      </p:sp>
      <p:sp>
        <p:nvSpPr>
          <p:cNvPr id="30" name="確認公式與圖片路徑，再提交版本並推播 GitHub Pages。">
            <a:extLst xmlns:a="http://schemas.openxmlformats.org/drawingml/2006/main">
              <a:ext uri="{FF2B5EF4-FFF2-40B4-BE49-F238E27FC236}">
                <a16:creationId xmlns:a16="http://schemas.microsoft.com/office/drawing/2014/main" id="{AB05A049-ED6F-49C8-865D-1D943737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38750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確認公式與圖片路徑，再提交版本並推播 GitHub Pages。</a:t>
            </a:r>
          </a:p>
        </p:txBody>
      </p:sp>
    </p:spTree>
    <p:extLst>
      <p:ext uri="{BB962C8B-B14F-4D97-AF65-F5344CB8AC3E}">
        <p14:creationId xmlns:p14="http://schemas.microsoft.com/office/powerpoint/2010/main" val="11984774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165743-EF6A-40D0-A0E5-20D5F4421F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a7d82f5284ab1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188F456-1F41-41B0-A118-D4F75480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299353-FE2F-42E1-BF00-828683C3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B6A5BC7-DBEB-4AF2-93DB-C4171D0C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410CD3B-1BDE-4EDB-BF59-EA488FB6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B74456-EEDC-4D4B-9BCC-A62362A0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AC8991-DBB6-4637-AE19-6DACCA3F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7657F01-F0E1-42A5-9D28-81CA0A02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AA60878-F037-46B3-99AC-192EFCCA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400ADBC-A88E-47D8-B823-6945F6DA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6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525F9B7-DAF9-40CA-8FC3-B3B54085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F0A075A-68DF-428F-B566-EB3237B5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55D568E-94D1-492E-9C35-128DB491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110BAC-E2A8-4122-BD86-86FBBCB3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3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10962C73-34D2-4DB1-BBF5-A6C36C99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03  提示詞與電學實作</a:t>
            </a:r>
          </a:p>
        </p:txBody>
      </p:sp>
      <p:sp>
        <p:nvSpPr>
          <p:cNvPr id="16" name="MCP 瀏覽器協作與人機接力">
            <a:extLst xmlns:a="http://schemas.openxmlformats.org/drawingml/2006/main">
              <a:ext uri="{FF2B5EF4-FFF2-40B4-BE49-F238E27FC236}">
                <a16:creationId xmlns:a16="http://schemas.microsoft.com/office/drawing/2014/main" id="{1A375BB4-DE89-4DB1-A816-3BCCD1CC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MCP 瀏覽器協作與人機接力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73A845C1-09BE-4758-9356-268A0FEA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16 / 28">
            <a:extLst xmlns:a="http://schemas.openxmlformats.org/drawingml/2006/main">
              <a:ext uri="{FF2B5EF4-FFF2-40B4-BE49-F238E27FC236}">
                <a16:creationId xmlns:a16="http://schemas.microsoft.com/office/drawing/2014/main" id="{ABAE6CEA-33EC-452C-A253-983470E6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16 / 28</a:t>
            </a:r>
          </a:p>
        </p:txBody>
      </p:sp>
      <p:sp>
        <p:nvSpPr>
          <p:cNvPr id="19" name="老師先完成">
            <a:extLst xmlns:a="http://schemas.openxmlformats.org/drawingml/2006/main">
              <a:ext uri="{FF2B5EF4-FFF2-40B4-BE49-F238E27FC236}">
                <a16:creationId xmlns:a16="http://schemas.microsoft.com/office/drawing/2014/main" id="{21B5D654-2187-49CF-833E-B68084FB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老師先完成</a:t>
            </a:r>
          </a:p>
        </p:txBody>
      </p:sp>
      <p:sp>
        <p:nvSpPr>
          <p:cNvPr id="20" name="自行登入研習平台。">
            <a:extLst xmlns:a="http://schemas.openxmlformats.org/drawingml/2006/main">
              <a:ext uri="{FF2B5EF4-FFF2-40B4-BE49-F238E27FC236}">
                <a16:creationId xmlns:a16="http://schemas.microsoft.com/office/drawing/2014/main" id="{04D110F0-0B9C-4A27-AB00-E2043E8D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自行登入研習平台。</a:t>
            </a:r>
          </a:p>
        </p:txBody>
      </p:sp>
      <p:sp>
        <p:nvSpPr>
          <p:cNvPr id="21" name="選擇課程，進入第一單元並按播放。">
            <a:extLst xmlns:a="http://schemas.openxmlformats.org/drawingml/2006/main">
              <a:ext uri="{FF2B5EF4-FFF2-40B4-BE49-F238E27FC236}">
                <a16:creationId xmlns:a16="http://schemas.microsoft.com/office/drawing/2014/main" id="{BF75B2AD-2562-4F4C-AB6D-E0A04D5F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選擇課程，進入第一單元並按播放。</a:t>
            </a:r>
          </a:p>
        </p:txBody>
      </p:sp>
      <p:sp>
        <p:nvSpPr>
          <p:cNvPr id="22" name="確認瀏覽器連線與操作工具可用。">
            <a:extLst xmlns:a="http://schemas.openxmlformats.org/drawingml/2006/main">
              <a:ext uri="{FF2B5EF4-FFF2-40B4-BE49-F238E27FC236}">
                <a16:creationId xmlns:a16="http://schemas.microsoft.com/office/drawing/2014/main" id="{662B5D86-E18C-42AE-B8C3-42A8C207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確認瀏覽器連線與操作工具可用。</a:t>
            </a:r>
          </a:p>
        </p:txBody>
      </p:sp>
      <p:sp>
        <p:nvSpPr>
          <p:cNvPr id="23" name="說明需要協助的播放與單元切換操作。">
            <a:extLst xmlns:a="http://schemas.openxmlformats.org/drawingml/2006/main">
              <a:ext uri="{FF2B5EF4-FFF2-40B4-BE49-F238E27FC236}">
                <a16:creationId xmlns:a16="http://schemas.microsoft.com/office/drawing/2014/main" id="{C26EB362-C1CB-4F2C-8733-205DEC27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說明需要協助的播放與單元切換操作。</a:t>
            </a:r>
          </a:p>
        </p:txBody>
      </p:sp>
      <p:sp>
        <p:nvSpPr>
          <p:cNvPr id="24" name="播放協作提示詞">
            <a:extLst xmlns:a="http://schemas.openxmlformats.org/drawingml/2006/main">
              <a:ext uri="{FF2B5EF4-FFF2-40B4-BE49-F238E27FC236}">
                <a16:creationId xmlns:a16="http://schemas.microsoft.com/office/drawing/2014/main" id="{085D0D7A-DCB7-4A3F-A957-A7D91EA7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播放協作提示詞</a:t>
            </a:r>
          </a:p>
        </p:txBody>
      </p:sp>
      <p:sp>
        <p:nvSpPr>
          <p:cNvPr id="25" name="請連接我正在使用的研習課程分頁。">
            <a:extLst xmlns:a="http://schemas.openxmlformats.org/drawingml/2006/main">
              <a:ext uri="{FF2B5EF4-FFF2-40B4-BE49-F238E27FC236}">
                <a16:creationId xmlns:a16="http://schemas.microsoft.com/office/drawing/2014/main" id="{4CAB7100-047F-4ABD-9CEB-91E10B51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請連接我正在使用的研習課程分頁。</a:t>
            </a:r>
          </a:p>
        </p:txBody>
      </p:sp>
      <p:sp>
        <p:nvSpPr>
          <p:cNvPr id="26" name="我會在場觀看，請以 1.0 倍速播放。">
            <a:extLst xmlns:a="http://schemas.openxmlformats.org/drawingml/2006/main">
              <a:ext uri="{FF2B5EF4-FFF2-40B4-BE49-F238E27FC236}">
                <a16:creationId xmlns:a16="http://schemas.microsoft.com/office/drawing/2014/main" id="{DA40208E-2B4E-4164-831A-E1DB6369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我會在場觀看，請以 1.0 倍速播放。</a:t>
            </a:r>
          </a:p>
        </p:txBody>
      </p:sp>
      <p:sp>
        <p:nvSpPr>
          <p:cNvPr id="27" name="單元播畢時，協助點擊下一單元。">
            <a:extLst xmlns:a="http://schemas.openxmlformats.org/drawingml/2006/main">
              <a:ext uri="{FF2B5EF4-FFF2-40B4-BE49-F238E27FC236}">
                <a16:creationId xmlns:a16="http://schemas.microsoft.com/office/drawing/2014/main" id="{254B599C-5C32-4237-A641-4695F47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單元播畢時，協助點擊下一單元。</a:t>
            </a:r>
          </a:p>
        </p:txBody>
      </p:sp>
      <p:sp>
        <p:nvSpPr>
          <p:cNvPr id="28" name="遇到限制、警示或登入畫面，先告知我。">
            <a:extLst xmlns:a="http://schemas.openxmlformats.org/drawingml/2006/main">
              <a:ext uri="{FF2B5EF4-FFF2-40B4-BE49-F238E27FC236}">
                <a16:creationId xmlns:a16="http://schemas.microsoft.com/office/drawing/2014/main" id="{388F1E30-BFA5-4064-862C-6E8BA112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遇到限制、警示或登入畫面，先告知我。</a:t>
            </a:r>
          </a:p>
        </p:txBody>
      </p:sp>
      <p:sp>
        <p:nvSpPr>
          <p:cNvPr id="29" name="每完成一個章節，回報實際進度。">
            <a:extLst xmlns:a="http://schemas.openxmlformats.org/drawingml/2006/main">
              <a:ext uri="{FF2B5EF4-FFF2-40B4-BE49-F238E27FC236}">
                <a16:creationId xmlns:a16="http://schemas.microsoft.com/office/drawing/2014/main" id="{A85FE0E3-C4C1-4047-BEBA-4E211F18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3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每完成一個章節，回報實際進度。</a:t>
            </a:r>
          </a:p>
        </p:txBody>
      </p:sp>
    </p:spTree>
    <p:extLst>
      <p:ext uri="{BB962C8B-B14F-4D97-AF65-F5344CB8AC3E}">
        <p14:creationId xmlns:p14="http://schemas.microsoft.com/office/powerpoint/2010/main" val="46620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FF75CF-40B0-4267-992C-95F9DC4044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67b3f4a4f4a81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FA1E922-C01D-49C8-9220-9EA2AED2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20E564-E90D-4EAD-853A-CC9111C8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FB72F9B-197A-4278-A7F7-6CDAE12E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335FD6E-2D18-41DE-BF1C-7ECE032E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CD25C35-0B12-49B1-9AEB-A0C5302D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BE35D6B-96C7-4C49-B42A-7113F186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E0A9F2-FA7D-43BC-8820-8DA01D4F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3A47F68-0178-4CA8-9207-AFFC2135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7B38C2E-FC47-41DB-90B9-68E4982C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8C300CD-BEAC-4117-AE69-EBD7272B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55B497D-A9D1-4B89-8A8A-3A89D601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E5BCC4A-F030-40C2-8869-83DBE56E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CA677DC-9584-4746-AB31-88A1A6C5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4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AF39F733-A37D-47FF-A123-331AFC78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03  提示詞與電學實作</a:t>
            </a:r>
          </a:p>
        </p:txBody>
      </p:sp>
      <p:sp>
        <p:nvSpPr>
          <p:cNvPr id="16" name="研習伴讀提示詞與操作排錯">
            <a:extLst xmlns:a="http://schemas.openxmlformats.org/drawingml/2006/main">
              <a:ext uri="{FF2B5EF4-FFF2-40B4-BE49-F238E27FC236}">
                <a16:creationId xmlns:a16="http://schemas.microsoft.com/office/drawing/2014/main" id="{59AC506D-0252-4D5D-8E53-37022FCD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研習伴讀提示詞與操作排錯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41D62214-92C0-49D8-800F-24EFA5C1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17 / 28">
            <a:extLst xmlns:a="http://schemas.openxmlformats.org/drawingml/2006/main">
              <a:ext uri="{FF2B5EF4-FFF2-40B4-BE49-F238E27FC236}">
                <a16:creationId xmlns:a16="http://schemas.microsoft.com/office/drawing/2014/main" id="{B709F5A9-1990-4FBC-8795-E24B37C6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17 / 28</a:t>
            </a:r>
          </a:p>
        </p:txBody>
      </p:sp>
      <p:sp>
        <p:nvSpPr>
          <p:cNvPr id="19" name="伴讀工作規格">
            <a:extLst xmlns:a="http://schemas.openxmlformats.org/drawingml/2006/main">
              <a:ext uri="{FF2B5EF4-FFF2-40B4-BE49-F238E27FC236}">
                <a16:creationId xmlns:a16="http://schemas.microsoft.com/office/drawing/2014/main" id="{3AFE4843-922F-4171-94D1-FFDED2FF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伴讀工作規格</a:t>
            </a:r>
          </a:p>
        </p:txBody>
      </p:sp>
      <p:sp>
        <p:nvSpPr>
          <p:cNvPr id="20" name="角色：數位研習操作助理。">
            <a:extLst xmlns:a="http://schemas.openxmlformats.org/drawingml/2006/main">
              <a:ext uri="{FF2B5EF4-FFF2-40B4-BE49-F238E27FC236}">
                <a16:creationId xmlns:a16="http://schemas.microsoft.com/office/drawing/2014/main" id="{4CB71733-FFF7-4B1A-A13B-A03F74A2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角色：數位研習操作助理。</a:t>
            </a:r>
          </a:p>
        </p:txBody>
      </p:sp>
      <p:sp>
        <p:nvSpPr>
          <p:cNvPr id="21" name="情境：學員已登入，並在場觀看。">
            <a:extLst xmlns:a="http://schemas.openxmlformats.org/drawingml/2006/main">
              <a:ext uri="{FF2B5EF4-FFF2-40B4-BE49-F238E27FC236}">
                <a16:creationId xmlns:a16="http://schemas.microsoft.com/office/drawing/2014/main" id="{66C09AFB-4022-4836-A6A7-C25D6931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情境：學員已登入，並在場觀看。</a:t>
            </a:r>
          </a:p>
        </p:txBody>
      </p:sp>
      <p:sp>
        <p:nvSpPr>
          <p:cNvPr id="22" name="目標：協助播放、辨識按鈕與切換單元。">
            <a:extLst xmlns:a="http://schemas.openxmlformats.org/drawingml/2006/main">
              <a:ext uri="{FF2B5EF4-FFF2-40B4-BE49-F238E27FC236}">
                <a16:creationId xmlns:a16="http://schemas.microsoft.com/office/drawing/2014/main" id="{74D125F4-D2F4-4277-8B41-4893F0A7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目標：協助播放、辨識按鈕與切換單元。</a:t>
            </a:r>
          </a:p>
        </p:txBody>
      </p:sp>
      <p:sp>
        <p:nvSpPr>
          <p:cNvPr id="23" name="紀錄：已播放章節與平台顯示的進度。">
            <a:extLst xmlns:a="http://schemas.openxmlformats.org/drawingml/2006/main">
              <a:ext uri="{FF2B5EF4-FFF2-40B4-BE49-F238E27FC236}">
                <a16:creationId xmlns:a16="http://schemas.microsoft.com/office/drawing/2014/main" id="{1536EB73-9493-4DD1-AB4F-6B06B025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紀錄：已播放章節與平台顯示的進度。</a:t>
            </a:r>
          </a:p>
        </p:txBody>
      </p:sp>
      <p:sp>
        <p:nvSpPr>
          <p:cNvPr id="24" name="遇到無法辨識或需要本人處理的步驟，暫停並回報。">
            <a:extLst xmlns:a="http://schemas.openxmlformats.org/drawingml/2006/main">
              <a:ext uri="{FF2B5EF4-FFF2-40B4-BE49-F238E27FC236}">
                <a16:creationId xmlns:a16="http://schemas.microsoft.com/office/drawing/2014/main" id="{9825E76F-47AE-4F62-8D30-CAC534C7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212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遇到無法辨識或需要本人處理的步驟，暫停並回報。</a:t>
            </a:r>
          </a:p>
        </p:txBody>
      </p:sp>
      <p:sp>
        <p:nvSpPr>
          <p:cNvPr id="25" name="常見狀況與排查">
            <a:extLst xmlns:a="http://schemas.openxmlformats.org/drawingml/2006/main">
              <a:ext uri="{FF2B5EF4-FFF2-40B4-BE49-F238E27FC236}">
                <a16:creationId xmlns:a16="http://schemas.microsoft.com/office/drawing/2014/main" id="{59F196C2-D700-4D96-87B6-98775337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常見狀況與排查</a:t>
            </a:r>
          </a:p>
        </p:txBody>
      </p:sp>
      <p:sp>
        <p:nvSpPr>
          <p:cNvPr id="26" name="分頁錯誤：列出分頁標題，確認正確課程。">
            <a:extLst xmlns:a="http://schemas.openxmlformats.org/drawingml/2006/main">
              <a:ext uri="{FF2B5EF4-FFF2-40B4-BE49-F238E27FC236}">
                <a16:creationId xmlns:a16="http://schemas.microsoft.com/office/drawing/2014/main" id="{51A4A178-9012-4048-B0BD-A6DE8F13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分頁錯誤：列出分頁標題，確認正確課程。</a:t>
            </a:r>
          </a:p>
        </p:txBody>
      </p:sp>
      <p:sp>
        <p:nvSpPr>
          <p:cNvPr id="27" name="播放中斷：檢查播放狀態及畫面提示。">
            <a:extLst xmlns:a="http://schemas.openxmlformats.org/drawingml/2006/main">
              <a:ext uri="{FF2B5EF4-FFF2-40B4-BE49-F238E27FC236}">
                <a16:creationId xmlns:a16="http://schemas.microsoft.com/office/drawing/2014/main" id="{E7FF2ED8-B027-4627-A2C6-E93F9DF2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播放中斷：檢查播放狀態及畫面提示。</a:t>
            </a:r>
          </a:p>
        </p:txBody>
      </p:sp>
      <p:sp>
        <p:nvSpPr>
          <p:cNvPr id="28" name="按鈕太小：辨識「下一頁／下一單元」控制項。">
            <a:extLst xmlns:a="http://schemas.openxmlformats.org/drawingml/2006/main">
              <a:ext uri="{FF2B5EF4-FFF2-40B4-BE49-F238E27FC236}">
                <a16:creationId xmlns:a16="http://schemas.microsoft.com/office/drawing/2014/main" id="{01D531F5-AA45-4DF9-99CF-9D3FA541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按鈕太小：辨識「下一頁／下一單元」控制項。</a:t>
            </a:r>
          </a:p>
        </p:txBody>
      </p:sp>
      <p:sp>
        <p:nvSpPr>
          <p:cNvPr id="29" name="進度查詢：讀取平台顯示的時數與完成比例。">
            <a:extLst xmlns:a="http://schemas.openxmlformats.org/drawingml/2006/main">
              <a:ext uri="{FF2B5EF4-FFF2-40B4-BE49-F238E27FC236}">
                <a16:creationId xmlns:a16="http://schemas.microsoft.com/office/drawing/2014/main" id="{D643574C-0C12-44E4-A623-5B5B2B58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進度查詢：讀取平台顯示的時數與完成比例。</a:t>
            </a:r>
          </a:p>
        </p:txBody>
      </p:sp>
    </p:spTree>
    <p:extLst>
      <p:ext uri="{BB962C8B-B14F-4D97-AF65-F5344CB8AC3E}">
        <p14:creationId xmlns:p14="http://schemas.microsoft.com/office/powerpoint/2010/main" val="15503773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C5A2D-FAB5-443C-A550-3BB26501EA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372db0ca74469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4DA83C-15E1-44F9-AD69-08DDF29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AA4911B-EA7D-4D04-AE88-321DE857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303A3CA-A866-41F1-A13F-D0F99A8E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C38401-E6FE-4DB1-9B56-436C74CE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766362-F682-416E-8736-C68EFF50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6517252-4253-4772-BAC4-90D6D0B3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3352910-7CEF-46F1-B4CB-B4A7EA9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DE525BB-94A6-4B04-B44B-5FE778F2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EE00C90-4BF6-435F-B268-0909A11F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800"/>
              </a:spcAft>
              <a:buNone/>
              <a:defRPr sz="2200" b="1">
                <a:solidFill>
                  <a:srgbClr val="BC474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B2E2DAA-35C3-46C2-BAB9-2AF2B827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FFF147E-8F18-4F46-8518-9358EEBB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800"/>
              </a:spcAft>
              <a:buNone/>
              <a:defRPr sz="2200" b="1">
                <a:solidFill>
                  <a:srgbClr val="107C41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4  Excel 自動化">
            <a:extLst xmlns:a="http://schemas.openxmlformats.org/drawingml/2006/main">
              <a:ext uri="{FF2B5EF4-FFF2-40B4-BE49-F238E27FC236}">
                <a16:creationId xmlns:a16="http://schemas.microsoft.com/office/drawing/2014/main" id="{6F21DE55-4460-4D37-BA79-27D7EAFF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04  Excel 自動化</a:t>
            </a:r>
          </a:p>
        </p:txBody>
      </p:sp>
      <p:sp>
        <p:nvSpPr>
          <p:cNvPr id="14" name="Excel 成績處理自動化">
            <a:extLst xmlns:a="http://schemas.openxmlformats.org/drawingml/2006/main">
              <a:ext uri="{FF2B5EF4-FFF2-40B4-BE49-F238E27FC236}">
                <a16:creationId xmlns:a16="http://schemas.microsoft.com/office/drawing/2014/main" id="{218EA544-94DC-4A2D-B678-55156378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Excel 成績處理自動化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1CC6982D-656B-4EFF-92E9-7E1F01AD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18 / 28">
            <a:extLst xmlns:a="http://schemas.openxmlformats.org/drawingml/2006/main">
              <a:ext uri="{FF2B5EF4-FFF2-40B4-BE49-F238E27FC236}">
                <a16:creationId xmlns:a16="http://schemas.microsoft.com/office/drawing/2014/main" id="{2EB6CD2C-BFB2-4E46-A8FA-3AC7868C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18 / 28</a:t>
            </a:r>
          </a:p>
        </p:txBody>
      </p:sp>
      <p:sp>
        <p:nvSpPr>
          <p:cNvPr id="17" name="人工處理流程">
            <a:extLst xmlns:a="http://schemas.openxmlformats.org/drawingml/2006/main">
              <a:ext uri="{FF2B5EF4-FFF2-40B4-BE49-F238E27FC236}">
                <a16:creationId xmlns:a16="http://schemas.microsoft.com/office/drawing/2014/main" id="{BF9209EF-C355-4655-9B37-A6CFAFA6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人工處理流程</a:t>
            </a:r>
          </a:p>
        </p:txBody>
      </p:sp>
      <p:sp>
        <p:nvSpPr>
          <p:cNvPr id="18" name="自行輸入 SUM、AVERAGE 與加權公式。">
            <a:extLst xmlns:a="http://schemas.openxmlformats.org/drawingml/2006/main">
              <a:ext uri="{FF2B5EF4-FFF2-40B4-BE49-F238E27FC236}">
                <a16:creationId xmlns:a16="http://schemas.microsoft.com/office/drawing/2014/main" id="{81F636DD-97EB-4348-A07D-92DCC62F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61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自行輸入 SUM、AVERAGE 與加權公式。</a:t>
            </a:r>
          </a:p>
        </p:txBody>
      </p:sp>
      <p:sp>
        <p:nvSpPr>
          <p:cNvPr id="19" name="逐欄篩選不及格，手動改底色。">
            <a:extLst xmlns:a="http://schemas.openxmlformats.org/drawingml/2006/main">
              <a:ext uri="{FF2B5EF4-FFF2-40B4-BE49-F238E27FC236}">
                <a16:creationId xmlns:a16="http://schemas.microsoft.com/office/drawing/2014/main" id="{EC8A5C37-A095-414B-B454-B8625ECA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501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逐欄篩選不及格，手動改底色。</a:t>
            </a:r>
          </a:p>
        </p:txBody>
      </p:sp>
      <p:sp>
        <p:nvSpPr>
          <p:cNvPr id="20" name="維護巢狀 IF 等第判定。">
            <a:extLst xmlns:a="http://schemas.openxmlformats.org/drawingml/2006/main">
              <a:ext uri="{FF2B5EF4-FFF2-40B4-BE49-F238E27FC236}">
                <a16:creationId xmlns:a16="http://schemas.microsoft.com/office/drawing/2014/main" id="{AB6C4781-7981-4FA5-8020-8B875914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40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維護巢狀 IF 等第判定。</a:t>
            </a:r>
          </a:p>
        </p:txBody>
      </p:sp>
      <p:sp>
        <p:nvSpPr>
          <p:cNvPr id="21" name="另行計算平均、最高與最低分。">
            <a:extLst xmlns:a="http://schemas.openxmlformats.org/drawingml/2006/main">
              <a:ext uri="{FF2B5EF4-FFF2-40B4-BE49-F238E27FC236}">
                <a16:creationId xmlns:a16="http://schemas.microsoft.com/office/drawing/2014/main" id="{67C991FE-B564-408F-8030-3C337437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180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另行計算平均、最高與最低分。</a:t>
            </a:r>
          </a:p>
        </p:txBody>
      </p:sp>
      <p:sp>
        <p:nvSpPr>
          <p:cNvPr id="22" name="代理協作流程">
            <a:extLst xmlns:a="http://schemas.openxmlformats.org/drawingml/2006/main">
              <a:ext uri="{FF2B5EF4-FFF2-40B4-BE49-F238E27FC236}">
                <a16:creationId xmlns:a16="http://schemas.microsoft.com/office/drawing/2014/main" id="{3A1E6D8D-9961-4B93-A141-7DA8FB06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代理協作流程</a:t>
            </a:r>
          </a:p>
        </p:txBody>
      </p:sp>
      <p:sp>
        <p:nvSpPr>
          <p:cNvPr id="23" name="提供原始資料或模擬成績。">
            <a:extLst xmlns:a="http://schemas.openxmlformats.org/drawingml/2006/main">
              <a:ext uri="{FF2B5EF4-FFF2-40B4-BE49-F238E27FC236}">
                <a16:creationId xmlns:a16="http://schemas.microsoft.com/office/drawing/2014/main" id="{0CCCD8D3-950C-4F5D-B11F-1ACA4A92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161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提供原始資料或模擬成績。</a:t>
            </a:r>
          </a:p>
        </p:txBody>
      </p:sp>
      <p:sp>
        <p:nvSpPr>
          <p:cNvPr id="24" name="設定權重、等第門檻與格式要求。">
            <a:extLst xmlns:a="http://schemas.openxmlformats.org/drawingml/2006/main">
              <a:ext uri="{FF2B5EF4-FFF2-40B4-BE49-F238E27FC236}">
                <a16:creationId xmlns:a16="http://schemas.microsoft.com/office/drawing/2014/main" id="{655B9D0B-5C42-4F36-974C-47226C22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5501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設定權重、等第門檻與格式要求。</a:t>
            </a:r>
          </a:p>
        </p:txBody>
      </p:sp>
      <p:sp>
        <p:nvSpPr>
          <p:cNvPr id="25" name="產出可編輯的 .xlsx。">
            <a:extLst xmlns:a="http://schemas.openxmlformats.org/drawingml/2006/main">
              <a:ext uri="{FF2B5EF4-FFF2-40B4-BE49-F238E27FC236}">
                <a16:creationId xmlns:a16="http://schemas.microsoft.com/office/drawing/2014/main" id="{FC562D1C-842E-4DC3-B8D6-1913014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4840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產出可編輯的 .xlsx。</a:t>
            </a:r>
          </a:p>
        </p:txBody>
      </p:sp>
      <p:sp>
        <p:nvSpPr>
          <p:cNvPr id="26" name="抽查公式、條件格式與統計結果。">
            <a:extLst xmlns:a="http://schemas.openxmlformats.org/drawingml/2006/main">
              <a:ext uri="{FF2B5EF4-FFF2-40B4-BE49-F238E27FC236}">
                <a16:creationId xmlns:a16="http://schemas.microsoft.com/office/drawing/2014/main" id="{D491564F-FD4E-4276-859F-564A3F0E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4180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抽查公式、條件格式與統計結果。</a:t>
            </a:r>
          </a:p>
        </p:txBody>
      </p:sp>
    </p:spTree>
    <p:extLst>
      <p:ext uri="{BB962C8B-B14F-4D97-AF65-F5344CB8AC3E}">
        <p14:creationId xmlns:p14="http://schemas.microsoft.com/office/powerpoint/2010/main" val="91311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64FDB5-FAE2-47C9-9FDA-1E02AB9375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b112d07af44be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FD9D7B-6773-4ACE-8A2A-471A4C92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A35077-4687-46E4-B989-9FFA0D05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5EDCBDD-8D8C-4676-856C-BC700D45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B5A0F58-D72F-4C4B-B680-11389CEA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AA929F1-933B-4442-8CAD-FCB0B64A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47BD3E-5608-480B-B175-3EC34521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665EF8-D404-475A-9129-54F5330E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A8D04F3-903C-4886-8FD7-44152A3A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ECC4AA5-16CD-4889-9B2D-73DD2A9B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C6E3C7-2FBD-4ABC-8704-411EDEAA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3BBAE0D-83F4-4C58-A3A2-7E32AC0E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EBAD688-8CBA-4C81-BDEC-0DDBB236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FC23032-4043-4249-BA4F-9E447D6D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graphicFrame>
        <p:nvGraphicFramePr>
          <p:cNvPr id="15" name="Table 14">
            <a:extLst xmlns:a="http://schemas.openxmlformats.org/drawingml/2006/main">
              <a:ext uri="{FF2B5EF4-FFF2-40B4-BE49-F238E27FC236}">
                <a16:creationId xmlns:a16="http://schemas.microsoft.com/office/drawing/2014/main" id="{ECEB46FD-346F-4ABC-A7AE-7D936F90EA32}"/>
              </a:ext>
            </a:extLst>
          </p:cNvPr>
          <p:cNvGraphicFramePr/>
          <p:nvPr/>
        </p:nvGraphicFramePr>
        <p:xfrm>
          <a:off xmlns:a="http://schemas.openxmlformats.org/drawingml/2006/main" x="5791200" y="2457450"/>
          <a:ext xmlns:a="http://schemas.openxmlformats.org/drawingml/2006/main" cx="5791200" cy="29718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762000"/>
                <a:gridCol w="952500"/>
                <a:gridCol w="952500"/>
                <a:gridCol w="952500"/>
                <a:gridCol w="1600200"/>
              </a:tblGrid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座號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243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243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筆試(30%)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243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實作(50%)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243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平時(20%)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243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加權/等第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243A5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王小明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89.4 (甲)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3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李小華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3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8C34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BE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3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3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65.5 (丙)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3EFE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張大同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95.5 (優)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3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陳美麗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3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3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8C34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BE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3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60.6 (丙)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3EFE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班平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7E4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全班平均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7E4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7E4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7E4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78.8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7E4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404A5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7E4DD"/>
                    </a:solidFill>
                  </a:tcPr>
                </a:tc>
              </a:tr>
            </a:tbl>
          </a:graphicData>
        </a:graphic>
      </p:graphicFrame>
      <p:sp>
        <p:nvSpPr>
          <p:cNvPr id="16" name="04  Excel 自動化">
            <a:extLst xmlns:a="http://schemas.openxmlformats.org/drawingml/2006/main">
              <a:ext uri="{FF2B5EF4-FFF2-40B4-BE49-F238E27FC236}">
                <a16:creationId xmlns:a16="http://schemas.microsoft.com/office/drawing/2014/main" id="{DFCEAC31-65AE-460B-B8CA-8A1FB3CC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04  Excel 自動化</a:t>
            </a:r>
          </a:p>
        </p:txBody>
      </p:sp>
      <p:sp>
        <p:nvSpPr>
          <p:cNvPr id="17" name="班級成績統計與等第運算">
            <a:extLst xmlns:a="http://schemas.openxmlformats.org/drawingml/2006/main">
              <a:ext uri="{FF2B5EF4-FFF2-40B4-BE49-F238E27FC236}">
                <a16:creationId xmlns:a16="http://schemas.microsoft.com/office/drawing/2014/main" id="{0736ED9A-A9D0-4BD4-940A-5BAE231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班級成績統計與等第運算</a:t>
            </a:r>
          </a:p>
        </p:txBody>
      </p:sp>
      <p:sp>
        <p:nvSpPr>
          <p:cNvPr id="18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D1966836-C5BB-46F8-AACF-210BADEF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9" name="19 / 28">
            <a:extLst xmlns:a="http://schemas.openxmlformats.org/drawingml/2006/main">
              <a:ext uri="{FF2B5EF4-FFF2-40B4-BE49-F238E27FC236}">
                <a16:creationId xmlns:a16="http://schemas.microsoft.com/office/drawing/2014/main" id="{87C57319-D7D8-4786-9B02-4C37ACD1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19 / 28</a:t>
            </a:r>
          </a:p>
        </p:txBody>
      </p:sp>
      <p:sp>
        <p:nvSpPr>
          <p:cNvPr id="20" name="加權成績提示詞">
            <a:extLst xmlns:a="http://schemas.openxmlformats.org/drawingml/2006/main">
              <a:ext uri="{FF2B5EF4-FFF2-40B4-BE49-F238E27FC236}">
                <a16:creationId xmlns:a16="http://schemas.microsoft.com/office/drawing/2014/main" id="{AB0F79F9-49BE-43B9-9523-E29D1DD0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46672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加權成績提示詞</a:t>
            </a:r>
          </a:p>
        </p:txBody>
      </p:sp>
      <p:sp>
        <p:nvSpPr>
          <p:cNvPr id="21" name="建立高二電子科的實習段考成績表，儲存為 .xlsx。">
            <a:extLst xmlns:a="http://schemas.openxmlformats.org/drawingml/2006/main">
              <a:ext uri="{FF2B5EF4-FFF2-40B4-BE49-F238E27FC236}">
                <a16:creationId xmlns:a16="http://schemas.microsoft.com/office/drawing/2014/main" id="{BFAAE63A-892F-46FB-9B69-8C19CAF2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275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建立高二電子科的實習段考成績表，儲存為 .xlsx。</a:t>
            </a:r>
          </a:p>
        </p:txBody>
      </p:sp>
      <p:sp>
        <p:nvSpPr>
          <p:cNvPr id="22" name="模擬 15 位學生，使用假名。">
            <a:extLst xmlns:a="http://schemas.openxmlformats.org/drawingml/2006/main">
              <a:ext uri="{FF2B5EF4-FFF2-40B4-BE49-F238E27FC236}">
                <a16:creationId xmlns:a16="http://schemas.microsoft.com/office/drawing/2014/main" id="{8BDAF77D-45C9-46DA-9F98-4437CAD2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471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模擬 15 位學生，使用假名。</a:t>
            </a:r>
          </a:p>
        </p:txBody>
      </p:sp>
      <p:sp>
        <p:nvSpPr>
          <p:cNvPr id="23" name="筆試 30%、示波器實作 50%、平時與工安 20%。">
            <a:extLst xmlns:a="http://schemas.openxmlformats.org/drawingml/2006/main">
              <a:ext uri="{FF2B5EF4-FFF2-40B4-BE49-F238E27FC236}">
                <a16:creationId xmlns:a16="http://schemas.microsoft.com/office/drawing/2014/main" id="{BE167036-16E2-49BE-90F8-656D13AD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667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筆試 30%、示波器實作 50%、平時與工安 20%。</a:t>
            </a:r>
          </a:p>
        </p:txBody>
      </p:sp>
      <p:sp>
        <p:nvSpPr>
          <p:cNvPr id="24" name="總分四捨五入至小數第一位。">
            <a:extLst xmlns:a="http://schemas.openxmlformats.org/drawingml/2006/main">
              <a:ext uri="{FF2B5EF4-FFF2-40B4-BE49-F238E27FC236}">
                <a16:creationId xmlns:a16="http://schemas.microsoft.com/office/drawing/2014/main" id="{0677F11B-A3D1-47F8-8DC1-A7E8B8B2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總分四捨五入至小數第一位。</a:t>
            </a:r>
          </a:p>
        </p:txBody>
      </p:sp>
      <p:sp>
        <p:nvSpPr>
          <p:cNvPr id="25" name="等第：90 優、80 甲、70 乙、60 丙、未滿&#10;60 丁。">
            <a:extLst xmlns:a="http://schemas.openxmlformats.org/drawingml/2006/main">
              <a:ext uri="{FF2B5EF4-FFF2-40B4-BE49-F238E27FC236}">
                <a16:creationId xmlns:a16="http://schemas.microsoft.com/office/drawing/2014/main" id="{98AF27BA-CA7F-400F-8B12-6C5C307A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594"/>
            <a:ext cx="4667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等第：90 優、80 甲、70 乙、60 丙、未滿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60 丁。</a:t>
            </a:r>
          </a:p>
        </p:txBody>
      </p:sp>
      <p:sp>
        <p:nvSpPr>
          <p:cNvPr id="26" name="筆試或實作未滿 60 分，標記粉紅底色。">
            <a:extLst xmlns:a="http://schemas.openxmlformats.org/drawingml/2006/main">
              <a:ext uri="{FF2B5EF4-FFF2-40B4-BE49-F238E27FC236}">
                <a16:creationId xmlns:a16="http://schemas.microsoft.com/office/drawing/2014/main" id="{284A40EF-F3CB-4D5B-B74E-8955C9D2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0496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筆試或實作未滿 60 分，標記粉紅底色。</a:t>
            </a:r>
          </a:p>
        </p:txBody>
      </p:sp>
      <p:sp>
        <p:nvSpPr>
          <p:cNvPr id="27" name="表尾列出平均、最高分與最低分。">
            <a:extLst xmlns:a="http://schemas.openxmlformats.org/drawingml/2006/main">
              <a:ext uri="{FF2B5EF4-FFF2-40B4-BE49-F238E27FC236}">
                <a16:creationId xmlns:a16="http://schemas.microsoft.com/office/drawing/2014/main" id="{799435E5-231C-4A7D-AED6-471B661D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456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表尾列出平均、最高分與最低分。</a:t>
            </a:r>
          </a:p>
        </p:txBody>
      </p:sp>
      <p:sp>
        <p:nvSpPr>
          <p:cNvPr id="28" name="原稿示例成績表">
            <a:extLst xmlns:a="http://schemas.openxmlformats.org/drawingml/2006/main">
              <a:ext uri="{FF2B5EF4-FFF2-40B4-BE49-F238E27FC236}">
                <a16:creationId xmlns:a16="http://schemas.microsoft.com/office/drawing/2014/main" id="{2688F75E-82A7-4AC8-B4C9-DC89262F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43075"/>
            <a:ext cx="579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原稿示例成績表</a:t>
            </a:r>
          </a:p>
        </p:txBody>
      </p:sp>
      <p:sp>
        <p:nvSpPr>
          <p:cNvPr id="29" name="權重、等第與不及格標記需逐項抽查。">
            <a:extLst xmlns:a="http://schemas.openxmlformats.org/drawingml/2006/main">
              <a:ext uri="{FF2B5EF4-FFF2-40B4-BE49-F238E27FC236}">
                <a16:creationId xmlns:a16="http://schemas.microsoft.com/office/drawing/2014/main" id="{1C04535D-1639-437C-BC77-BE99A79A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10250"/>
            <a:ext cx="579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權重、等第與不及格標記需逐項抽查。</a:t>
            </a:r>
          </a:p>
        </p:txBody>
      </p:sp>
    </p:spTree>
    <p:extLst>
      <p:ext uri="{BB962C8B-B14F-4D97-AF65-F5344CB8AC3E}">
        <p14:creationId xmlns:p14="http://schemas.microsoft.com/office/powerpoint/2010/main" val="16965648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706845-7D52-401A-9386-D4ABEBEED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0d8733a4247b3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817126-4507-4452-B77C-D72E073B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72867B0-A3B1-4300-83A9-A23AAD59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34F2B4-6CC9-4A24-8C13-55B4984B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A1D21C7-AE0F-4E8C-A7A8-C4E156A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040EB48-EC6A-4338-8CFD-978911B2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E7A40DA-7BCD-43FA-87EC-1345B8A4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3C2D3F2-E10E-4674-BF0E-C75C194A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494A065-44C3-4672-A9E2-024F507D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560AC73-C0A8-4C0E-96F7-6079AC76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945E4A0-88C5-4CF0-8541-35901F38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2E74150-B01E-465F-96D8-9DCFFA97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4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4  Excel 自動化">
            <a:extLst xmlns:a="http://schemas.openxmlformats.org/drawingml/2006/main">
              <a:ext uri="{FF2B5EF4-FFF2-40B4-BE49-F238E27FC236}">
                <a16:creationId xmlns:a16="http://schemas.microsoft.com/office/drawing/2014/main" id="{DA4467BC-3B44-4B8F-ACA4-70479D33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04  Excel 自動化</a:t>
            </a:r>
          </a:p>
        </p:txBody>
      </p:sp>
      <p:sp>
        <p:nvSpPr>
          <p:cNvPr id="14" name="成績分布與學情分析">
            <a:extLst xmlns:a="http://schemas.openxmlformats.org/drawingml/2006/main">
              <a:ext uri="{FF2B5EF4-FFF2-40B4-BE49-F238E27FC236}">
                <a16:creationId xmlns:a16="http://schemas.microsoft.com/office/drawing/2014/main" id="{AE1F4D57-C957-46BA-AE35-F9A9AA85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成績分布與學情分析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543B7D79-995D-4CD0-AE0A-9EB03DCF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0 / 28">
            <a:extLst xmlns:a="http://schemas.openxmlformats.org/drawingml/2006/main">
              <a:ext uri="{FF2B5EF4-FFF2-40B4-BE49-F238E27FC236}">
                <a16:creationId xmlns:a16="http://schemas.microsoft.com/office/drawing/2014/main" id="{70720368-9947-41AF-AE25-4D78ACD6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20 / 28</a:t>
            </a:r>
          </a:p>
        </p:txBody>
      </p:sp>
      <p:sp>
        <p:nvSpPr>
          <p:cNvPr id="17" name="學情分析提示詞">
            <a:extLst xmlns:a="http://schemas.openxmlformats.org/drawingml/2006/main">
              <a:ext uri="{FF2B5EF4-FFF2-40B4-BE49-F238E27FC236}">
                <a16:creationId xmlns:a16="http://schemas.microsoft.com/office/drawing/2014/main" id="{A8D7EF2B-2064-44F1-9749-6956DBB9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572750" cy="462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4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學情分析提示詞</a:t>
            </a:r>
          </a:p>
        </p:txBody>
      </p:sp>
      <p:sp>
        <p:nvSpPr>
          <p:cNvPr id="18" name="讀取前一份成績表，繪製實作成績分布長條圖，以 10 分為一個級距。">
            <a:extLst xmlns:a="http://schemas.openxmlformats.org/drawingml/2006/main">
              <a:ext uri="{FF2B5EF4-FFF2-40B4-BE49-F238E27FC236}">
                <a16:creationId xmlns:a16="http://schemas.microsoft.com/office/drawing/2014/main" id="{7DFF2CFF-6BC5-4298-9641-564B4538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5253"/>
            <a:ext cx="105727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讀取前一份成績表，繪製實作成績分布長條圖，以 10 分為一個級距。</a:t>
            </a:r>
          </a:p>
        </p:txBody>
      </p:sp>
      <p:sp>
        <p:nvSpPr>
          <p:cNvPr id="19" name="列出實作前三名，以及筆試與實作各自的不及格人數。">
            <a:extLst xmlns:a="http://schemas.openxmlformats.org/drawingml/2006/main">
              <a:ext uri="{FF2B5EF4-FFF2-40B4-BE49-F238E27FC236}">
                <a16:creationId xmlns:a16="http://schemas.microsoft.com/office/drawing/2014/main" id="{BAB9B4D4-EC80-478E-AFC1-5175F998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083"/>
            <a:ext cx="105727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列出實作前三名，以及筆試與實作各自的不及格人數。</a:t>
            </a:r>
          </a:p>
        </p:txBody>
      </p:sp>
      <p:sp>
        <p:nvSpPr>
          <p:cNvPr id="20" name="依成績資料撰寫約 200 字的學情檢討摘要，供教學日誌或研究會報告使用。">
            <a:extLst xmlns:a="http://schemas.openxmlformats.org/drawingml/2006/main">
              <a:ext uri="{FF2B5EF4-FFF2-40B4-BE49-F238E27FC236}">
                <a16:creationId xmlns:a16="http://schemas.microsoft.com/office/drawing/2014/main" id="{EEE5E08A-3713-4CFA-9E6A-9BBCC012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4913"/>
            <a:ext cx="105727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依成績資料撰寫約 200 字的學情檢討摘要，供教學日誌或研究會報告使用。</a:t>
            </a:r>
          </a:p>
        </p:txBody>
      </p:sp>
      <p:sp>
        <p:nvSpPr>
          <p:cNvPr id="21" name="成果檢查">
            <a:extLst xmlns:a="http://schemas.openxmlformats.org/drawingml/2006/main">
              <a:ext uri="{FF2B5EF4-FFF2-40B4-BE49-F238E27FC236}">
                <a16:creationId xmlns:a16="http://schemas.microsoft.com/office/drawing/2014/main" id="{FDC2159E-D032-43E1-B793-F6C51CE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5727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成果檢查</a:t>
            </a:r>
          </a:p>
        </p:txBody>
      </p:sp>
      <p:sp>
        <p:nvSpPr>
          <p:cNvPr id="22" name="區分資料可直接支持的結論與需要課堂觀察補充的判斷。">
            <a:extLst xmlns:a="http://schemas.openxmlformats.org/drawingml/2006/main">
              <a:ext uri="{FF2B5EF4-FFF2-40B4-BE49-F238E27FC236}">
                <a16:creationId xmlns:a16="http://schemas.microsoft.com/office/drawing/2014/main" id="{514FE26F-4B1F-4379-BBAD-4E4EA221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7533"/>
            <a:ext cx="105727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區分資料可直接支持的結論與需要課堂觀察補充的判斷。</a:t>
            </a:r>
          </a:p>
        </p:txBody>
      </p:sp>
      <p:sp>
        <p:nvSpPr>
          <p:cNvPr id="23" name="確認圖表級距、樣本數、姓名與分數一致。">
            <a:extLst xmlns:a="http://schemas.openxmlformats.org/drawingml/2006/main">
              <a:ext uri="{FF2B5EF4-FFF2-40B4-BE49-F238E27FC236}">
                <a16:creationId xmlns:a16="http://schemas.microsoft.com/office/drawing/2014/main" id="{90C9BDF3-CF58-414D-9AFA-E1759F1D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6638"/>
            <a:ext cx="105727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確認圖表級距、樣本數、姓名與分數一致。</a:t>
            </a:r>
          </a:p>
        </p:txBody>
      </p:sp>
    </p:spTree>
    <p:extLst>
      <p:ext uri="{BB962C8B-B14F-4D97-AF65-F5344CB8AC3E}">
        <p14:creationId xmlns:p14="http://schemas.microsoft.com/office/powerpoint/2010/main" val="8568882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BCD11-3A5A-420D-8E3D-1B902DFD9E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f56267df045bd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AD83A5E-C431-4737-88E1-C44F480D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4CD9D66-7ADF-4FC6-B3BC-050110DF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C94695-DC70-4372-9B0E-70247A65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70A0891-29BA-4138-87CA-5C34824B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EE5B5B3-C68B-4100-B795-B93E44D6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510F05-DA65-4E87-B635-BFA30B6F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D9B96BB-4A08-4C59-96D2-7CF49BC3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F778DD9-B54E-43DB-A8E5-BB31C831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826E50-D68B-4CB0-A569-B8A6AD94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BD0B11E-2273-4434-A1CF-EF1494EE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19754C2-73CB-40CA-8CA0-248CFD77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5  網站發布">
            <a:extLst xmlns:a="http://schemas.openxmlformats.org/drawingml/2006/main">
              <a:ext uri="{FF2B5EF4-FFF2-40B4-BE49-F238E27FC236}">
                <a16:creationId xmlns:a16="http://schemas.microsoft.com/office/drawing/2014/main" id="{EDC69612-EC42-4E77-8E35-FE9EE88A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05  網站發布</a:t>
            </a:r>
          </a:p>
        </p:txBody>
      </p:sp>
      <p:sp>
        <p:nvSpPr>
          <p:cNvPr id="14" name="GitHub 帳號與教學儲存庫">
            <a:extLst xmlns:a="http://schemas.openxmlformats.org/drawingml/2006/main">
              <a:ext uri="{FF2B5EF4-FFF2-40B4-BE49-F238E27FC236}">
                <a16:creationId xmlns:a16="http://schemas.microsoft.com/office/drawing/2014/main" id="{3ADE4700-7FEF-4AE2-A3D2-0961825E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GitHub 帳號與教學儲存庫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2D6F6F25-FF88-4200-93E2-29699374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1 / 28">
            <a:extLst xmlns:a="http://schemas.openxmlformats.org/drawingml/2006/main">
              <a:ext uri="{FF2B5EF4-FFF2-40B4-BE49-F238E27FC236}">
                <a16:creationId xmlns:a16="http://schemas.microsoft.com/office/drawing/2014/main" id="{24C15643-35BB-4F0B-886C-67DFEE93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21 / 28</a:t>
            </a:r>
          </a:p>
        </p:txBody>
      </p:sp>
      <p:sp>
        <p:nvSpPr>
          <p:cNvPr id="17" name="建立 GitHub 帳號">
            <a:extLst xmlns:a="http://schemas.openxmlformats.org/drawingml/2006/main">
              <a:ext uri="{FF2B5EF4-FFF2-40B4-BE49-F238E27FC236}">
                <a16:creationId xmlns:a16="http://schemas.microsoft.com/office/drawing/2014/main" id="{1D03F2D9-5D4E-4C23-9781-25DC1340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建立 GitHub 帳號</a:t>
            </a:r>
          </a:p>
        </p:txBody>
      </p:sp>
      <p:sp>
        <p:nvSpPr>
          <p:cNvPr id="18" name="前往 github.com，選擇 Sign up。">
            <a:extLst xmlns:a="http://schemas.openxmlformats.org/drawingml/2006/main">
              <a:ext uri="{FF2B5EF4-FFF2-40B4-BE49-F238E27FC236}">
                <a16:creationId xmlns:a16="http://schemas.microsoft.com/office/drawing/2014/main" id="{B37E7ABA-2B2B-4028-88A0-F70AD8E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前往 github.com，選擇 Sign up。</a:t>
            </a:r>
          </a:p>
        </p:txBody>
      </p:sp>
      <p:sp>
        <p:nvSpPr>
          <p:cNvPr id="19" name="填寫電子郵件、密碼與 Username。">
            <a:extLst xmlns:a="http://schemas.openxmlformats.org/drawingml/2006/main">
              <a:ext uri="{FF2B5EF4-FFF2-40B4-BE49-F238E27FC236}">
                <a16:creationId xmlns:a16="http://schemas.microsoft.com/office/drawing/2014/main" id="{DEA68967-1338-43D8-B241-A11B440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填寫電子郵件、密碼與 Username。</a:t>
            </a:r>
          </a:p>
        </p:txBody>
      </p:sp>
      <p:sp>
        <p:nvSpPr>
          <p:cNvPr id="20" name="完成信箱驗證與帳號啟用。">
            <a:extLst xmlns:a="http://schemas.openxmlformats.org/drawingml/2006/main">
              <a:ext uri="{FF2B5EF4-FFF2-40B4-BE49-F238E27FC236}">
                <a16:creationId xmlns:a16="http://schemas.microsoft.com/office/drawing/2014/main" id="{766566DD-B6BE-42A9-A660-40D9C17D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完成信箱驗證與帳號啟用。</a:t>
            </a:r>
          </a:p>
        </p:txBody>
      </p:sp>
      <p:sp>
        <p:nvSpPr>
          <p:cNvPr id="21" name="Username 會成為 GitHub Pages 網址的一部分。">
            <a:extLst xmlns:a="http://schemas.openxmlformats.org/drawingml/2006/main">
              <a:ext uri="{FF2B5EF4-FFF2-40B4-BE49-F238E27FC236}">
                <a16:creationId xmlns:a16="http://schemas.microsoft.com/office/drawing/2014/main" id="{7E4A3CED-21FD-4C01-B4F2-6E2B6A25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Username 會成為 GitHub Pages 網址的一部分。</a:t>
            </a:r>
          </a:p>
        </p:txBody>
      </p:sp>
      <p:sp>
        <p:nvSpPr>
          <p:cNvPr id="22" name="建立 www 儲存庫">
            <a:extLst xmlns:a="http://schemas.openxmlformats.org/drawingml/2006/main">
              <a:ext uri="{FF2B5EF4-FFF2-40B4-BE49-F238E27FC236}">
                <a16:creationId xmlns:a16="http://schemas.microsoft.com/office/drawing/2014/main" id="{59EEC4E8-4BC0-45A0-A82B-0F5E8084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建立 www 儲存庫</a:t>
            </a:r>
          </a:p>
        </p:txBody>
      </p:sp>
      <p:sp>
        <p:nvSpPr>
          <p:cNvPr id="23" name="選擇 New repository。">
            <a:extLst xmlns:a="http://schemas.openxmlformats.org/drawingml/2006/main">
              <a:ext uri="{FF2B5EF4-FFF2-40B4-BE49-F238E27FC236}">
                <a16:creationId xmlns:a16="http://schemas.microsoft.com/office/drawing/2014/main" id="{51E0F060-C71F-4754-80BD-AA9ADB8F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選擇 New repository。</a:t>
            </a:r>
          </a:p>
        </p:txBody>
      </p:sp>
      <p:sp>
        <p:nvSpPr>
          <p:cNvPr id="24" name="Repository name 填入 www。">
            <a:extLst xmlns:a="http://schemas.openxmlformats.org/drawingml/2006/main">
              <a:ext uri="{FF2B5EF4-FFF2-40B4-BE49-F238E27FC236}">
                <a16:creationId xmlns:a16="http://schemas.microsoft.com/office/drawing/2014/main" id="{B8049423-3AB4-4314-956D-6576AB78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Repository name 填入 www。</a:t>
            </a:r>
          </a:p>
        </p:txBody>
      </p:sp>
      <p:sp>
        <p:nvSpPr>
          <p:cNvPr id="25" name="依教材示例建立 Public 公開儲存庫。">
            <a:extLst xmlns:a="http://schemas.openxmlformats.org/drawingml/2006/main">
              <a:ext uri="{FF2B5EF4-FFF2-40B4-BE49-F238E27FC236}">
                <a16:creationId xmlns:a16="http://schemas.microsoft.com/office/drawing/2014/main" id="{2EB3C9A9-B26A-4AAD-B920-3A968C78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依教材示例建立 Public 公開儲存庫。</a:t>
            </a:r>
          </a:p>
        </p:txBody>
      </p:sp>
      <p:sp>
        <p:nvSpPr>
          <p:cNvPr id="26" name="建立後取得 github.com／帳號／www 網址。">
            <a:extLst xmlns:a="http://schemas.openxmlformats.org/drawingml/2006/main">
              <a:ext uri="{FF2B5EF4-FFF2-40B4-BE49-F238E27FC236}">
                <a16:creationId xmlns:a16="http://schemas.microsoft.com/office/drawing/2014/main" id="{CB403C5D-0BD6-4230-9293-322A0C7F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建立後取得 github.com／帳號／www 網址。</a:t>
            </a:r>
          </a:p>
        </p:txBody>
      </p:sp>
    </p:spTree>
    <p:extLst>
      <p:ext uri="{BB962C8B-B14F-4D97-AF65-F5344CB8AC3E}">
        <p14:creationId xmlns:p14="http://schemas.microsoft.com/office/powerpoint/2010/main" val="15692695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F1CEC4-F885-4D12-B68C-E6D89725AC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754659e1045b3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495D4B-C57E-489A-BD37-F94D8AAB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FEFCC59-CA48-4A39-85CA-EC69F64E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E83A0FE-0271-47A0-95AB-230AB96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B5676B9-DE7C-427F-BCAC-0F786177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3040DA7-9747-4C03-A3EA-7CBFFE3A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C65BCBC-F5EB-4C45-856B-9D3592E6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10BB0DA-68DC-465F-8891-E76F06C2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334CF02-E1FE-4D99-96E6-7D3120A5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87C3B2E-9EA0-4C8F-8F64-8445C98D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7D217A6-4468-4C6D-9F67-70B3FC33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2F666A3-0D29-4930-B663-0943E594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9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5  網站發布">
            <a:extLst xmlns:a="http://schemas.openxmlformats.org/drawingml/2006/main">
              <a:ext uri="{FF2B5EF4-FFF2-40B4-BE49-F238E27FC236}">
                <a16:creationId xmlns:a16="http://schemas.microsoft.com/office/drawing/2014/main" id="{06D853DA-58B8-4D5B-961D-9F291C72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05  網站發布</a:t>
            </a:r>
          </a:p>
        </p:txBody>
      </p:sp>
      <p:sp>
        <p:nvSpPr>
          <p:cNvPr id="14" name="GitHub 個人存取權杖">
            <a:extLst xmlns:a="http://schemas.openxmlformats.org/drawingml/2006/main">
              <a:ext uri="{FF2B5EF4-FFF2-40B4-BE49-F238E27FC236}">
                <a16:creationId xmlns:a16="http://schemas.microsoft.com/office/drawing/2014/main" id="{BBF79B43-0B2E-4ABF-A1CF-F8B1105E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GitHub 個人存取權杖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5910CD4E-F4BC-4CCA-99B5-4987A76C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2 / 28">
            <a:extLst xmlns:a="http://schemas.openxmlformats.org/drawingml/2006/main">
              <a:ext uri="{FF2B5EF4-FFF2-40B4-BE49-F238E27FC236}">
                <a16:creationId xmlns:a16="http://schemas.microsoft.com/office/drawing/2014/main" id="{7E089099-2602-4BF5-A860-B4B6B84D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22 / 28</a:t>
            </a:r>
          </a:p>
        </p:txBody>
      </p:sp>
      <p:sp>
        <p:nvSpPr>
          <p:cNvPr id="17" name="個人存取權杖 PAT">
            <a:extLst xmlns:a="http://schemas.openxmlformats.org/drawingml/2006/main">
              <a:ext uri="{FF2B5EF4-FFF2-40B4-BE49-F238E27FC236}">
                <a16:creationId xmlns:a16="http://schemas.microsoft.com/office/drawing/2014/main" id="{E26E02DD-C72E-4A81-82B3-EB699E76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個人存取權杖 PAT</a:t>
            </a:r>
          </a:p>
        </p:txBody>
      </p:sp>
      <p:sp>
        <p:nvSpPr>
          <p:cNvPr id="18" name="原稿示範以 PAT 進行 Git HTTPS 推播驗證。">
            <a:extLst xmlns:a="http://schemas.openxmlformats.org/drawingml/2006/main">
              <a:ext uri="{FF2B5EF4-FFF2-40B4-BE49-F238E27FC236}">
                <a16:creationId xmlns:a16="http://schemas.microsoft.com/office/drawing/2014/main" id="{62755F5C-B7F3-466C-9ADE-BA84AAD4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原稿示範以 PAT 進行 Git HTTPS 推播驗證。</a:t>
            </a:r>
          </a:p>
        </p:txBody>
      </p:sp>
      <p:sp>
        <p:nvSpPr>
          <p:cNvPr id="19" name="至帳號設定的 Developer settings 管理權杖。">
            <a:extLst xmlns:a="http://schemas.openxmlformats.org/drawingml/2006/main">
              <a:ext uri="{FF2B5EF4-FFF2-40B4-BE49-F238E27FC236}">
                <a16:creationId xmlns:a16="http://schemas.microsoft.com/office/drawing/2014/main" id="{17E78B28-CD8F-471D-813A-B976D0F0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至帳號設定的 Developer settings 管理權杖。</a:t>
            </a:r>
          </a:p>
        </p:txBody>
      </p:sp>
      <p:sp>
        <p:nvSpPr>
          <p:cNvPr id="20" name="設定用途、有效期限與儲存庫權限。">
            <a:extLst xmlns:a="http://schemas.openxmlformats.org/drawingml/2006/main">
              <a:ext uri="{FF2B5EF4-FFF2-40B4-BE49-F238E27FC236}">
                <a16:creationId xmlns:a16="http://schemas.microsoft.com/office/drawing/2014/main" id="{117A9E52-9265-48DF-A19B-CA3BDE5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設定用途、有效期限與儲存庫權限。</a:t>
            </a:r>
          </a:p>
        </p:txBody>
      </p:sp>
      <p:sp>
        <p:nvSpPr>
          <p:cNvPr id="21" name="權限範圍須對應實際工作需求。">
            <a:extLst xmlns:a="http://schemas.openxmlformats.org/drawingml/2006/main">
              <a:ext uri="{FF2B5EF4-FFF2-40B4-BE49-F238E27FC236}">
                <a16:creationId xmlns:a16="http://schemas.microsoft.com/office/drawing/2014/main" id="{AAD47A66-B50C-40BF-B4C5-F46117D5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權限範圍須對應實際工作需求。</a:t>
            </a:r>
          </a:p>
        </p:txBody>
      </p:sp>
      <p:sp>
        <p:nvSpPr>
          <p:cNvPr id="22" name="金鑰保存與示範遮罩">
            <a:extLst xmlns:a="http://schemas.openxmlformats.org/drawingml/2006/main">
              <a:ext uri="{FF2B5EF4-FFF2-40B4-BE49-F238E27FC236}">
                <a16:creationId xmlns:a16="http://schemas.microsoft.com/office/drawing/2014/main" id="{3AB82D3F-6577-4379-9170-A81FE73C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金鑰保存與示範遮罩</a:t>
            </a:r>
          </a:p>
        </p:txBody>
      </p:sp>
      <p:sp>
        <p:nvSpPr>
          <p:cNvPr id="23" name="Token 可用於存取儲存庫，需妥善保護。">
            <a:extLst xmlns:a="http://schemas.openxmlformats.org/drawingml/2006/main">
              <a:ext uri="{FF2B5EF4-FFF2-40B4-BE49-F238E27FC236}">
                <a16:creationId xmlns:a16="http://schemas.microsoft.com/office/drawing/2014/main" id="{44A54BE4-A63B-4A95-9D24-391F9BC8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Token 可用於存取儲存庫，需妥善保護。</a:t>
            </a:r>
          </a:p>
        </p:txBody>
      </p:sp>
      <p:sp>
        <p:nvSpPr>
          <p:cNvPr id="24" name="不要將權杖寫入公開腳本或簡報。">
            <a:extLst xmlns:a="http://schemas.openxmlformats.org/drawingml/2006/main">
              <a:ext uri="{FF2B5EF4-FFF2-40B4-BE49-F238E27FC236}">
                <a16:creationId xmlns:a16="http://schemas.microsoft.com/office/drawing/2014/main" id="{663A2348-DBB2-4587-831B-92366236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不要將權杖寫入公開腳本或簡報。</a:t>
            </a:r>
          </a:p>
        </p:txBody>
      </p:sp>
      <p:sp>
        <p:nvSpPr>
          <p:cNvPr id="25" name="截圖、錄影與講義中遮蔽完整代碼。">
            <a:extLst xmlns:a="http://schemas.openxmlformats.org/drawingml/2006/main">
              <a:ext uri="{FF2B5EF4-FFF2-40B4-BE49-F238E27FC236}">
                <a16:creationId xmlns:a16="http://schemas.microsoft.com/office/drawing/2014/main" id="{BC49403E-E446-41B1-BB33-F9D15885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截圖、錄影與講義中遮蔽完整代碼。</a:t>
            </a:r>
          </a:p>
        </p:txBody>
      </p:sp>
      <p:sp>
        <p:nvSpPr>
          <p:cNvPr id="26" name="搭配 Git Credential Manager 管理登入資訊。">
            <a:extLst xmlns:a="http://schemas.openxmlformats.org/drawingml/2006/main">
              <a:ext uri="{FF2B5EF4-FFF2-40B4-BE49-F238E27FC236}">
                <a16:creationId xmlns:a16="http://schemas.microsoft.com/office/drawing/2014/main" id="{599C9CC8-056A-404B-A475-0BB55D8B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搭配 Git Credential Manager 管理登入資訊。</a:t>
            </a:r>
          </a:p>
        </p:txBody>
      </p:sp>
    </p:spTree>
    <p:extLst>
      <p:ext uri="{BB962C8B-B14F-4D97-AF65-F5344CB8AC3E}">
        <p14:creationId xmlns:p14="http://schemas.microsoft.com/office/powerpoint/2010/main" val="14892209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CDAD8F-3053-4AFB-A46B-80016BDA9B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0a2de06e54d09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4B94CD-D840-467F-985D-A278525E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1EF60B1-4EE2-4A20-B830-F8AB2765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F9740F-3417-4ED9-B46E-5100C88C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35ACF0-511C-4EE7-AE2D-3662EDD6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71F7504-93FD-4705-BC96-BD88856B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676F420-CCA7-44D5-ABF6-0CB371A1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9500931-BD78-44EF-A51A-52AAF9F4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86C925E-4C16-4031-B437-A41367EE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F8E05CD-6445-49DF-BB13-87EF8D23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5B84873-089F-478A-A530-AB6B39D0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17C8260-A5C2-4B75-98AE-0AF90F07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9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5  網站發布">
            <a:extLst xmlns:a="http://schemas.openxmlformats.org/drawingml/2006/main">
              <a:ext uri="{FF2B5EF4-FFF2-40B4-BE49-F238E27FC236}">
                <a16:creationId xmlns:a16="http://schemas.microsoft.com/office/drawing/2014/main" id="{AA84C4CA-A16A-42C1-A517-A7FAA58E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05  網站發布</a:t>
            </a:r>
          </a:p>
        </p:txBody>
      </p:sp>
      <p:sp>
        <p:nvSpPr>
          <p:cNvPr id="14" name="教學網站發布與 GitHub Pages">
            <a:extLst xmlns:a="http://schemas.openxmlformats.org/drawingml/2006/main">
              <a:ext uri="{FF2B5EF4-FFF2-40B4-BE49-F238E27FC236}">
                <a16:creationId xmlns:a16="http://schemas.microsoft.com/office/drawing/2014/main" id="{A5C0CE62-E194-4138-BD55-D5AC2C59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教學網站發布與 GitHub Pages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0990A0BF-87A0-405E-ACB3-D39F5A5F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3 / 28">
            <a:extLst xmlns:a="http://schemas.openxmlformats.org/drawingml/2006/main">
              <a:ext uri="{FF2B5EF4-FFF2-40B4-BE49-F238E27FC236}">
                <a16:creationId xmlns:a16="http://schemas.microsoft.com/office/drawing/2014/main" id="{A44C8637-BD96-44BA-B06E-D8FF843C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23 / 28</a:t>
            </a:r>
          </a:p>
        </p:txBody>
      </p:sp>
      <p:sp>
        <p:nvSpPr>
          <p:cNvPr id="17" name="教學網站發布提示詞">
            <a:extLst xmlns:a="http://schemas.openxmlformats.org/drawingml/2006/main">
              <a:ext uri="{FF2B5EF4-FFF2-40B4-BE49-F238E27FC236}">
                <a16:creationId xmlns:a16="http://schemas.microsoft.com/office/drawing/2014/main" id="{4855B827-7EE8-4C2B-8E8A-D041634E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教學網站發布提示詞</a:t>
            </a:r>
          </a:p>
        </p:txBody>
      </p:sp>
      <p:sp>
        <p:nvSpPr>
          <p:cNvPr id="18" name="將電學題庫與 BJT 小訊號圖解整理為教學網站。">
            <a:extLst xmlns:a="http://schemas.openxmlformats.org/drawingml/2006/main">
              <a:ext uri="{FF2B5EF4-FFF2-40B4-BE49-F238E27FC236}">
                <a16:creationId xmlns:a16="http://schemas.microsoft.com/office/drawing/2014/main" id="{6E2E5533-6E3B-4500-B744-421AD3EF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將電學題庫與 BJT 小訊號圖解整理為教學網站。</a:t>
            </a:r>
          </a:p>
        </p:txBody>
      </p:sp>
      <p:sp>
        <p:nvSpPr>
          <p:cNvPr id="19" name="主要檔案：index.html、electronics_bjt.html">
            <a:extLst xmlns:a="http://schemas.openxmlformats.org/drawingml/2006/main">
              <a:ext uri="{FF2B5EF4-FFF2-40B4-BE49-F238E27FC236}">
                <a16:creationId xmlns:a16="http://schemas.microsoft.com/office/drawing/2014/main" id="{596BB398-C043-4930-A6B3-D4DA9F9E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主要檔案：index.html、electronics_bjt.html。</a:t>
            </a:r>
          </a:p>
        </p:txBody>
      </p:sp>
      <p:sp>
        <p:nvSpPr>
          <p:cNvPr id="20" name="將網站、circuits/ 與簡報提交至 main 分支。">
            <a:extLst xmlns:a="http://schemas.openxmlformats.org/drawingml/2006/main">
              <a:ext uri="{FF2B5EF4-FFF2-40B4-BE49-F238E27FC236}">
                <a16:creationId xmlns:a16="http://schemas.microsoft.com/office/drawing/2014/main" id="{A379AD07-904F-44E4-A78D-9AA0F32D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將網站、circuits/ 與簡報提交至 main 分支。</a:t>
            </a:r>
          </a:p>
        </p:txBody>
      </p:sp>
      <p:sp>
        <p:nvSpPr>
          <p:cNvPr id="21" name="設定 GitHub Pages，回報公開網址。">
            <a:extLst xmlns:a="http://schemas.openxmlformats.org/drawingml/2006/main">
              <a:ext uri="{FF2B5EF4-FFF2-40B4-BE49-F238E27FC236}">
                <a16:creationId xmlns:a16="http://schemas.microsoft.com/office/drawing/2014/main" id="{F6FD992A-96F6-4FE6-AA0E-66B46767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設定 GitHub Pages，回報公開網址。</a:t>
            </a:r>
          </a:p>
        </p:txBody>
      </p:sp>
      <p:sp>
        <p:nvSpPr>
          <p:cNvPr id="22" name="教材與互動實驗室">
            <a:extLst xmlns:a="http://schemas.openxmlformats.org/drawingml/2006/main">
              <a:ext uri="{FF2B5EF4-FFF2-40B4-BE49-F238E27FC236}">
                <a16:creationId xmlns:a16="http://schemas.microsoft.com/office/drawing/2014/main" id="{06E8CC54-5E40-4AB2-B432-768FF09E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教材與互動實驗室</a:t>
            </a:r>
          </a:p>
        </p:txBody>
      </p:sp>
      <p:sp>
        <p:nvSpPr>
          <p:cNvPr id="23" name="主入口：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02F008E4-FD64-42D9-8ACD-1B93A12E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主入口：stjedu.github.io/www/</a:t>
            </a:r>
          </a:p>
        </p:txBody>
      </p:sp>
      <p:sp>
        <p:nvSpPr>
          <p:cNvPr id="24" name="BJT：electronics_bjt.html">
            <a:extLst xmlns:a="http://schemas.openxmlformats.org/drawingml/2006/main">
              <a:ext uri="{FF2B5EF4-FFF2-40B4-BE49-F238E27FC236}">
                <a16:creationId xmlns:a16="http://schemas.microsoft.com/office/drawing/2014/main" id="{B3EB3E45-2563-4E35-BD5F-3D09F8B9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BJT：electronics_bjt.html</a:t>
            </a:r>
          </a:p>
        </p:txBody>
      </p:sp>
      <p:sp>
        <p:nvSpPr>
          <p:cNvPr id="25" name="虛擬儀表：instrument.html">
            <a:extLst xmlns:a="http://schemas.openxmlformats.org/drawingml/2006/main">
              <a:ext uri="{FF2B5EF4-FFF2-40B4-BE49-F238E27FC236}">
                <a16:creationId xmlns:a16="http://schemas.microsoft.com/office/drawing/2014/main" id="{2D278894-C075-49ED-85FC-7A7AFF03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虛擬儀表：instrument.html</a:t>
            </a:r>
          </a:p>
        </p:txBody>
      </p:sp>
      <p:sp>
        <p:nvSpPr>
          <p:cNvPr id="26" name="視覺辨識：yolo_webcam_course.html">
            <a:extLst xmlns:a="http://schemas.openxmlformats.org/drawingml/2006/main">
              <a:ext uri="{FF2B5EF4-FFF2-40B4-BE49-F238E27FC236}">
                <a16:creationId xmlns:a16="http://schemas.microsoft.com/office/drawing/2014/main" id="{4C67C353-A084-4FA2-9523-DD23BCA8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視覺辨識：yolo_webcam_course.html</a:t>
            </a:r>
          </a:p>
        </p:txBody>
      </p:sp>
      <p:sp>
        <p:nvSpPr>
          <p:cNvPr id="27" name="物聯網：esp32_mqtt_course.html">
            <a:extLst xmlns:a="http://schemas.openxmlformats.org/drawingml/2006/main">
              <a:ext uri="{FF2B5EF4-FFF2-40B4-BE49-F238E27FC236}">
                <a16:creationId xmlns:a16="http://schemas.microsoft.com/office/drawing/2014/main" id="{BF377152-E42E-4B76-B5B0-A9AF5376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7212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物聯網：esp32_mqtt_course.html</a:t>
            </a:r>
          </a:p>
        </p:txBody>
      </p:sp>
    </p:spTree>
    <p:extLst>
      <p:ext uri="{BB962C8B-B14F-4D97-AF65-F5344CB8AC3E}">
        <p14:creationId xmlns:p14="http://schemas.microsoft.com/office/powerpoint/2010/main" val="1364856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3C43BF-5365-4703-BE9F-FC16F9A732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5022e4bd24f9c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5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67A4D2D9-8200-492A-B55F-541EA9D3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914525"/>
            <a:ext cx="631507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52E340-930A-41AE-A2E1-F7A62B12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D9B12E7-E3E8-4666-9A3B-50FF5269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16A56EF-D0FA-483C-815F-2FDE57A2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EFBA5A-2465-4FCB-8C87-A2FE7112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8627624-3F6B-4525-8994-30E0708B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4F161DA-9C9B-4A51-AF9B-031C3510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F898DF4-8C40-4AF5-BD9E-42AC0006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778E555-25A8-4FEB-84EE-46C25D23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4ABCDC6-CB5E-4CF4-8318-E6A85A37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3E79F2D-DDFC-48C6-8E02-C7578583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F6BE99E2-5900-42A7-83FE-59E6A4C127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7f757701347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1971675"/>
            <a:ext cx="6200775" cy="2876550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55B69F5-39D7-4CBC-A32C-F3E3AD92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CE2D886E-CF09-4BF1-B274-CAC335EC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06  虛擬儀表開發</a:t>
            </a:r>
          </a:p>
        </p:txBody>
      </p:sp>
      <p:sp>
        <p:nvSpPr>
          <p:cNvPr id="15" name="虛擬電子儀表與丙級模擬系統">
            <a:extLst xmlns:a="http://schemas.openxmlformats.org/drawingml/2006/main">
              <a:ext uri="{FF2B5EF4-FFF2-40B4-BE49-F238E27FC236}">
                <a16:creationId xmlns:a16="http://schemas.microsoft.com/office/drawing/2014/main" id="{B7148C3C-3FAF-485D-98B3-8BEDCF8D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虛擬電子儀表與丙級模擬系統</a:t>
            </a:r>
          </a:p>
        </p:txBody>
      </p:sp>
      <p:sp>
        <p:nvSpPr>
          <p:cNvPr id="16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A186649D-C8F2-4DF0-B9D4-C0706099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7" name="24 / 28">
            <a:extLst xmlns:a="http://schemas.openxmlformats.org/drawingml/2006/main">
              <a:ext uri="{FF2B5EF4-FFF2-40B4-BE49-F238E27FC236}">
                <a16:creationId xmlns:a16="http://schemas.microsoft.com/office/drawing/2014/main" id="{182828E3-8A2C-4795-A591-D261DE11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24 / 28</a:t>
            </a:r>
          </a:p>
        </p:txBody>
      </p:sp>
      <p:sp>
        <p:nvSpPr>
          <p:cNvPr id="18" name="單檔互動模擬器">
            <a:extLst xmlns:a="http://schemas.openxmlformats.org/drawingml/2006/main">
              <a:ext uri="{FF2B5EF4-FFF2-40B4-BE49-F238E27FC236}">
                <a16:creationId xmlns:a16="http://schemas.microsoft.com/office/drawing/2014/main" id="{693B54FA-C89E-4B97-BBDD-9D975CFF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42862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0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單檔互動模擬器</a:t>
            </a:r>
          </a:p>
        </p:txBody>
      </p:sp>
      <p:sp>
        <p:nvSpPr>
          <p:cNvPr id="19" name="整合 GDS-2102E 示波器與 MFG-2110&#10;信號產生器。">
            <a:extLst xmlns:a="http://schemas.openxmlformats.org/drawingml/2006/main">
              <a:ext uri="{FF2B5EF4-FFF2-40B4-BE49-F238E27FC236}">
                <a16:creationId xmlns:a16="http://schemas.microsoft.com/office/drawing/2014/main" id="{8E7EE20D-2D43-4FC9-8047-12FA17AB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4758"/>
            <a:ext cx="42862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整合 GDS-2102E 示波器與 MFG-2110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信號產生器。</a:t>
            </a:r>
          </a:p>
        </p:txBody>
      </p:sp>
      <p:sp>
        <p:nvSpPr>
          <p:cNvPr id="20" name="一鍵連線、開啟輸出並執行 Autoset。">
            <a:extLst xmlns:a="http://schemas.openxmlformats.org/drawingml/2006/main">
              <a:ext uri="{FF2B5EF4-FFF2-40B4-BE49-F238E27FC236}">
                <a16:creationId xmlns:a16="http://schemas.microsoft.com/office/drawing/2014/main" id="{83BC7F75-62FB-46BC-87B7-FB4782EB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4759"/>
            <a:ext cx="42862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一鍵連線、開啟輸出並執行 Autoset。</a:t>
            </a:r>
          </a:p>
        </p:txBody>
      </p:sp>
      <p:sp>
        <p:nvSpPr>
          <p:cNvPr id="21" name="提供靜態觸發、量測讀數與教學導航。">
            <a:extLst xmlns:a="http://schemas.openxmlformats.org/drawingml/2006/main">
              <a:ext uri="{FF2B5EF4-FFF2-40B4-BE49-F238E27FC236}">
                <a16:creationId xmlns:a16="http://schemas.microsoft.com/office/drawing/2014/main" id="{21CEDB4B-8796-40DE-94A1-EAF34CD6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3864"/>
            <a:ext cx="42862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提供靜態觸發、量測讀數與教學導航。</a:t>
            </a:r>
          </a:p>
        </p:txBody>
      </p:sp>
      <p:sp>
        <p:nvSpPr>
          <p:cNvPr id="22" name="含工業電子丙級試題二的 12 題組與評分&#10;流程。">
            <a:extLst xmlns:a="http://schemas.openxmlformats.org/drawingml/2006/main">
              <a:ext uri="{FF2B5EF4-FFF2-40B4-BE49-F238E27FC236}">
                <a16:creationId xmlns:a16="http://schemas.microsoft.com/office/drawing/2014/main" id="{94D3AA58-121F-48CD-AC0C-A1F0186C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2969"/>
            <a:ext cx="42862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含工業電子丙級試題二的 12 題組與評分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流程。</a:t>
            </a:r>
          </a:p>
        </p:txBody>
      </p:sp>
      <p:sp>
        <p:nvSpPr>
          <p:cNvPr id="23" name="使用 SVG 面板與 Canvas 波形，單檔離&#10;線操作。">
            <a:extLst xmlns:a="http://schemas.openxmlformats.org/drawingml/2006/main">
              <a:ext uri="{FF2B5EF4-FFF2-40B4-BE49-F238E27FC236}">
                <a16:creationId xmlns:a16="http://schemas.microsoft.com/office/drawing/2014/main" id="{28598CD5-3154-4B0A-B7ED-BF8AB99E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2970"/>
            <a:ext cx="42862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使用 SVG 面板與 Canvas 波形，單檔離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線操作。</a:t>
            </a:r>
          </a:p>
        </p:txBody>
      </p:sp>
      <p:sp>
        <p:nvSpPr>
          <p:cNvPr id="24" name="信號源連接 CH1，檢查觸發與量測讀數">
            <a:extLst xmlns:a="http://schemas.openxmlformats.org/drawingml/2006/main">
              <a:ext uri="{FF2B5EF4-FFF2-40B4-BE49-F238E27FC236}">
                <a16:creationId xmlns:a16="http://schemas.microsoft.com/office/drawing/2014/main" id="{A129A0C4-983F-4604-B8E6-8CE25F71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0175"/>
            <a:ext cx="620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7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信號源連接 CH1，檢查觸發與量測讀數</a:t>
            </a:r>
          </a:p>
        </p:txBody>
      </p:sp>
    </p:spTree>
    <p:extLst>
      <p:ext uri="{BB962C8B-B14F-4D97-AF65-F5344CB8AC3E}">
        <p14:creationId xmlns:p14="http://schemas.microsoft.com/office/powerpoint/2010/main" val="13632657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FF4CF9-CD68-448F-9A21-5DD388B318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e1f7565d74087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4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2AF9EF29-27C8-4D73-B7F7-CDC7BAFA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914525"/>
            <a:ext cx="631507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D50DD8-D934-4468-AFDD-701B2782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B3B38C1-5B6F-4EC3-A2B2-A4DFBA0F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AF35DE9-186F-4E13-9446-DCB70B8D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FA33A8-0A70-44A1-A847-8FB1682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77A1BC-C956-43AC-B8C2-2F62D141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274EB00-4CAD-44A6-9D84-BCA2649D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57FF88-6E62-4F0C-B67D-DA54F336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65F7DDD-2172-443C-A842-56989CFF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75BE76-F8A0-4261-9B39-5C98B8C0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E72C315-8A38-4399-BFA1-0C523731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4CE3B0A3-957D-42BD-8736-6E1FFC8E02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4580bca449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1971675"/>
            <a:ext cx="6200775" cy="2876550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8637C5C-3BEB-41A2-BD67-AB36C572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3F7A1293-A01D-46B6-97FB-D2A902DB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06  虛擬儀表開發</a:t>
            </a:r>
          </a:p>
        </p:txBody>
      </p:sp>
      <p:sp>
        <p:nvSpPr>
          <p:cNvPr id="15" name="儀表規格與物理模型">
            <a:extLst xmlns:a="http://schemas.openxmlformats.org/drawingml/2006/main">
              <a:ext uri="{FF2B5EF4-FFF2-40B4-BE49-F238E27FC236}">
                <a16:creationId xmlns:a16="http://schemas.microsoft.com/office/drawing/2014/main" id="{9F8439CA-721B-4583-897C-6E92DA28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儀表規格與物理模型</a:t>
            </a:r>
          </a:p>
        </p:txBody>
      </p:sp>
      <p:sp>
        <p:nvSpPr>
          <p:cNvPr id="16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96CC5895-6894-4209-B947-67D43D99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7" name="25 / 28">
            <a:extLst xmlns:a="http://schemas.openxmlformats.org/drawingml/2006/main">
              <a:ext uri="{FF2B5EF4-FFF2-40B4-BE49-F238E27FC236}">
                <a16:creationId xmlns:a16="http://schemas.microsoft.com/office/drawing/2014/main" id="{AE2B5EE6-5B95-4F16-9083-62822AFD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25 / 28</a:t>
            </a:r>
          </a:p>
        </p:txBody>
      </p:sp>
      <p:sp>
        <p:nvSpPr>
          <p:cNvPr id="18" name="手冊與模型依據">
            <a:extLst xmlns:a="http://schemas.openxmlformats.org/drawingml/2006/main">
              <a:ext uri="{FF2B5EF4-FFF2-40B4-BE49-F238E27FC236}">
                <a16:creationId xmlns:a16="http://schemas.microsoft.com/office/drawing/2014/main" id="{93EB3BD7-BF26-4957-B928-51AB6AE9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42862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手冊與模型依據</a:t>
            </a:r>
          </a:p>
        </p:txBody>
      </p:sp>
      <p:sp>
        <p:nvSpPr>
          <p:cNvPr id="19" name="GDS-2000E：垂直與時基的 1–2–5 序列、&#10;校驗方波與暫態模型">
            <a:extLst xmlns:a="http://schemas.openxmlformats.org/drawingml/2006/main">
              <a:ext uri="{FF2B5EF4-FFF2-40B4-BE49-F238E27FC236}">
                <a16:creationId xmlns:a16="http://schemas.microsoft.com/office/drawing/2014/main" id="{85DE1954-CA57-45FA-93F2-9F848CFD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1804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GDS-2000E：垂直與時基的 1–2–5 序列、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校驗方波與暫態模型。</a:t>
            </a:r>
          </a:p>
        </p:txBody>
      </p:sp>
      <p:sp>
        <p:nvSpPr>
          <p:cNvPr id="20" name="MFG-2000：50 Ω 輸出負載效應與 High&#10;Z 設定。">
            <a:extLst xmlns:a="http://schemas.openxmlformats.org/drawingml/2006/main">
              <a:ext uri="{FF2B5EF4-FFF2-40B4-BE49-F238E27FC236}">
                <a16:creationId xmlns:a16="http://schemas.microsoft.com/office/drawing/2014/main" id="{069388EB-1E76-49B7-94C6-4909BB5F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706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MFG-2000：50 Ω 輸出負載效應與 High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Z 設定。</a:t>
            </a:r>
          </a:p>
        </p:txBody>
      </p:sp>
      <p:sp>
        <p:nvSpPr>
          <p:cNvPr id="21" name="工業電子丙級試題二：12 題組、量測條件&#10;與評分規準。">
            <a:extLst xmlns:a="http://schemas.openxmlformats.org/drawingml/2006/main">
              <a:ext uri="{FF2B5EF4-FFF2-40B4-BE49-F238E27FC236}">
                <a16:creationId xmlns:a16="http://schemas.microsoft.com/office/drawing/2014/main" id="{87D7502E-1A59-486D-A03C-21DD0326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1608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工業電子丙級試題二：12 題組、量測條件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與評分規準。</a:t>
            </a:r>
          </a:p>
        </p:txBody>
      </p:sp>
      <p:sp>
        <p:nvSpPr>
          <p:cNvPr id="22" name="runAutoAudit：依教材定義的 10 項條件&#10;進行自動檢查。">
            <a:extLst xmlns:a="http://schemas.openxmlformats.org/drawingml/2006/main">
              <a:ext uri="{FF2B5EF4-FFF2-40B4-BE49-F238E27FC236}">
                <a16:creationId xmlns:a16="http://schemas.microsoft.com/office/drawing/2014/main" id="{78135F34-4F48-433B-ACFB-BEB2355F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1510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runAutoAudit：依教材定義的 10 項條件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進行自動檢查。</a:t>
            </a:r>
          </a:p>
        </p:txBody>
      </p:sp>
      <p:sp>
        <p:nvSpPr>
          <p:cNvPr id="23" name="教學手冊與提示詞頁面，附自動驗收結果">
            <a:extLst xmlns:a="http://schemas.openxmlformats.org/drawingml/2006/main">
              <a:ext uri="{FF2B5EF4-FFF2-40B4-BE49-F238E27FC236}">
                <a16:creationId xmlns:a16="http://schemas.microsoft.com/office/drawing/2014/main" id="{88EB654D-8A9D-4D12-ABDE-EA3C737D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0175"/>
            <a:ext cx="620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72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教學手冊與提示詞頁面，附自動驗收結果</a:t>
            </a:r>
          </a:p>
        </p:txBody>
      </p:sp>
    </p:spTree>
    <p:extLst>
      <p:ext uri="{BB962C8B-B14F-4D97-AF65-F5344CB8AC3E}">
        <p14:creationId xmlns:p14="http://schemas.microsoft.com/office/powerpoint/2010/main" val="19189136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FB097D-6146-4A1F-8E9E-3944814A44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b9777b3914783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0F69C9-9747-479A-87B7-5C5FF0FC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0D56BB-8665-4944-A59C-1E73EC50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CA12793-9075-4BD3-8794-7F4F1B6E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07B9E15-9E94-46D2-9709-D4395B4B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82A006C-3DFE-4318-86CC-8A0A14D7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86E3A20-822A-463F-B3A4-97BF4F9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57BD651-EF43-4900-8EC2-0F181E3A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EFD7661-BD9D-4C3D-99F2-2EEA2A25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CBC796-B062-4826-A07A-23298768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B6E8525-DB30-434F-ADE2-C2757BE8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E9AF235-5F87-4F80-A709-2368981D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60710183-0092-4DF3-8EAB-82AD153F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06  虛擬儀表開發</a:t>
            </a:r>
          </a:p>
        </p:txBody>
      </p:sp>
      <p:sp>
        <p:nvSpPr>
          <p:cNvPr id="14" name="Master Prompt：角色與手冊規格">
            <a:extLst xmlns:a="http://schemas.openxmlformats.org/drawingml/2006/main">
              <a:ext uri="{FF2B5EF4-FFF2-40B4-BE49-F238E27FC236}">
                <a16:creationId xmlns:a16="http://schemas.microsoft.com/office/drawing/2014/main" id="{D8D03561-FF23-4D66-A56D-08F512CF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Master Prompt：角色與手冊規格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A834C2A6-59E6-498C-9FB0-45C24F4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6 / 28">
            <a:extLst xmlns:a="http://schemas.openxmlformats.org/drawingml/2006/main">
              <a:ext uri="{FF2B5EF4-FFF2-40B4-BE49-F238E27FC236}">
                <a16:creationId xmlns:a16="http://schemas.microsoft.com/office/drawing/2014/main" id="{375029AB-115F-41C1-A690-696F62C9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26 / 28</a:t>
            </a:r>
          </a:p>
        </p:txBody>
      </p:sp>
      <p:sp>
        <p:nvSpPr>
          <p:cNvPr id="17" name="角色、任務與工作流">
            <a:extLst xmlns:a="http://schemas.openxmlformats.org/drawingml/2006/main">
              <a:ext uri="{FF2B5EF4-FFF2-40B4-BE49-F238E27FC236}">
                <a16:creationId xmlns:a16="http://schemas.microsoft.com/office/drawing/2014/main" id="{E20388E2-BFB9-4189-B217-85F5AFEC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8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角色、任務與工作流</a:t>
            </a:r>
          </a:p>
        </p:txBody>
      </p:sp>
      <p:sp>
        <p:nvSpPr>
          <p:cNvPr id="18" name="角色：熟悉電子儀器模擬與丙級術科的工程師及教師。">
            <a:extLst xmlns:a="http://schemas.openxmlformats.org/drawingml/2006/main">
              <a:ext uri="{FF2B5EF4-FFF2-40B4-BE49-F238E27FC236}">
                <a16:creationId xmlns:a16="http://schemas.microsoft.com/office/drawing/2014/main" id="{DFCF2398-BA3B-4C1C-81AA-E2E03EEE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角色：熟悉電子儀器模擬與丙級術科的工程師及教師。</a:t>
            </a:r>
          </a:p>
        </p:txBody>
      </p:sp>
      <p:sp>
        <p:nvSpPr>
          <p:cNvPr id="19" name="成果：單一 instrument.html。">
            <a:extLst xmlns:a="http://schemas.openxmlformats.org/drawingml/2006/main">
              <a:ext uri="{FF2B5EF4-FFF2-40B4-BE49-F238E27FC236}">
                <a16:creationId xmlns:a16="http://schemas.microsoft.com/office/drawing/2014/main" id="{4283C7AC-9342-4C4D-9420-68155633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461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成果：單一 instrument.html。</a:t>
            </a:r>
          </a:p>
        </p:txBody>
      </p:sp>
      <p:sp>
        <p:nvSpPr>
          <p:cNvPr id="20" name="內容：示波器、信號源、12 題組與自動評分。">
            <a:extLst xmlns:a="http://schemas.openxmlformats.org/drawingml/2006/main">
              <a:ext uri="{FF2B5EF4-FFF2-40B4-BE49-F238E27FC236}">
                <a16:creationId xmlns:a16="http://schemas.microsoft.com/office/drawing/2014/main" id="{4C71AAE7-3301-4D85-A5AD-852D988B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943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內容：示波器、信號源、12 題組與自動評分。</a:t>
            </a:r>
          </a:p>
        </p:txBody>
      </p:sp>
      <p:sp>
        <p:nvSpPr>
          <p:cNvPr id="21" name="流程：解析手冊、模組化開發、跨裝置測試。">
            <a:extLst xmlns:a="http://schemas.openxmlformats.org/drawingml/2006/main">
              <a:ext uri="{FF2B5EF4-FFF2-40B4-BE49-F238E27FC236}">
                <a16:creationId xmlns:a16="http://schemas.microsoft.com/office/drawing/2014/main" id="{091C1DDD-D4ED-45BD-9A3D-F54EDA4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424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流程：解析手冊、模組化開發、跨裝置測試。</a:t>
            </a:r>
          </a:p>
        </p:txBody>
      </p:sp>
      <p:sp>
        <p:nvSpPr>
          <p:cNvPr id="22" name="驗證尺寸：375、768、1440 px，執行&#10;runAutoAudit">
            <a:extLst xmlns:a="http://schemas.openxmlformats.org/drawingml/2006/main">
              <a:ext uri="{FF2B5EF4-FFF2-40B4-BE49-F238E27FC236}">
                <a16:creationId xmlns:a16="http://schemas.microsoft.com/office/drawing/2014/main" id="{0EEE3FAD-F26F-4478-82D8-7ED8BC8F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060"/>
            <a:ext cx="5162550" cy="61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驗證尺寸：375、768、1440 px，執行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runAutoAudit()。</a:t>
            </a:r>
          </a:p>
        </p:txBody>
      </p:sp>
      <p:sp>
        <p:nvSpPr>
          <p:cNvPr id="23" name="手冊規格摘要">
            <a:extLst xmlns:a="http://schemas.openxmlformats.org/drawingml/2006/main">
              <a:ext uri="{FF2B5EF4-FFF2-40B4-BE49-F238E27FC236}">
                <a16:creationId xmlns:a16="http://schemas.microsoft.com/office/drawing/2014/main" id="{D271968B-B31A-49BB-9454-1B0ED702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875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手冊規格摘要</a:t>
            </a:r>
          </a:p>
        </p:txBody>
      </p:sp>
      <p:sp>
        <p:nvSpPr>
          <p:cNvPr id="24" name="示波器：1 mV–10 V/div、1 ns–100 s/div，採&#10;1">
            <a:extLst xmlns:a="http://schemas.openxmlformats.org/drawingml/2006/main">
              <a:ext uri="{FF2B5EF4-FFF2-40B4-BE49-F238E27FC236}">
                <a16:creationId xmlns:a16="http://schemas.microsoft.com/office/drawing/2014/main" id="{18B5C547-CA32-4985-9E16-393A1F34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5162550" cy="61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示波器：1 mV–10 V/div、1 ns–100 s/div，採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1–2–5 序列。</a:t>
            </a:r>
          </a:p>
        </p:txBody>
      </p:sp>
      <p:sp>
        <p:nvSpPr>
          <p:cNvPr id="25" name="螢幕：800 × 536，10 × 8 格線。">
            <a:extLst xmlns:a="http://schemas.openxmlformats.org/drawingml/2006/main">
              <a:ext uri="{FF2B5EF4-FFF2-40B4-BE49-F238E27FC236}">
                <a16:creationId xmlns:a16="http://schemas.microsoft.com/office/drawing/2014/main" id="{85CCAE7C-2A63-4DC8-B74D-37901FDC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9603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螢幕：800 × 536，10 × 8 格線。</a:t>
            </a:r>
          </a:p>
        </p:txBody>
      </p:sp>
      <p:sp>
        <p:nvSpPr>
          <p:cNvPr id="26" name="負載：50 Ω 與 High Z 的輸出電壓差異。">
            <a:extLst xmlns:a="http://schemas.openxmlformats.org/drawingml/2006/main">
              <a:ext uri="{FF2B5EF4-FFF2-40B4-BE49-F238E27FC236}">
                <a16:creationId xmlns:a16="http://schemas.microsoft.com/office/drawing/2014/main" id="{5723C340-8BBC-46E3-8136-32A876DB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44418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負載：50 Ω 與 High Z 的輸出電壓差異。</a:t>
            </a:r>
          </a:p>
        </p:txBody>
      </p:sp>
      <p:sp>
        <p:nvSpPr>
          <p:cNvPr id="27" name="換算：正弦波 Vpp = 2√2 Vrms，三角波 Vpp =&#10;2√3 ">
            <a:extLst xmlns:a="http://schemas.openxmlformats.org/drawingml/2006/main">
              <a:ext uri="{FF2B5EF4-FFF2-40B4-BE49-F238E27FC236}">
                <a16:creationId xmlns:a16="http://schemas.microsoft.com/office/drawing/2014/main" id="{3D0BF4E8-8272-4CF6-A112-0F1C3BB8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9233"/>
            <a:ext cx="5162550" cy="61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換算：正弦波 Vpp = 2√2 Vrms，三角波 Vpp =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2√3 Vrms。</a:t>
            </a:r>
          </a:p>
        </p:txBody>
      </p:sp>
      <p:sp>
        <p:nvSpPr>
          <p:cNvPr id="28" name="試題條件：1 kHz、3.000 Vpp、探棒 1:1、DC 耦合。">
            <a:extLst xmlns:a="http://schemas.openxmlformats.org/drawingml/2006/main">
              <a:ext uri="{FF2B5EF4-FFF2-40B4-BE49-F238E27FC236}">
                <a16:creationId xmlns:a16="http://schemas.microsoft.com/office/drawing/2014/main" id="{1BACBAB7-4F16-4146-9E01-7F9B58E3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79036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試題條件：1 kHz、3.000 Vpp、探棒 1:1、DC 耦合。</a:t>
            </a:r>
          </a:p>
        </p:txBody>
      </p:sp>
    </p:spTree>
    <p:extLst>
      <p:ext uri="{BB962C8B-B14F-4D97-AF65-F5344CB8AC3E}">
        <p14:creationId xmlns:p14="http://schemas.microsoft.com/office/powerpoint/2010/main" val="15867225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F2723C-817F-4F32-BB99-F26CEAA28B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6f371ec9842d8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17D271-7442-4989-B784-FC0713DA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8DEB79-8B05-4E01-BE73-2529F65F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72D0E4-BC66-4EA3-ABD8-0EEDEB86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FD2DF3A-FE33-4788-A300-04956F6D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238514F-CDDD-4995-B552-A8A8B7EC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BDF556B-6534-4C54-915B-387746A9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ED6AFC-9E53-4E8B-ACD2-3462A87E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975121C-F5A9-4895-A265-D5E82910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C398CEA-CEAE-4B59-8BF8-37C7471E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E524AD7-08AC-418A-BB21-F4DAB536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50EB260-FC76-4BF5-93FE-2FCBA1CE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902C7A4F-E796-49A9-84BA-5CEED4C4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06  虛擬儀表開發</a:t>
            </a:r>
          </a:p>
        </p:txBody>
      </p:sp>
      <p:sp>
        <p:nvSpPr>
          <p:cNvPr id="14" name="Master Prompt：引擎與驗收條件">
            <a:extLst xmlns:a="http://schemas.openxmlformats.org/drawingml/2006/main">
              <a:ext uri="{FF2B5EF4-FFF2-40B4-BE49-F238E27FC236}">
                <a16:creationId xmlns:a16="http://schemas.microsoft.com/office/drawing/2014/main" id="{CCCA8267-8D79-41B5-A68B-A6C6B03A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Master Prompt：引擎與驗收條件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860F80F6-18CD-4E91-A588-A65C3B54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7 / 28">
            <a:extLst xmlns:a="http://schemas.openxmlformats.org/drawingml/2006/main">
              <a:ext uri="{FF2B5EF4-FFF2-40B4-BE49-F238E27FC236}">
                <a16:creationId xmlns:a16="http://schemas.microsoft.com/office/drawing/2014/main" id="{6CA1619E-CA2C-4AE5-9C26-F26B4B00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27 / 28</a:t>
            </a:r>
          </a:p>
        </p:txBody>
      </p:sp>
      <p:sp>
        <p:nvSpPr>
          <p:cNvPr id="17" name="引擎與介面規格">
            <a:extLst xmlns:a="http://schemas.openxmlformats.org/drawingml/2006/main">
              <a:ext uri="{FF2B5EF4-FFF2-40B4-BE49-F238E27FC236}">
                <a16:creationId xmlns:a16="http://schemas.microsoft.com/office/drawing/2014/main" id="{5F640D6D-1E2D-4ADE-A9D0-E082239A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引擎與介面規格</a:t>
            </a:r>
          </a:p>
        </p:txBody>
      </p:sp>
      <p:sp>
        <p:nvSpPr>
          <p:cNvPr id="18" name="單檔、零外部相依、離線操作。">
            <a:extLst xmlns:a="http://schemas.openxmlformats.org/drawingml/2006/main">
              <a:ext uri="{FF2B5EF4-FFF2-40B4-BE49-F238E27FC236}">
                <a16:creationId xmlns:a16="http://schemas.microsoft.com/office/drawing/2014/main" id="{E0D24983-D99F-4FDC-8304-C135FE44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27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單檔、零外部相依、離線操作。</a:t>
            </a:r>
          </a:p>
        </p:txBody>
      </p:sp>
      <p:sp>
        <p:nvSpPr>
          <p:cNvPr id="19" name="使用台灣電子量測術語。">
            <a:extLst xmlns:a="http://schemas.openxmlformats.org/drawingml/2006/main">
              <a:ext uri="{FF2B5EF4-FFF2-40B4-BE49-F238E27FC236}">
                <a16:creationId xmlns:a16="http://schemas.microsoft.com/office/drawing/2014/main" id="{7D2D284D-1078-4F06-8175-30C4D728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471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使用台灣電子量測術語。</a:t>
            </a:r>
          </a:p>
        </p:txBody>
      </p:sp>
      <p:sp>
        <p:nvSpPr>
          <p:cNvPr id="20" name="提供一鍵連接信號源至 CH1。">
            <a:extLst xmlns:a="http://schemas.openxmlformats.org/drawingml/2006/main">
              <a:ext uri="{FF2B5EF4-FFF2-40B4-BE49-F238E27FC236}">
                <a16:creationId xmlns:a16="http://schemas.microsoft.com/office/drawing/2014/main" id="{02DD7A22-D58F-486C-BDEB-313D41B9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667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提供一鍵連接信號源至 CH1。</a:t>
            </a:r>
          </a:p>
        </p:txBody>
      </p:sp>
      <p:sp>
        <p:nvSpPr>
          <p:cNvPr id="21" name="觸發時鎖定正向過零相位，未觸發時顯示漂移。">
            <a:extLst xmlns:a="http://schemas.openxmlformats.org/drawingml/2006/main">
              <a:ext uri="{FF2B5EF4-FFF2-40B4-BE49-F238E27FC236}">
                <a16:creationId xmlns:a16="http://schemas.microsoft.com/office/drawing/2014/main" id="{4EF6A235-2AE7-4F03-A1B5-098F83CB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觸發時鎖定正向過零相位，未觸發時顯示漂移。</a:t>
            </a:r>
          </a:p>
        </p:txBody>
      </p:sp>
      <p:sp>
        <p:nvSpPr>
          <p:cNvPr id="22" name="Autoset：振幅 3–6.5 格、畫面 2–4 個週期。">
            <a:extLst xmlns:a="http://schemas.openxmlformats.org/drawingml/2006/main">
              <a:ext uri="{FF2B5EF4-FFF2-40B4-BE49-F238E27FC236}">
                <a16:creationId xmlns:a16="http://schemas.microsoft.com/office/drawing/2014/main" id="{012CEEF2-6433-43A6-985A-3D7D3AD4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59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Autoset：振幅 3–6.5 格、畫面 2–4 個週期。</a:t>
            </a:r>
          </a:p>
        </p:txBody>
      </p:sp>
      <p:sp>
        <p:nvSpPr>
          <p:cNvPr id="23" name="Measure：280 × 92 px、18 px 粗體讀數。">
            <a:extLst xmlns:a="http://schemas.openxmlformats.org/drawingml/2006/main">
              <a:ext uri="{FF2B5EF4-FFF2-40B4-BE49-F238E27FC236}">
                <a16:creationId xmlns:a16="http://schemas.microsoft.com/office/drawing/2014/main" id="{CB91BA6F-3FBD-4B0A-8AF4-35B07147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25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Measure：280 × 92 px、18 px 粗體讀數。</a:t>
            </a:r>
          </a:p>
        </p:txBody>
      </p:sp>
      <p:sp>
        <p:nvSpPr>
          <p:cNvPr id="24" name="導航與十項驗收">
            <a:extLst xmlns:a="http://schemas.openxmlformats.org/drawingml/2006/main">
              <a:ext uri="{FF2B5EF4-FFF2-40B4-BE49-F238E27FC236}">
                <a16:creationId xmlns:a16="http://schemas.microsoft.com/office/drawing/2014/main" id="{B0B830A8-361D-43E5-A5CE-C5737CF6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195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導航與十項驗收</a:t>
            </a:r>
          </a:p>
        </p:txBody>
      </p:sp>
      <p:sp>
        <p:nvSpPr>
          <p:cNvPr id="25" name="示波器與信號源各提供 10 步教學，每 3.5 秒推進。">
            <a:extLst xmlns:a="http://schemas.openxmlformats.org/drawingml/2006/main">
              <a:ext uri="{FF2B5EF4-FFF2-40B4-BE49-F238E27FC236}">
                <a16:creationId xmlns:a16="http://schemas.microsoft.com/office/drawing/2014/main" id="{EC70535D-34BF-47B5-8D12-18BAC342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27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示波器與信號源各提供 10 步教學，每 3.5 秒推進。</a:t>
            </a:r>
          </a:p>
        </p:txBody>
      </p:sp>
      <p:sp>
        <p:nvSpPr>
          <p:cNvPr id="26" name="驗收：離線相依、探棒補償、負載效應、Autoset、&#10;觸發鎖定。">
            <a:extLst xmlns:a="http://schemas.openxmlformats.org/drawingml/2006/main">
              <a:ext uri="{FF2B5EF4-FFF2-40B4-BE49-F238E27FC236}">
                <a16:creationId xmlns:a16="http://schemas.microsoft.com/office/drawing/2014/main" id="{A9F8C3A6-7D42-4AA4-AE0A-CF50C247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4714"/>
            <a:ext cx="51625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驗收：離線相依、探棒補償、負載效應、Autoset、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觸發鎖定。</a:t>
            </a:r>
          </a:p>
        </p:txBody>
      </p:sp>
      <p:sp>
        <p:nvSpPr>
          <p:cNvPr id="27" name="另驗收：12 題組、觸控尺寸、探棒倍率、雙教學導&#10;航與量測可讀性。">
            <a:extLst xmlns:a="http://schemas.openxmlformats.org/drawingml/2006/main">
              <a:ext uri="{FF2B5EF4-FFF2-40B4-BE49-F238E27FC236}">
                <a16:creationId xmlns:a16="http://schemas.microsoft.com/office/drawing/2014/main" id="{AD7CE641-8B32-443E-BE49-5B36AB23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4616"/>
            <a:ext cx="51625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另驗收：12 題組、觸控尺寸、探棒倍率、雙教學導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航與量測可讀性。</a:t>
            </a:r>
          </a:p>
        </p:txBody>
      </p:sp>
      <p:sp>
        <p:nvSpPr>
          <p:cNvPr id="28" name="完整規格與公式見本頁備忘稿，或 instrument.html&#10;的教學手">
            <a:extLst xmlns:a="http://schemas.openxmlformats.org/drawingml/2006/main">
              <a:ext uri="{FF2B5EF4-FFF2-40B4-BE49-F238E27FC236}">
                <a16:creationId xmlns:a16="http://schemas.microsoft.com/office/drawing/2014/main" id="{00627FAE-599C-47E5-9D33-9E83D3B2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4518"/>
            <a:ext cx="51625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完整規格與公式見本頁備忘稿，或 instrument.html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的教學手冊分頁。</a:t>
            </a:r>
          </a:p>
        </p:txBody>
      </p:sp>
    </p:spTree>
    <p:extLst>
      <p:ext uri="{BB962C8B-B14F-4D97-AF65-F5344CB8AC3E}">
        <p14:creationId xmlns:p14="http://schemas.microsoft.com/office/powerpoint/2010/main" val="7514362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D2605A-218A-492B-BE30-6A35CBA990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04aba0b4347b8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2CB7C6-B92E-4AAD-9CBB-23FBA60A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E922051-362E-4117-B81A-BC476490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109A383-F48A-418B-8C0A-1D6DED33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3F99B2-6BE9-4A04-A17E-8FE7288F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233215-ED6A-47A1-9E26-0528EF6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0DD7F02-B893-4560-80C4-87F1CC9F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EFCEEF0-D7DD-4AED-B384-B61AAF9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7F9D61E-DC2B-4F97-A154-5BEA3207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608B30B-1C09-4FA4-989E-8F19CA30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2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C203359-BE10-45BF-A5C2-1D078059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EBE4C0-008A-432F-B58C-2014122C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研習總結">
            <a:extLst xmlns:a="http://schemas.openxmlformats.org/drawingml/2006/main">
              <a:ext uri="{FF2B5EF4-FFF2-40B4-BE49-F238E27FC236}">
                <a16:creationId xmlns:a16="http://schemas.microsoft.com/office/drawing/2014/main" id="{87709245-7238-4F99-B725-09754F92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>
                <a:solidFill>
                  <a:srgbClr val="B75F35"/>
                </a:solidFill>
                <a:latin typeface="Noto Serif TC"/>
                <a:ea typeface="Noto Serif TC"/>
                <a:cs typeface="Noto Serif TC"/>
              </a:rPr>
              <a:t>研習總結</a:t>
            </a:r>
          </a:p>
        </p:txBody>
      </p:sp>
      <p:sp>
        <p:nvSpPr>
          <p:cNvPr id="14" name="研習成果與教具開發思維">
            <a:extLst xmlns:a="http://schemas.openxmlformats.org/drawingml/2006/main">
              <a:ext uri="{FF2B5EF4-FFF2-40B4-BE49-F238E27FC236}">
                <a16:creationId xmlns:a16="http://schemas.microsoft.com/office/drawing/2014/main" id="{CDB73065-4F52-4C93-AE5D-96DF426B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30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研習成果與教具開發思維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DCE103B4-5DF5-4767-B1F3-82291605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8 / 28">
            <a:extLst xmlns:a="http://schemas.openxmlformats.org/drawingml/2006/main">
              <a:ext uri="{FF2B5EF4-FFF2-40B4-BE49-F238E27FC236}">
                <a16:creationId xmlns:a16="http://schemas.microsoft.com/office/drawing/2014/main" id="{30347B75-725F-4A7E-9B9E-367CD2BC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757D87"/>
                </a:solidFill>
                <a:latin typeface="Microsoft JhengHei"/>
                <a:ea typeface="Microsoft JhengHei"/>
                <a:cs typeface="Microsoft JhengHei"/>
              </a:rPr>
              <a:t>28 / 28</a:t>
            </a:r>
          </a:p>
        </p:txBody>
      </p:sp>
      <p:sp>
        <p:nvSpPr>
          <p:cNvPr id="17" name="今日實作成果">
            <a:extLst xmlns:a="http://schemas.openxmlformats.org/drawingml/2006/main">
              <a:ext uri="{FF2B5EF4-FFF2-40B4-BE49-F238E27FC236}">
                <a16:creationId xmlns:a16="http://schemas.microsoft.com/office/drawing/2014/main" id="{970ABE7A-C024-4230-808F-15FEA615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今日實作成果</a:t>
            </a:r>
          </a:p>
        </p:txBody>
      </p:sp>
      <p:sp>
        <p:nvSpPr>
          <p:cNvPr id="18" name="建立教學工作區與環境健檢流程。">
            <a:extLst xmlns:a="http://schemas.openxmlformats.org/drawingml/2006/main">
              <a:ext uri="{FF2B5EF4-FFF2-40B4-BE49-F238E27FC236}">
                <a16:creationId xmlns:a16="http://schemas.microsoft.com/office/drawing/2014/main" id="{1406983E-739E-4FC0-9CB5-6C2262DE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建立教學工作區與環境健檢流程。</a:t>
            </a:r>
          </a:p>
        </p:txBody>
      </p:sp>
      <p:sp>
        <p:nvSpPr>
          <p:cNvPr id="19" name="設計戴維寧題庫與標準電路圖。">
            <a:extLst xmlns:a="http://schemas.openxmlformats.org/drawingml/2006/main">
              <a:ext uri="{FF2B5EF4-FFF2-40B4-BE49-F238E27FC236}">
                <a16:creationId xmlns:a16="http://schemas.microsoft.com/office/drawing/2014/main" id="{F68D3C83-5C12-458B-96C7-0289571B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設計戴維寧題庫與標準電路圖。</a:t>
            </a:r>
          </a:p>
        </p:txBody>
      </p:sp>
      <p:sp>
        <p:nvSpPr>
          <p:cNvPr id="20" name="推導 BJT 小訊號模型與互動計算。">
            <a:extLst xmlns:a="http://schemas.openxmlformats.org/drawingml/2006/main">
              <a:ext uri="{FF2B5EF4-FFF2-40B4-BE49-F238E27FC236}">
                <a16:creationId xmlns:a16="http://schemas.microsoft.com/office/drawing/2014/main" id="{9D84BA15-EE96-4F46-8656-1C00A47D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推導 BJT 小訊號模型與互動計算。</a:t>
            </a:r>
          </a:p>
        </p:txBody>
      </p:sp>
      <p:sp>
        <p:nvSpPr>
          <p:cNvPr id="21" name="完成 Excel 加權成績及學情分析。">
            <a:extLst xmlns:a="http://schemas.openxmlformats.org/drawingml/2006/main">
              <a:ext uri="{FF2B5EF4-FFF2-40B4-BE49-F238E27FC236}">
                <a16:creationId xmlns:a16="http://schemas.microsoft.com/office/drawing/2014/main" id="{DD972E16-7A53-4C62-8C2F-61988246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完成 Excel 加權成績及學情分析。</a:t>
            </a:r>
          </a:p>
        </p:txBody>
      </p:sp>
      <p:sp>
        <p:nvSpPr>
          <p:cNvPr id="22" name="發布 GitHub Pages 教材。">
            <a:extLst xmlns:a="http://schemas.openxmlformats.org/drawingml/2006/main">
              <a:ext uri="{FF2B5EF4-FFF2-40B4-BE49-F238E27FC236}">
                <a16:creationId xmlns:a16="http://schemas.microsoft.com/office/drawing/2014/main" id="{434D4DBE-5907-4909-9349-53B31177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3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發布 GitHub Pages 教材。</a:t>
            </a:r>
          </a:p>
        </p:txBody>
      </p:sp>
      <p:sp>
        <p:nvSpPr>
          <p:cNvPr id="23" name="規劃虛擬儀表與丙級教具。">
            <a:extLst xmlns:a="http://schemas.openxmlformats.org/drawingml/2006/main">
              <a:ext uri="{FF2B5EF4-FFF2-40B4-BE49-F238E27FC236}">
                <a16:creationId xmlns:a16="http://schemas.microsoft.com/office/drawing/2014/main" id="{5139B2D4-B65A-4808-B02B-68771677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規劃虛擬儀表與丙級教具。</a:t>
            </a:r>
          </a:p>
        </p:txBody>
      </p:sp>
      <p:sp>
        <p:nvSpPr>
          <p:cNvPr id="24" name="教具開發的工作方法">
            <a:extLst xmlns:a="http://schemas.openxmlformats.org/drawingml/2006/main">
              <a:ext uri="{FF2B5EF4-FFF2-40B4-BE49-F238E27FC236}">
                <a16:creationId xmlns:a16="http://schemas.microsoft.com/office/drawing/2014/main" id="{00A34535-3C26-42B2-85FF-D18277CF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defRPr>
            </a:pPr>
            <a:r>
              <a:rPr sz="2100" b="1">
                <a:solidFill>
                  <a:srgbClr val="213552"/>
                </a:solidFill>
                <a:latin typeface="Noto Serif TC"/>
                <a:ea typeface="Noto Serif TC"/>
                <a:cs typeface="Noto Serif TC"/>
              </a:rPr>
              <a:t>教具開發的工作方法</a:t>
            </a:r>
          </a:p>
        </p:txBody>
      </p:sp>
      <p:sp>
        <p:nvSpPr>
          <p:cNvPr id="25" name="先定義規格，再請代理執行。">
            <a:extLst xmlns:a="http://schemas.openxmlformats.org/drawingml/2006/main">
              <a:ext uri="{FF2B5EF4-FFF2-40B4-BE49-F238E27FC236}">
                <a16:creationId xmlns:a16="http://schemas.microsoft.com/office/drawing/2014/main" id="{76EBFB06-B4E0-4D13-9FE2-273D0FAB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先定義規格，再請代理執行。</a:t>
            </a:r>
          </a:p>
        </p:txBody>
      </p:sp>
      <p:sp>
        <p:nvSpPr>
          <p:cNvPr id="26" name="將學科公式、操作條件與驗收標準寫清楚。">
            <a:extLst xmlns:a="http://schemas.openxmlformats.org/drawingml/2006/main">
              <a:ext uri="{FF2B5EF4-FFF2-40B4-BE49-F238E27FC236}">
                <a16:creationId xmlns:a16="http://schemas.microsoft.com/office/drawing/2014/main" id="{E93B48AC-020E-42A6-8D31-4ACF5BC0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將學科公式、操作條件與驗收標準寫清楚。</a:t>
            </a:r>
          </a:p>
        </p:txBody>
      </p:sp>
      <p:sp>
        <p:nvSpPr>
          <p:cNvPr id="27" name="用實際成果檢查工具的輸出。">
            <a:extLst xmlns:a="http://schemas.openxmlformats.org/drawingml/2006/main">
              <a:ext uri="{FF2B5EF4-FFF2-40B4-BE49-F238E27FC236}">
                <a16:creationId xmlns:a16="http://schemas.microsoft.com/office/drawing/2014/main" id="{D77DD9C2-87CB-430B-AE6E-2CACFDBD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用實際成果檢查工具的輸出。</a:t>
            </a:r>
          </a:p>
        </p:txBody>
      </p:sp>
      <p:sp>
        <p:nvSpPr>
          <p:cNvPr id="28" name="保留教師的專業判斷，持續修正教材與教學設計。">
            <a:extLst xmlns:a="http://schemas.openxmlformats.org/drawingml/2006/main">
              <a:ext uri="{FF2B5EF4-FFF2-40B4-BE49-F238E27FC236}">
                <a16:creationId xmlns:a16="http://schemas.microsoft.com/office/drawing/2014/main" id="{9436C4C3-7598-4E1F-B9B0-382C7F9A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404A59"/>
                </a:solidFill>
                <a:latin typeface="Microsoft JhengHei"/>
                <a:ea typeface="Microsoft JhengHei"/>
                <a:cs typeface="Microsoft JhengHei"/>
              </a:rPr>
              <a:t>保留教師的專業判斷，持續修正教材與教學設計。</a:t>
            </a:r>
          </a:p>
        </p:txBody>
      </p:sp>
    </p:spTree>
    <p:extLst>
      <p:ext uri="{BB962C8B-B14F-4D97-AF65-F5344CB8AC3E}">
        <p14:creationId xmlns:p14="http://schemas.microsoft.com/office/powerpoint/2010/main" val="15566741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2026-10-18T04:57:34.1500000Z</dcterms:created>
  <dcterms:modified xsi:type="dcterms:W3CDTF">2026-10-18T04:57:34.1500000Z</dcterms:modified>
</coreProperties>
</file>