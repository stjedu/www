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開場說辭：各位老師好！今天這場研習我們從零基礎環境建立出發，一路帶大家體驗基本電學與電子學 BJT 小訊號自動繪圖、MCP 自動修課、Excel 算成績，最後展示如何用一份大師級提示詞打造工業電子丙級虛擬示波器！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285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93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09F3E"/>
                </a:solidFill>
                <a:latin typeface="微軟正黑體"/>
              </a:defRPr>
            </a:pPr>
            <a:r>
              <a:t>🌿 ANTIGRAVITY 代理 AI 於教學上的應用研習（旗艦完整版）</a:t>
            </a:r>
          </a:p>
          <a:p>
            <a:pPr>
              <a:spcAft>
                <a:spcPts val="1800"/>
              </a:spcAft>
              <a:defRPr sz="4200" b="1">
                <a:solidFill>
                  <a:srgbClr val="FAF7F2"/>
                </a:solidFill>
                <a:latin typeface="微軟正黑體"/>
              </a:defRPr>
            </a:pPr>
            <a:r>
              <a:t>打通任督二脈：</a:t>
            </a:r>
            <a:br/>
            <a:r>
              <a:t>從對話到代理執行 ✕ 電學圖解 ✕ 教具開發</a:t>
            </a:r>
          </a:p>
          <a:p>
            <a:pPr>
              <a:defRPr sz="1900">
                <a:solidFill>
                  <a:srgbClr val="DAE2DB"/>
                </a:solidFill>
                <a:latin typeface="微軟正黑體"/>
              </a:defRPr>
            </a:pPr>
            <a:r>
              <a:t>環境巡檢建置 ✕ 基本電學與 BJT 小訊號圖解 ✕ 磨課師 MCP ✕ Excel 成績加權 ✕ 虛擬電子儀表實戰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48640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3B9"/>
                </a:solidFill>
                <a:latin typeface="微軟正黑體"/>
              </a:defRPr>
            </a:pPr>
            <a:r>
              <a:t>🎯 研習對象：中小學與技術型高中教師（零基礎友善）  |  🌐 研習網站：https://stjedu.github.io/www/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研習導覽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02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今日研習大綱與六大單元學習地圖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3429000" cy="109728"/>
          </a:xfrm>
          <a:prstGeom prst="round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09928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435"/>
                </a:solidFill>
                <a:latin typeface="微軟正黑體"/>
              </a:defRPr>
            </a:pPr>
            <a:r>
              <a:t>單元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700" b="1">
                <a:solidFill>
                  <a:srgbClr val="2B2D42"/>
                </a:solidFill>
                <a:latin typeface="微軟正黑體"/>
              </a:defRPr>
            </a:pPr>
            <a:r>
              <a:t>代理 AI 觀念啟蒙 (P.03~05)</a:t>
            </a:r>
          </a:p>
          <a:p>
            <a:pPr>
              <a:lnSpc>
                <a:spcPct val="125000"/>
              </a:lnSpc>
              <a:defRPr sz="1350">
                <a:solidFill>
                  <a:srgbClr val="6C757D"/>
                </a:solidFill>
                <a:latin typeface="微軟正黑體"/>
              </a:defRPr>
            </a:pPr>
            <a:r>
              <a:t>顧問 vs. 數位實習老師，跨時代的自主規劃、工具調用與實體建檔超能力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508760"/>
            <a:ext cx="3429000" cy="10972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09928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單元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700" b="1">
                <a:solidFill>
                  <a:srgbClr val="2B2D42"/>
                </a:solidFill>
                <a:latin typeface="微軟正黑體"/>
              </a:defRPr>
            </a:pPr>
            <a:r>
              <a:t>環境建置與安全檢測 (P.06~09)</a:t>
            </a:r>
          </a:p>
          <a:p>
            <a:pPr>
              <a:lnSpc>
                <a:spcPct val="125000"/>
              </a:lnSpc>
              <a:defRPr sz="1350">
                <a:solidFill>
                  <a:srgbClr val="6C757D"/>
                </a:solidFill>
                <a:latin typeface="微軟正黑體"/>
              </a:defRPr>
            </a:pPr>
            <a:r>
              <a:t>AI 數位辦公桌建立、沙盒隔離機制保障、零代碼一鍵安裝 Python 與繪圖套件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429000" cy="109728"/>
          </a:xfrm>
          <a:prstGeom prst="roundRect">
            <a:avLst/>
          </a:prstGeom>
          <a:solidFill>
            <a:srgbClr val="E0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09928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9F3E"/>
                </a:solidFill>
                <a:latin typeface="微軟正黑體"/>
              </a:defRPr>
            </a:pPr>
            <a:r>
              <a:t>單元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700" b="1">
                <a:solidFill>
                  <a:srgbClr val="2B2D42"/>
                </a:solidFill>
                <a:latin typeface="微軟正黑體"/>
              </a:defRPr>
            </a:pPr>
            <a:r>
              <a:t>提示語大師 ✕ 電學與電子學實測 (P.10~17)</a:t>
            </a:r>
          </a:p>
          <a:p>
            <a:pPr>
              <a:lnSpc>
                <a:spcPct val="125000"/>
              </a:lnSpc>
              <a:defRPr sz="1350">
                <a:solidFill>
                  <a:srgbClr val="6C757D"/>
                </a:solidFill>
                <a:latin typeface="微軟正黑體"/>
              </a:defRPr>
            </a:pPr>
            <a:r>
              <a:t>CRIS 架構、戴維寧等效電路、BJT 共射極 rπ 小訊號模型、MCP 磨課師自動伴讀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886200"/>
            <a:ext cx="3429000" cy="109728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87368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7C41"/>
                </a:solidFill>
                <a:latin typeface="微軟正黑體"/>
              </a:defRPr>
            </a:pPr>
            <a:r>
              <a:t>單元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700" b="1">
                <a:solidFill>
                  <a:srgbClr val="2B2D42"/>
                </a:solidFill>
                <a:latin typeface="微軟正黑體"/>
              </a:defRPr>
            </a:pPr>
            <a:r>
              <a:t>Excel 算成績全自動化 (P.18~20)</a:t>
            </a:r>
          </a:p>
          <a:p>
            <a:pPr>
              <a:lnSpc>
                <a:spcPct val="125000"/>
              </a:lnSpc>
              <a:defRPr sz="1350">
                <a:solidFill>
                  <a:srgbClr val="6C757D"/>
                </a:solidFill>
                <a:latin typeface="微軟正黑體"/>
              </a:defRPr>
            </a:pPr>
            <a:r>
              <a:t>段考實習加權算分、不及格粉紅底色標記、成績分布長條圖與學情分析摘要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8620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3886200"/>
            <a:ext cx="3429000" cy="109728"/>
          </a:xfrm>
          <a:prstGeom prst="roundRect">
            <a:avLst/>
          </a:prstGeom>
          <a:solidFill>
            <a:srgbClr val="4A2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087368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2574"/>
                </a:solidFill>
                <a:latin typeface="微軟正黑體"/>
              </a:defRPr>
            </a:pPr>
            <a:r>
              <a:t>單元 05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700" b="1">
                <a:solidFill>
                  <a:srgbClr val="2B2D42"/>
                </a:solidFill>
                <a:latin typeface="微軟正黑體"/>
              </a:defRPr>
            </a:pPr>
            <a:r>
              <a:t>成果網頁化與 GitHub 發布 (P.21~23)</a:t>
            </a:r>
          </a:p>
          <a:p>
            <a:pPr>
              <a:lnSpc>
                <a:spcPct val="125000"/>
              </a:lnSpc>
              <a:defRPr sz="1350">
                <a:solidFill>
                  <a:srgbClr val="6C757D"/>
                </a:solidFill>
                <a:latin typeface="微軟正黑體"/>
              </a:defRPr>
            </a:pPr>
            <a:r>
              <a:t>免費建立個人 www 倉庫、PAT 金鑰馬賽克資安保護、一鍵推播互動教學網站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88620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3886200"/>
            <a:ext cx="342900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087368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微軟正黑體"/>
              </a:defRPr>
            </a:pPr>
            <a:r>
              <a:t>單元 06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700" b="1">
                <a:solidFill>
                  <a:srgbClr val="2B2D42"/>
                </a:solidFill>
                <a:latin typeface="微軟正黑體"/>
              </a:defRPr>
            </a:pPr>
            <a:r>
              <a:t>高階特輯：虛擬電子儀表開發 (P.24~28)</a:t>
            </a:r>
          </a:p>
          <a:p>
            <a:pPr>
              <a:lnSpc>
                <a:spcPct val="125000"/>
              </a:lnSpc>
              <a:defRPr sz="1350">
                <a:solidFill>
                  <a:srgbClr val="6C757D"/>
                </a:solidFill>
                <a:latin typeface="微軟正黑體"/>
              </a:defRPr>
            </a:pPr>
            <a:r>
              <a:t>依據三大原廠手冊打造 GDS-2102E 示波器、MFG-2110 信號源與丙級檢定模擬系統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單元一：觀念啟蒙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03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老師日常的三大行政與教學痛點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3383280" cy="146304"/>
          </a:xfrm>
          <a:prstGeom prst="roundRect">
            <a:avLst/>
          </a:prstGeom>
          <a:solidFill>
            <a:srgbClr val="BC4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2B2D42"/>
                </a:solidFill>
                <a:latin typeface="微軟正黑體"/>
              </a:defRPr>
            </a:pPr>
            <a:r>
              <a:t>📝 改考卷與算成績</a:t>
            </a:r>
          </a:p>
          <a:p>
            <a:pPr>
              <a:lnSpc>
                <a:spcPct val="145000"/>
              </a:lnSpc>
              <a:defRPr sz="1600">
                <a:solidFill>
                  <a:srgbClr val="6C757D"/>
                </a:solidFill>
                <a:latin typeface="微軟正黑體"/>
              </a:defRPr>
            </a:pPr>
            <a:r>
              <a:t>手動拉 Excel 函數</a:t>
            </a:r>
            <a:br/>
            <a:r>
              <a:t>段考平時加權算到眼花</a:t>
            </a:r>
            <a:br/>
            <a:r>
              <a:t>不及格篩選改色耗費數小時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383280" cy="146304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659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2B2D42"/>
                </a:solidFill>
                <a:latin typeface="微軟正黑體"/>
              </a:defRPr>
            </a:pPr>
            <a:r>
              <a:t>🌐 每年必修研習折磨</a:t>
            </a:r>
          </a:p>
          <a:p>
            <a:pPr>
              <a:lnSpc>
                <a:spcPct val="145000"/>
              </a:lnSpc>
              <a:defRPr sz="1600">
                <a:solidFill>
                  <a:srgbClr val="6C757D"/>
                </a:solidFill>
                <a:latin typeface="微軟正黑體"/>
              </a:defRPr>
            </a:pPr>
            <a:r>
              <a:t>磨課師/酷課雲必修幾十小時</a:t>
            </a:r>
            <a:br/>
            <a:r>
              <a:t>每 20 分鐘彈窗防閒置中斷</a:t>
            </a:r>
            <a:br/>
            <a:r>
              <a:t>播完不跳下一單元，被迫當點擊工人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383280" cy="146304"/>
          </a:xfrm>
          <a:prstGeom prst="round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2B2D42"/>
                </a:solidFill>
                <a:latin typeface="微軟正黑體"/>
              </a:defRPr>
            </a:pPr>
            <a:r>
              <a:t>🧠 剛入門的提示語焦慮</a:t>
            </a:r>
          </a:p>
          <a:p>
            <a:pPr>
              <a:lnSpc>
                <a:spcPct val="145000"/>
              </a:lnSpc>
              <a:defRPr sz="1600">
                <a:solidFill>
                  <a:srgbClr val="6C757D"/>
                </a:solidFill>
                <a:latin typeface="微軟正黑體"/>
              </a:defRPr>
            </a:pPr>
            <a:r>
              <a:t>面對空白對話框不知道怎麼說</a:t>
            </a:r>
            <a:br/>
            <a:r>
              <a:t>隨便問一句回答空洞、電路圖開天窗</a:t>
            </a:r>
            <a:br/>
            <a:r>
              <a:t>不知道如何下達具體執行規格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單元一：觀念啟蒙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04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從「對話問答」到「自主辦事」的跨時代躍升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6C757D"/>
                </a:solidFill>
                <a:latin typeface="微軟正黑體"/>
              </a:defRPr>
            </a:pPr>
            <a:r>
              <a:t>傳統對話 AI（ChatGPT 等）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700" b="1">
                <a:solidFill>
                  <a:srgbClr val="C25E2E"/>
                </a:solidFill>
                <a:latin typeface="微軟正黑體"/>
              </a:defRPr>
            </a:pPr>
            <a:r>
              <a:t>就像一位【顧問】</a:t>
            </a:r>
          </a:p>
          <a:p>
            <a:pPr>
              <a:spcAft>
                <a:spcPts val="1000"/>
              </a:spcAft>
              <a:defRPr sz="1550">
                <a:solidFill>
                  <a:srgbClr val="2B2D42"/>
                </a:solidFill>
                <a:latin typeface="微軟正黑體"/>
              </a:defRPr>
            </a:pPr>
            <a:r>
              <a:t>• 只動嘴巴回答，不動手做事</a:t>
            </a:r>
          </a:p>
          <a:p>
            <a:pPr>
              <a:spcAft>
                <a:spcPts val="1000"/>
              </a:spcAft>
              <a:defRPr sz="1550">
                <a:solidFill>
                  <a:srgbClr val="2B2D42"/>
                </a:solidFill>
                <a:latin typeface="微軟正黑體"/>
              </a:defRPr>
            </a:pPr>
            <a:r>
              <a:t>• 產出散落對話框，需手動複製貼上</a:t>
            </a:r>
          </a:p>
          <a:p>
            <a:pPr>
              <a:spcAft>
                <a:spcPts val="1000"/>
              </a:spcAft>
              <a:defRPr sz="1550">
                <a:solidFill>
                  <a:srgbClr val="2B2D42"/>
                </a:solidFill>
                <a:latin typeface="微軟正黑體"/>
              </a:defRPr>
            </a:pPr>
            <a:r>
              <a:t>• 單次問答，無法連續跨檔案操作</a:t>
            </a:r>
          </a:p>
          <a:p>
            <a:pPr>
              <a:spcAft>
                <a:spcPts val="1000"/>
              </a:spcAft>
              <a:defRPr sz="1550">
                <a:solidFill>
                  <a:srgbClr val="2B2D42"/>
                </a:solidFill>
                <a:latin typeface="微軟正黑體"/>
              </a:defRPr>
            </a:pPr>
            <a:r>
              <a:t>• 需要人盯著螢幕一步一步追問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12080" cy="44805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1F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4435"/>
                </a:solidFill>
                <a:latin typeface="微軟正黑體"/>
              </a:defRPr>
            </a:pPr>
            <a:r>
              <a:t>Antigravity 代理人 (Agent)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700" b="1">
                <a:solidFill>
                  <a:srgbClr val="C25E2E"/>
                </a:solidFill>
                <a:latin typeface="微軟正黑體"/>
              </a:defRPr>
            </a:pPr>
            <a:r>
              <a:t>就像一位【數位實習老師】</a:t>
            </a:r>
          </a:p>
          <a:p>
            <a:pPr>
              <a:spcAft>
                <a:spcPts val="1000"/>
              </a:spcAft>
              <a:defRPr sz="1550">
                <a:solidFill>
                  <a:srgbClr val="2B2D42"/>
                </a:solidFill>
                <a:latin typeface="微軟正黑體"/>
              </a:defRPr>
            </a:pPr>
            <a:r>
              <a:t>• 具備虛擬雙手，能直接在電腦建檔運算</a:t>
            </a:r>
          </a:p>
          <a:p>
            <a:pPr>
              <a:spcAft>
                <a:spcPts val="1000"/>
              </a:spcAft>
              <a:defRPr sz="1550">
                <a:solidFill>
                  <a:srgbClr val="2B2D42"/>
                </a:solidFill>
                <a:latin typeface="微軟正黑體"/>
              </a:defRPr>
            </a:pPr>
            <a:r>
              <a:t>• 直接產出可開啟的 .xlsx、高解析電路圖與互動網頁</a:t>
            </a:r>
          </a:p>
          <a:p>
            <a:pPr>
              <a:spcAft>
                <a:spcPts val="1000"/>
              </a:spcAft>
              <a:defRPr sz="1550">
                <a:solidFill>
                  <a:srgbClr val="2B2D42"/>
                </a:solidFill>
                <a:latin typeface="微軟正黑體"/>
              </a:defRPr>
            </a:pPr>
            <a:r>
              <a:t>• 支援「連續動作鏈」，自動執行多步驟並自我除錯</a:t>
            </a:r>
          </a:p>
          <a:p>
            <a:pPr>
              <a:spcAft>
                <a:spcPts val="1000"/>
              </a:spcAft>
              <a:defRPr sz="1550">
                <a:solidFill>
                  <a:srgbClr val="2B2D42"/>
                </a:solidFill>
                <a:latin typeface="微軟正黑體"/>
              </a:defRPr>
            </a:pPr>
            <a:r>
              <a:t>• 下達目標後自主工作，完成時向您回報！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單元一：觀念啟蒙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05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認識 Antigravity 代理人的「三大超能力」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1920240"/>
            <a:ext cx="594360" cy="594360"/>
          </a:xfrm>
          <a:prstGeom prst="ellipse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🧠 自主規劃 (Plan)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把大任務拆解為執行清單</a:t>
            </a:r>
          </a:p>
          <a:p>
            <a:pPr>
              <a:lnSpc>
                <a:spcPct val="135000"/>
              </a:lnSpc>
              <a:defRPr sz="1450">
                <a:solidFill>
                  <a:srgbClr val="6C757D"/>
                </a:solidFill>
                <a:latin typeface="微軟正黑體"/>
              </a:defRPr>
            </a:pPr>
            <a:r>
              <a:t>給定教學目標，自動啟動深度思考，拆解第一步、第二步、第三步，避免做白工。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1920240"/>
            <a:ext cx="594360" cy="594360"/>
          </a:xfrm>
          <a:prstGeom prst="ellipse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🛠️ 工具調用 (Tools)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擁有讀寫檔案與運算的能力</a:t>
            </a:r>
          </a:p>
          <a:p>
            <a:pPr>
              <a:lnSpc>
                <a:spcPct val="135000"/>
              </a:lnSpc>
              <a:defRPr sz="1450">
                <a:solidFill>
                  <a:srgbClr val="6C757D"/>
                </a:solidFill>
                <a:latin typeface="微軟正黑體"/>
              </a:defRPr>
            </a:pPr>
            <a:r>
              <a:t>不只產出文字，能自主編寫並執行腳本，繪製標準 IEEE 電路圖、處理 Excel 加權與圖表。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920240"/>
            <a:ext cx="594360" cy="594360"/>
          </a:xfrm>
          <a:prstGeom prst="ellipse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📦 工作區成果 (Artifacts)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實體檔案直接存在你的硬碟</a:t>
            </a:r>
          </a:p>
          <a:p>
            <a:pPr>
              <a:lnSpc>
                <a:spcPct val="135000"/>
              </a:lnSpc>
              <a:defRPr sz="1450">
                <a:solidFill>
                  <a:srgbClr val="6C757D"/>
                </a:solidFill>
                <a:latin typeface="微軟正黑體"/>
              </a:defRPr>
            </a:pPr>
            <a:r>
              <a:t>所有成績表、電路圖與互動教具直接存在電腦資料夾，右側面板隨時即時預覽。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06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打造你的「AI 數位辦公桌」：專屬教學工作區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📂 左側：專案檔案庫</a:t>
            </a:r>
          </a:p>
          <a:p>
            <a:pPr>
              <a:lnSpc>
                <a:spcPct val="135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打開 Antigravity 點選 Open Workspace，選擇或新建「2026_教學專案」資料夾。所有由 AI 建立的表格與教具都存於此。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💬 中央：對話指揮中心</a:t>
            </a:r>
          </a:p>
          <a:p>
            <a:pPr>
              <a:lnSpc>
                <a:spcPct val="135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如同你的數位助教辦公桌。在這裡下達 CRIS 提示詞，觀察 AI 的思考過程 (Thinking) 與工具執行。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7451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📱 右側：成果即時預覽區</a:t>
            </a:r>
          </a:p>
          <a:p>
            <a:pPr>
              <a:lnSpc>
                <a:spcPct val="135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檔案產生後自動在此彈出預覽！試算表、電路圖與互動網頁直接呈現，免手動開外部軟體即可快速檢查確認。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07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安心守則：什麼是「沙盒機制 (Sandbox)」？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698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74519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🛡️ 老師最常擔心的問題：「AI 操作我的電腦，會不會把我原本的重要公文改壞？」</a:t>
            </a:r>
          </a:p>
          <a:p>
            <a:pPr>
              <a:spcBef>
                <a:spcPts val="800"/>
              </a:spcBef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🌿 專屬隔離區（Sandbox 沙盒）</a:t>
            </a:r>
          </a:p>
          <a:p>
            <a:pPr>
              <a:spcAft>
                <a:spcPts val="800"/>
              </a:spcAft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    就像在操場劃設安全的跑道，Antigravity 的所有自動化執行都被限制在「目前的專案資料夾」，絕對不會跑出去修改你的系統檔或桌面私人檔案。</a:t>
            </a:r>
          </a:p>
          <a:p>
            <a:pPr>
              <a:spcBef>
                <a:spcPts val="800"/>
              </a:spcBef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🌿 透明可見的執行過程</a:t>
            </a:r>
          </a:p>
          <a:p>
            <a:pPr>
              <a:spcAft>
                <a:spcPts val="800"/>
              </a:spcAft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    AI 的每一步動作、修改了哪個檔案，全部在畫布上記錄得清清楚楚，隨時可以檢視與復原。</a:t>
            </a:r>
          </a:p>
          <a:p>
            <a:pPr>
              <a:spcBef>
                <a:spcPts val="800"/>
              </a:spcBef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🌿 資安與隱私第一準則</a:t>
            </a:r>
          </a:p>
          <a:p>
            <a:pPr>
              <a:spcAft>
                <a:spcPts val="800"/>
              </a:spcAft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    練習時請勿使用真實學生的身分證字號、家長私人電話等敏感個資；API Token 務必妥善遮罩保存。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08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初學者必備：零代碼環境一鍵健檢與已裝自動化程式清冊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🖥️ 本機實測已就緒之自動化工具清冊</a:t>
            </a:r>
          </a:p>
          <a:p>
            <a:pPr>
              <a:defRPr sz="1450" b="1">
                <a:solidFill>
                  <a:srgbClr val="C25E2E"/>
                </a:solidFill>
                <a:latin typeface="微軟正黑體"/>
              </a:defRPr>
            </a:pPr>
            <a:r>
              <a:t>⚡ 基礎環境核心</a:t>
            </a:r>
          </a:p>
          <a:p>
            <a:pPr>
              <a:spcAft>
                <a:spcPts val="5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Python 3.14 (直譯器) ✕ Node.js v24 (MCP運作) ✕ Git (版本/推播)</a:t>
            </a:r>
          </a:p>
          <a:p>
            <a:pPr>
              <a:defRPr sz="1450" b="1">
                <a:solidFill>
                  <a:srgbClr val="C25E2E"/>
                </a:solidFill>
                <a:latin typeface="微軟正黑體"/>
              </a:defRPr>
            </a:pPr>
            <a:r>
              <a:t>📐 專業電學與電子學繪圖</a:t>
            </a:r>
          </a:p>
          <a:p>
            <a:pPr>
              <a:spcAft>
                <a:spcPts val="5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schemdraw (IEEE鋸齒電阻/BJT電晶體/受控源) ✕ matplotlib (曲線繪製) ✕ Pillow</a:t>
            </a:r>
          </a:p>
          <a:p>
            <a:pPr>
              <a:defRPr sz="1450" b="1">
                <a:solidFill>
                  <a:srgbClr val="C25E2E"/>
                </a:solidFill>
                <a:latin typeface="微軟正黑體"/>
              </a:defRPr>
            </a:pPr>
            <a:r>
              <a:t>📊 Office 行政自動化</a:t>
            </a:r>
          </a:p>
          <a:p>
            <a:pPr>
              <a:spcAft>
                <a:spcPts val="5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python-pptx (簡報排版動畫) ✕ openpyxl / pandas (加權算分/學情統計)</a:t>
            </a:r>
          </a:p>
          <a:p>
            <a:pPr>
              <a:defRPr sz="1450" b="1">
                <a:solidFill>
                  <a:srgbClr val="C25E2E"/>
                </a:solidFill>
                <a:latin typeface="微軟正黑體"/>
              </a:defRPr>
            </a:pPr>
            <a:r>
              <a:t>🌐 瀏覽器巡航與協定</a:t>
            </a:r>
          </a:p>
          <a:p>
            <a:pPr>
              <a:spcAft>
                <a:spcPts val="5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chrome-devtools-mcp (磨課師人機接力) ✕ KaTeX 數學公式渲染</a:t>
            </a:r>
          </a:p>
          <a:p>
            <a:pPr>
              <a:defRPr sz="1150" b="1">
                <a:solidFill>
                  <a:srgbClr val="6C757D"/>
                </a:solidFill>
                <a:latin typeface="微軟正黑體"/>
              </a:defRPr>
            </a:pPr>
            <a:r>
              <a:t>💡 免敲 CMD 指令！只要下達右側咒語，代理人即在背景自動配齊上述工具。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00200"/>
            <a:ext cx="5394960" cy="448056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764792"/>
            <a:ext cx="3749039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 01：全自動環境健檢與裝備咒語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83080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484632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20">
                <a:solidFill>
                  <a:srgbClr val="2B2D42"/>
                </a:solidFill>
                <a:latin typeface="微軟正黑體"/>
              </a:defRPr>
            </a:pPr>
            <a:r>
              <a:t>請扮演我的「電腦教學環境裝備醫生」。我是一位剛接觸 AI 的零基礎老師，請幫我檢查並自動裝備好工作環境：</a:t>
            </a:r>
          </a:p>
          <a:p>
            <a:pPr>
              <a:lnSpc>
                <a:spcPct val="125000"/>
              </a:lnSpc>
              <a:defRPr sz="1120">
                <a:solidFill>
                  <a:srgbClr val="2B2D42"/>
                </a:solidFill>
                <a:latin typeface="微軟正黑體"/>
              </a:defRPr>
            </a:pPr>
          </a:p>
          <a:p>
            <a:pPr>
              <a:lnSpc>
                <a:spcPct val="125000"/>
              </a:lnSpc>
              <a:defRPr sz="1120">
                <a:solidFill>
                  <a:srgbClr val="2B2D42"/>
                </a:solidFill>
                <a:latin typeface="微軟正黑體"/>
              </a:defRPr>
            </a:pPr>
            <a:r>
              <a:t>1. 檢查核心環境：Python 與 Node.js 是否已安裝就緒並回報版本？</a:t>
            </a:r>
          </a:p>
          <a:p>
            <a:pPr>
              <a:lnSpc>
                <a:spcPct val="125000"/>
              </a:lnSpc>
              <a:defRPr sz="1120">
                <a:solidFill>
                  <a:srgbClr val="2B2D42"/>
                </a:solidFill>
                <a:latin typeface="微軟正黑體"/>
              </a:defRPr>
            </a:pPr>
            <a:r>
              <a:t>2. 檢查 Git 工具：是否安裝 Git 版本控制（供後續推播 GitHub 網站使用）？</a:t>
            </a:r>
          </a:p>
          <a:p>
            <a:pPr>
              <a:lnSpc>
                <a:spcPct val="125000"/>
              </a:lnSpc>
              <a:defRPr sz="1120">
                <a:solidFill>
                  <a:srgbClr val="2B2D42"/>
                </a:solidFill>
                <a:latin typeface="微軟正黑體"/>
              </a:defRPr>
            </a:pPr>
            <a:r>
              <a:t>3. 檢查並自動安裝「教學必備套件庫」（若缺少請背景自動 pip install，免我開終端機）：</a:t>
            </a:r>
          </a:p>
          <a:p>
            <a:pPr>
              <a:lnSpc>
                <a:spcPct val="125000"/>
              </a:lnSpc>
              <a:defRPr sz="1120">
                <a:solidFill>
                  <a:srgbClr val="2B2D42"/>
                </a:solidFill>
                <a:latin typeface="微軟正黑體"/>
              </a:defRPr>
            </a:pPr>
            <a:r>
              <a:t>   - Office 自動化：openpyxl、pandas、python-pptx、python-docx</a:t>
            </a:r>
          </a:p>
          <a:p>
            <a:pPr>
              <a:lnSpc>
                <a:spcPct val="125000"/>
              </a:lnSpc>
              <a:defRPr sz="1120">
                <a:solidFill>
                  <a:srgbClr val="2B2D42"/>
                </a:solidFill>
                <a:latin typeface="微軟正黑體"/>
              </a:defRPr>
            </a:pPr>
            <a:r>
              <a:t>   - 專業電學與圖表：schemdraw（標準電路圖）、matplotlib（特性曲線）、pillow</a:t>
            </a:r>
          </a:p>
          <a:p>
            <a:pPr>
              <a:lnSpc>
                <a:spcPct val="125000"/>
              </a:lnSpc>
              <a:defRPr sz="1120">
                <a:solidFill>
                  <a:srgbClr val="2B2D42"/>
                </a:solidFill>
                <a:latin typeface="微軟正黑體"/>
              </a:defRPr>
            </a:pPr>
            <a:r>
              <a:t>4. 工作區讀寫測試：在當前目錄建立「健檢回報.txt」，並條列檢測狀態。</a:t>
            </a:r>
          </a:p>
          <a:p>
            <a:pPr>
              <a:lnSpc>
                <a:spcPct val="125000"/>
              </a:lnSpc>
              <a:defRPr sz="1120">
                <a:solidFill>
                  <a:srgbClr val="2B2D42"/>
                </a:solidFill>
                <a:latin typeface="微軟正黑體"/>
              </a:defRPr>
            </a:pPr>
            <a:r>
              <a:t>5. 完成後用親切繁體中文，以打勾 (✅) 方式回報所有裝備就緒清單！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09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初試啼聲：讓代理人自主在電腦建立第一份檔案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840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🎯 實作目標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體驗代理 AI 的「造物」能力！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觀察送出後：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1. AI 思考中（Thinking）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2. 工具調用（write_to_file）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3. 左側檔案清單跳出「研習簽到與教學備忘.txt」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4. 點開檔案，內容已真實存在硬碟中！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600200"/>
            <a:ext cx="6583680" cy="448056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764792"/>
            <a:ext cx="3749039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實戰提示詞範本 02：第一份自主建檔咒語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83080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40280"/>
            <a:ext cx="60350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你好！我是 [請填寫學校：例如 大安高工 / 彰師附工] 的 [請填寫學科：例如 電子科 / 資訊科] 老師。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請在我們的工作資料夾中，幫我建立一個名為「研習簽到與教學備忘.txt」的檔案，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內容寫入：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今日日期與時間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研習主題：Antigravity 代理 AI 教學應用實戰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我的教學願景：期許用 AI 幫自己每週省下 3 小時備課時間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給老師的一句備課激勵金句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建立完成後，請告訴我檔案已儲存。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 ✕ 電學圖解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10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為什麼別人用 AI 像神仙，我用 AI 像智障？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BC4749"/>
                </a:solidFill>
                <a:latin typeface="微軟正黑體"/>
              </a:defRPr>
            </a:pPr>
            <a:r>
              <a:t>❌ 失敗指令：隨意說一句話</a:t>
            </a:r>
          </a:p>
          <a:p>
            <a:pPr>
              <a:spcAft>
                <a:spcPts val="1400"/>
              </a:spcAft>
              <a:defRPr sz="1600" b="1">
                <a:solidFill>
                  <a:srgbClr val="2B2D42"/>
                </a:solidFill>
                <a:latin typeface="微軟正黑體"/>
              </a:defRPr>
            </a:pPr>
            <a:r>
              <a:t>「幫我出幾題基本電學題目。」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AI 不知道給技術高中哪一科、幾年級學生做（高一初學？統測複習？）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題目數值未經設計，常出現除不盡的繁雜小數，無法快速手算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缺乏電路化簡結構，沒有串並聯拆解步驟與戴維寧等效解析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老師還得花大量時間拿計算紙一題一題重新驗算電路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⭕ 大師級指令：結構化清晰下達</a:t>
            </a:r>
          </a:p>
          <a:p>
            <a:pPr>
              <a:spcAft>
                <a:spcPts val="12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「你是一位技術高中電機電子群名師，正在教高一『基本電學：電阻網路分析』。請針對『直流電阻串並聯化簡與戴維寧定理 (Thevenin)』，設計 3 題統測試題等級的素養選擇題。要求：1. 數值經精心設計（電阻與電壓皆為整數，便於計算） 2. 每題包含清晰電路結構描述、4 個選項與標準答案 3. 詳解需列出完整推導步驟（含等效電阻 Rth 與等效電壓 Vth 之求法，並標註學生常錯的短路/開路盲點），並用 Python schemdraw 繪製標準閉迴路電路圖。」</a:t>
            </a:r>
          </a:p>
          <a:p>
            <a:pPr>
              <a:spcAft>
                <a:spcPts val="7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角色清晰：鎖定技高電機電子群高一認知程度</a:t>
            </a:r>
          </a:p>
          <a:p>
            <a:pPr>
              <a:spcAft>
                <a:spcPts val="7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數值友好：整數設計，避免繁雜小數干擾核心電路概念</a:t>
            </a:r>
          </a:p>
          <a:p>
            <a:pPr>
              <a:spcAft>
                <a:spcPts val="7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圖文並茂：自動呼叫 Python 繪製高解析 IEEE 鋸齒電阻電路圖</a:t>
            </a:r>
          </a:p>
          <a:p>
            <a:pPr>
              <a:spcAft>
                <a:spcPts val="7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產出即成果：一秒複製即可直接印成課堂隨堂評量卷！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 ✕ 電學圖解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11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實測對決 01：隨意指令慘遭開天窗 ✕ 大師指令電路圖化簡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493776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4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C4749"/>
                </a:solidFill>
                <a:latin typeface="微軟正黑體"/>
              </a:defRPr>
            </a:pPr>
            <a:r>
              <a:t>❌ 隨意指令產出（真實車禍現場）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題 1：死背名詞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「什麼是歐姆定律？請寫出公式。」</a:t>
            </a:r>
            <a:br/>
            <a:r>
              <a:t>➔ 國中生都知道，完全沒有技高電阻網路評量價值。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題 2：數值極度不友善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「100V 電壓接 33Ω 電阻，求電流？」</a:t>
            </a:r>
            <a:br/>
            <a:r>
              <a:t>➔ 答案 I = 3.0303...A（無限循環小數，學生算到懷疑人生）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題 3：致命傷：電路開天窗！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「試求下圖電路的戴維寧等效電路。（註：此處無圖）❌」</a:t>
            </a:r>
            <a:br/>
            <a:r>
              <a:t>➔ AI 憑空說下圖，根本沒有圖！題目直接作廢！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老師下場：耗時重工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無選項、無推導步驟，老師還得花半小時拿計算紙手動重出重算！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00200"/>
            <a:ext cx="54864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737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⭕ 大師指令產出：題 01 電阻串並聯化簡</a:t>
            </a:r>
          </a:p>
          <a:p>
            <a:pPr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【題幹】E = 24V，R1 = 6Ω 與 R2 = 12Ω 並聯後，再與 R3 = 8Ω 串聯。求 RT 與 IT？</a:t>
            </a:r>
            <a:br/>
            <a:r>
              <a:t>【選項】(A) RT=12Ω, IT=2A   (B) RT=14Ω, IT=1.7A   (C) RT=10Ω, IT=2.4A</a:t>
            </a:r>
          </a:p>
        </p:txBody>
      </p:sp>
      <p:pic>
        <p:nvPicPr>
          <p:cNvPr id="13" name="Picture 12" descr="circuit1_series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971800"/>
            <a:ext cx="5029200" cy="21779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3035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✔ 正解 (A) | 推導：R1//R2 = 4Ω ➔ RT = 4 + 8 = 12Ω ➔ IT = 24 / 12 = 2A（整數手算超順！）</a:t>
            </a:r>
          </a:p>
          <a:p>
            <a:pPr>
              <a:defRPr sz="1100">
                <a:solidFill>
                  <a:srgbClr val="C25E2E"/>
                </a:solidFill>
                <a:latin typeface="微軟正黑體"/>
              </a:defRPr>
            </a:pPr>
            <a:r>
              <a:t>🚨 常見盲點：學生易誤先算串聯 (6+12=18) 再並聯 8，詳解完整提示避免踩雷！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 ✕ 電學圖解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12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實測對決 02：戴維寧等效模型 ✕ 最大功率轉移曲線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⭕ 題 02：戴維寧等效模型與負載分析</a:t>
            </a:r>
          </a:p>
          <a:p>
            <a:pPr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【題幹】開路電壓 Eth = 18V，等效電阻 Rth = 6Ω。外接負載 RL = 3Ω，求負載電流 IL？</a:t>
            </a:r>
          </a:p>
        </p:txBody>
      </p:sp>
      <p:pic>
        <p:nvPicPr>
          <p:cNvPr id="11" name="Picture 10" descr="circuit2_theve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80360"/>
            <a:ext cx="4754880" cy="1855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5257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✔ 正解 (B) 2A | 單迴路串聯：IL = 18 / (6 + 3) = 2A（正負整數好算）</a:t>
            </a:r>
          </a:p>
          <a:p>
            <a:pPr>
              <a:defRPr sz="1100">
                <a:solidFill>
                  <a:srgbClr val="C25E2E"/>
                </a:solidFill>
                <a:latin typeface="微軟正黑體"/>
              </a:defRPr>
            </a:pPr>
            <a:r>
              <a:t>🚨 防呆叮嚀：求 Rth 時獨立電壓源應「視為短路 (0V)」，學生常誤當開路！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⭕ 題 03：戴維寧最大功率轉移特性</a:t>
            </a:r>
          </a:p>
          <a:p>
            <a:pPr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【題幹】Eth = 20V，Rth = 5Ω。求使負載獲最大功率之 RL 阻值與最大功率 PL(max)？</a:t>
            </a:r>
          </a:p>
        </p:txBody>
      </p:sp>
      <p:pic>
        <p:nvPicPr>
          <p:cNvPr id="15" name="Picture 14" descr="circuit3_max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880360"/>
            <a:ext cx="4754880" cy="24024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6520" y="5257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✔ 正解 (A) RL=5Ω, PL=20W | 公式：PL(max) = Eth² / (4×Rth) = 400 / 20 = 20W</a:t>
            </a:r>
          </a:p>
          <a:p>
            <a:pPr>
              <a:defRPr sz="1100">
                <a:solidFill>
                  <a:srgbClr val="C25E2E"/>
                </a:solidFill>
                <a:latin typeface="微軟正黑體"/>
              </a:defRPr>
            </a:pPr>
            <a:r>
              <a:t>🚨 防呆叮嚀：分母常忘乘係數 4，誤選 80W（選項 B 典型誘答陷阱）！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 ✕ 電子學專題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13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實測對決 03：電子學 BJT 共射極放大器 ✕ rπ 小訊號等效模型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2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4A2574"/>
                </a:solidFill>
                <a:latin typeface="微軟正黑體"/>
              </a:defRPr>
            </a:pPr>
            <a:r>
              <a:t>🔌 步驟一：共射極 (CE) 放大電路與直流 Q 點</a:t>
            </a:r>
          </a:p>
          <a:p>
            <a:pPr>
              <a:defRPr sz="1150">
                <a:solidFill>
                  <a:srgbClr val="2B2D42"/>
                </a:solidFill>
                <a:latin typeface="微軟正黑體"/>
              </a:defRPr>
            </a:pPr>
            <a:r>
              <a:t>【規格】VCC=12V, RB=565kΩ, RC=3kΩ, RL=3kΩ, β=100, VT=26mV，含耦合與旁路電容</a:t>
            </a:r>
          </a:p>
        </p:txBody>
      </p:sp>
      <p:pic>
        <p:nvPicPr>
          <p:cNvPr id="11" name="Picture 10" descr="circuit4_schematic_ce_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4666827" cy="2423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5212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4A2574"/>
                </a:solidFill>
                <a:latin typeface="微軟正黑體"/>
              </a:defRPr>
            </a:pPr>
            <a:r>
              <a:t>✔ 直流與小訊號參數：IB = (12-0.7)/565k = 20µA ➔ IC = β·IB = 2mA</a:t>
            </a:r>
          </a:p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⚡ 轉導 gm = IC / VT ≈ 76.92 mA/V  |  輸入電阻 rπ = β / gm = 1.3 kΩ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2120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1F4435"/>
                </a:solidFill>
                <a:latin typeface="微軟正黑體"/>
              </a:defRPr>
            </a:pPr>
            <a:r>
              <a:t>📐 步驟二：交流小訊號 rπ 等效電路與電壓增益</a:t>
            </a:r>
          </a:p>
          <a:p>
            <a:pPr>
              <a:defRPr sz="1150">
                <a:solidFill>
                  <a:srgbClr val="2B2D42"/>
                </a:solidFill>
                <a:latin typeface="微軟正黑體"/>
              </a:defRPr>
            </a:pPr>
            <a:r>
              <a:t>【交流接地】直流電源 VCC 視為交流接地 (0V)，電容視為交流短路，射極 E 直接接地</a:t>
            </a:r>
          </a:p>
        </p:txBody>
      </p:sp>
      <p:pic>
        <p:nvPicPr>
          <p:cNvPr id="15" name="Picture 14" descr="circuit4_r_pi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88920"/>
            <a:ext cx="4754880" cy="2468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6520" y="5212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✔ 電壓增益：Av = vo/vs = -gm × (RC // RL) = -76.92m × (3k // 3k) ≈ -115.4 V/V</a:t>
            </a:r>
          </a:p>
          <a:p>
            <a:pPr>
              <a:defRPr sz="1100" b="1">
                <a:solidFill>
                  <a:srgbClr val="C25E2E"/>
                </a:solidFill>
                <a:latin typeface="微軟正黑體"/>
              </a:defRPr>
            </a:pPr>
            <a:r>
              <a:t>🌐 互動模擬：stjedu.github.io/www/electronics_bjt.html（含即時 180° 反相波形與隨堂測驗）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14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提示語大師核心公式：CRIS 萬用架構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C - Context（背景與角色）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設定 AI 的專業身分，以及面對的年級、學生程度與教學情境。</a:t>
            </a:r>
            <a:br/>
            <a:r>
              <a:t>例：『你是技高電機電子群名師，面對高二電子學學生...』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C25E2E"/>
                </a:solidFill>
                <a:latin typeface="微軟正黑體"/>
              </a:defRPr>
            </a:pPr>
            <a:r>
              <a:t>R - Request（明確目標任務）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以動詞開頭，直接告訴 AI 最終要完成什麼工作。</a:t>
            </a:r>
            <a:br/>
            <a:r>
              <a:t>例：『請設計 BJT 共射極小訊號 rπ 模型推導教材與互動計算網頁...』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09F3E"/>
                </a:solidFill>
                <a:latin typeface="微軟正黑體"/>
              </a:defRPr>
            </a:pPr>
            <a:r>
              <a:t>I - Instructions（條件與限制規則）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限制難易度、題型、字數、避免提及的內容。</a:t>
            </a:r>
            <a:br/>
            <a:r>
              <a:t>例：『使用 schemdraw 繪製 300DPI 電路圖、KaTeX 渲染公式、標註 180° 反相觀念...』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6908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EA89D"/>
                </a:solidFill>
                <a:latin typeface="微軟正黑體"/>
              </a:defRPr>
            </a:pPr>
            <a:r>
              <a:t>S - Style &amp; Format（風格與輸出格式）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指定輸出外觀，如單一 HTML 網頁、Markdown 表格或 Excel 試算表。</a:t>
            </a:r>
            <a:br/>
            <a:r>
              <a:t>例：『以溫暖校園風 HTML 呈現，含即時參數計算機與 4 題素養測驗...』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15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代理人專用：下達「連續動作鏈 (Chain of Action)」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1828800"/>
            <a:ext cx="822960" cy="822960"/>
          </a:xfrm>
          <a:prstGeom prst="ellipse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764792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步驟 1：讀取與繪圖</a:t>
            </a:r>
          </a:p>
          <a:p>
            <a:pPr>
              <a:spcBef>
                <a:spcPts val="400"/>
              </a:spcBef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範例指令：「先用 Python schemdraw 繪製高解析度 BJT 共射極電路圖與 rπ 等效模型圖，存入 circuits/ 資料夾...」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81528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310128"/>
            <a:ext cx="822960" cy="822960"/>
          </a:xfrm>
          <a:prstGeom prst="ellipse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4612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步驟 2：計算與建檔</a:t>
            </a:r>
          </a:p>
          <a:p>
            <a:pPr>
              <a:spcBef>
                <a:spcPts val="400"/>
              </a:spcBef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範例指令：「接著建立 electronics_bjt.html，嵌入電路圖、KaTeX 公式推導、即時增益計算機與反相波形圖...」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62856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791456"/>
            <a:ext cx="822960" cy="822960"/>
          </a:xfrm>
          <a:prstGeom prst="ellipse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727448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步驟 3：審查與推播</a:t>
            </a:r>
          </a:p>
          <a:p>
            <a:pPr>
              <a:spcBef>
                <a:spcPts val="400"/>
              </a:spcBef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範例指令：「最後自我檢查所有公式渲染與圖片路徑無誤後，自動 Commit 並推播更新至 GitHub Pages！」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 ✕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16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神級代理人：MCP 瀏覽器自動化 —— 人機接力與 1 鍵啟動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🤝 30 秒人機接力黃金法則</a:t>
            </a:r>
          </a:p>
          <a:p>
            <a:pPr>
              <a:spcAft>
                <a:spcPts val="1200"/>
              </a:spcAft>
              <a:defRPr sz="1600" b="1">
                <a:solidFill>
                  <a:srgbClr val="C25E2E"/>
                </a:solidFill>
                <a:latin typeface="微軟正黑體"/>
              </a:defRPr>
            </a:pPr>
            <a:r>
              <a:t>💡「資安歸老師，苦工歸 AI！」</a:t>
            </a:r>
          </a:p>
          <a:p>
            <a:pPr>
              <a:spcBef>
                <a:spcPts val="400"/>
              </a:spcBef>
              <a:defRPr sz="1500" b="1">
                <a:solidFill>
                  <a:srgbClr val="2B2D42"/>
                </a:solidFill>
                <a:latin typeface="微軟正黑體"/>
              </a:defRPr>
            </a:pPr>
            <a:r>
              <a:t>👤 老師親手做（前 30 秒免踩雷）：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1. 點兩下「啟動AI伴讀Chrome.bat」（遠端除錯埠 9222）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2. 親自登入教育雲 OpenID（免個資外洩、免驗證碼）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3. 點開課程第一單元，按一次播放鍵！</a:t>
            </a:r>
          </a:p>
          <a:p>
            <a:pPr>
              <a:spcBef>
                <a:spcPts val="400"/>
              </a:spcBef>
              <a:defRPr sz="1500" b="1">
                <a:solidFill>
                  <a:srgbClr val="2B2D42"/>
                </a:solidFill>
                <a:latin typeface="微軟正黑體"/>
              </a:defRPr>
            </a:pPr>
            <a:r>
              <a:t>🤖 AI 代理人接管（後 30 分鐘全代勞）：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• 0.5 秒自動代點「下一單元」微小按鈕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• 自動按掉「禁止多重視窗」等中斷警告彈窗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• 每 24 分鐘微暫停 5 秒重置防閒置計時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12080" cy="448056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764792"/>
            <a:ext cx="3749039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提示詞範本 03-A：生手「一鍵通」秒殺指令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83080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6634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請使用 chrome-devtools-mcp 連接我目前開啟的 Chrome 瀏覽器：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1. 找到我正在播放研習影片的磨課師（或數位學習平臺）分頁。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2. 幫我監控影片進度：當前單元播完時，自動幫我點擊「下一單元」繼續播放。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3. 若畫面彈出「禁止多重視窗」或確認警示窗，請自動點擊「確定」排除。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4. 開始執行，並在每完成一個章節時向我回報！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 ✕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17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生手一次就成功：全自動巡航 ✕ 突發狀況急救包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486400" cy="448056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764792"/>
            <a:ext cx="3749039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提示詞範本 03-B：大師級全自動巡航 CRIS 咒語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83080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40280"/>
            <a:ext cx="493776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【角色】請扮演我的「數位研習全自動伴讀導航員」。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【情境】我已登入磨課師研習平臺（Chrome 9222 遠端除錯埠），畫面正停在課程播放頁。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【任務與執行規則】：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1. 鎖定分頁：使用 list_pages 與 select_page 鎖定包含「moocs」或「elearning」課程分頁。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2. 連播機制：以 1.0x 正常速度播放，影片播畢自動點擊「下一單元（nav_next）」。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3. 防閒置破解：每播 24 分鐘自動微暫停 5 秒後恢復，重置 25/30 分鐘防閒置計時器。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4. 彈窗攔截：呼叫 handle_dialog，一旦有警告彈窗 0 秒點確定。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5. 持續巡航，並在右側記錄完成章節數與累積研習時數！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49377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🛠️ 研習現場突發狀況「急救包」</a:t>
            </a:r>
          </a:p>
          <a:p>
            <a:pPr>
              <a:spcAft>
                <a:spcPts val="10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遇到意外狀況？複製這幾句咒語貼上立即排除：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1：抓錯分頁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「請列出 Chrome 所有開啟分頁標題，並將焦點切換到磨課師課程那一頁。」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2：彈窗卡住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「畫面上跳出警告對話框，請呼叫 handle_dialog 幫我自動按確定關閉。」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3：按鈕微小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「請在當前網頁尋找包含『下一頁』或『下一單元』按鈕並點擊它。」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4：查詢進度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「請幫我查看當前課程的累計閱讀時數與完成進度百分比。」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單元四：Excel 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18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Office 自動化第一彈：手動拉公式算成績的終結者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BC4749"/>
                </a:solidFill>
                <a:latin typeface="微軟正黑體"/>
              </a:defRPr>
            </a:pPr>
            <a:r>
              <a:t>傳統算成績的痛苦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總分、平均手動打 =SUM、=AVERAGE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不及格要一欄一欄篩選、改粉紅色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等第判定寫巢狀 =IF 寫到眼花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全班最高分、最低分還要再算一次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107C41"/>
                </a:solidFill>
                <a:latin typeface="微軟正黑體"/>
              </a:defRPr>
            </a:pPr>
            <a:r>
              <a:t>Antigravity 代理人解法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把原始資料給它，或直接模擬整班成績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AI 在背景自行執行演算法運算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自動標記不及格粉紅色底色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幾秒鐘直接產出格式化完成的 .xlsx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單元四：Excel 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19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實戰演練：全自動班級成績統計與等第運算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394960" cy="448056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764792"/>
            <a:ext cx="3749039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實戰提示詞範本 04：Excel 自動算成績大師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83080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40280"/>
            <a:ext cx="484632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請扮演我的「教務與實習成績統計助理」。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任務：在工作區建立「高二電子科專業實習第一次段考成績表.xlsx」。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資料要求：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1. 模擬 15 位技高學生名單（座號 1~15、學生姓名用王小明等假名），包含三項成績：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專業筆試 (占 30%)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示波器實作量測 (占 50%)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平時實習表現與工安規範 (占 20%)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2. 自動計算：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每位學生「學期加權總分（四捨五入至小數第一位）」。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根據加權總分判定「等第」（90優/80甲/70乙/60丙/未滿60丁）。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實作或筆試未滿 60 分用醒目粉紅色底色標記。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3. 表格最下方計算各項「全班平均」、「最高分」、「最低分」。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完成後儲存為 .xlsx 檔案並提供預覽。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00200"/>
            <a:ext cx="50292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1783080"/>
            <a:ext cx="4663440" cy="384048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📊 預期產出：高二電子科專業實習第一次段考成績表.xlsx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0" y="2286000"/>
          <a:ext cx="4663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22960"/>
                <a:gridCol w="731520"/>
                <a:gridCol w="731520"/>
                <a:gridCol w="731520"/>
                <a:gridCol w="1005840"/>
              </a:tblGrid>
              <a:tr h="5867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座號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筆試(30%)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實作(50%)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平時(20%)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加權/等第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王小明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89.4 (甲)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02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李小華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C4749"/>
                          </a:solidFill>
                          <a:latin typeface="微軟正黑體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65.5 (丙)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張大同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95.5 (優)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04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陳美麗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C4749"/>
                          </a:solidFill>
                          <a:latin typeface="微軟正黑體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60.6 (丙)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班平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全班平均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77.5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77.5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78.8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77.8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單元四：Excel 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20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進階演練：成績深入學情分析與圖表自動生成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698480" cy="448056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764792"/>
            <a:ext cx="3749039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實戰提示詞範本 05：學情診斷與視覺化圖表生成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783080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40280"/>
            <a:ext cx="1014984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請讀取剛剛建立的「高二電子科專業實習第一次段考成績表.xlsx」，進行深入學情分析：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1. 請繪製一張「實作成績分布級距長條圖」（以 10 分為一個級距），存成圖檔放入工作區。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2. 請列出分析摘要：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   - 班上實作前三名同學是誰？儀器操作亮點在哪？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   - 筆試或實作不及格人數各有幾位？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3. 請幫我寫一段 200 字左右的「技高專業實習學情檢討摘要」，適合直接複製到我的實習教學日誌或教學研究會報告中。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單元五：成果網頁化與 GitHub 發布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21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成果發布 01：免費帳號開立 ✕ 建立專屬倉庫 (www)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📝 步驟一：註冊個人 GitHub 帳號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1. 前往官網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瀏覽器打開 github.com，點右上角綠色「Sign up」。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2. 填寫三要素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輸入信箱（收驗證碼）➔ 設定高強度密碼 ➔ 決定 Username。</a:t>
            </a:r>
          </a:p>
          <a:p>
            <a:pPr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⭐ 命名即網址！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Username 會直接變成個人教學網站網址！例如簡老師為 stjedu，日後專屬站點即為 stjedu.github.io。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3. 驗證啟用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完成防偽驗證，收信填入驗證碼即可啟用免費雲端空間！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📂 步驟二：建立名為 www 的儲存庫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1. 點擊右上角「+」號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在 GitHub 畫面右上角點選「New repository」。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2. 倉庫名稱填寫 www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Repository name 輸入 www，代表個人教學首頁根目錄。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3. 務必勾選 Public（公開）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勾選 Public，其餘 README、.gitignore 保持預設空白免勾。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4. 點綠色按鈕建立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按下「Create repository」，取得網址：github.com/stjedu/www。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單元五：成果網頁化與 GitHub 發布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22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成果發布 02：產生個人安全金鑰 (Personal Access Token)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🔑 步驟三：為什麼不能用登入密碼？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🛡️ GitHub 資安規範升級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為防止密碼遭竊，GitHub 禁止終端機推播使用傳統密碼，必須改用 Personal Access Token (PAT)。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1. 前往金鑰設定頁面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瀏覽器前往 github.com/settings/tokens，點 Generate new token (classic)。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2. Note 填寫 antigravity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有效期限選 30 天或自訂天數。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3. ⭐ 關鍵勾選 repo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請務必將第一個「repo」（倉庫完整存取）打勾！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4. 複製金鑰代碼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點擊最下方綠色按鈕，複製開頭為 ghp_ 的專屬權杖！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C25E2E"/>
                </a:solidFill>
                <a:latin typeface="微軟正黑體"/>
              </a:defRPr>
            </a:pPr>
            <a:r>
              <a:t>🔒 資安第一：金鑰遮罩防洩漏守則</a:t>
            </a:r>
          </a:p>
          <a:p>
            <a:pPr>
              <a:defRPr sz="1400" b="1">
                <a:solidFill>
                  <a:srgbClr val="BC4749"/>
                </a:solidFill>
                <a:latin typeface="微軟正黑體"/>
              </a:defRPr>
            </a:pPr>
            <a:r>
              <a:t>🚨 金鑰等同於您的臨時身分證！</a:t>
            </a:r>
          </a:p>
          <a:p>
            <a:pPr>
              <a:spcAft>
                <a:spcPts val="6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任何人拿到您的 Token 都可以修改或覆寫您的雲端倉庫，切勿寫進公開腳本。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🙈 示範或講義中必須打馬賽克：</a:t>
            </a:r>
          </a:p>
          <a:p>
            <a:pPr>
              <a:spcAft>
                <a:spcPts val="6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在簡報或公開錄影時，代碼必須做馬賽克遮罩處理：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   代碼示範：</a:t>
            </a:r>
          </a:p>
          <a:p>
            <a:pPr>
              <a:spcAft>
                <a:spcPts val="6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token = 'ghp_████████████████████████████████'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⚡ 代理人自動化驗證機制：</a:t>
            </a:r>
          </a:p>
          <a:p>
            <a:pPr>
              <a:spcAft>
                <a:spcPts val="6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結合 Windows Git Credential Manager，代理人可安全完成推播，無需在硬碟留存任何明文金鑰！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單元五：成果網頁化與 GitHub 發布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23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成果發布 03：代理人一鍵推播 ✕ GitHub Pages 上線 (Prompt 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📜 實戰提示詞 06：全自動推播咒語</a:t>
            </a:r>
          </a:p>
          <a:p>
            <a:pPr>
              <a:spcAft>
                <a:spcPts val="500"/>
              </a:spcAft>
              <a:defRPr sz="1250" b="1">
                <a:solidFill>
                  <a:srgbClr val="C25E2E"/>
                </a:solidFill>
                <a:latin typeface="微軟正黑體"/>
              </a:defRPr>
            </a:pPr>
            <a:r>
              <a:t>💡 可直接反白複製使用：</a:t>
            </a:r>
          </a:p>
          <a:p>
            <a:pPr>
              <a:spcAft>
                <a:spcPts val="5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我已在 GitHub 建立好公開儲存庫：https://github.com/stjedu/www，</a:t>
            </a:r>
          </a:p>
          <a:p>
            <a:pPr>
              <a:spcAft>
                <a:spcPts val="5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請幫我執行以下自動化連續動作鏈：</a:t>
            </a:r>
          </a:p>
          <a:p>
            <a:pPr>
              <a:spcAft>
                <a:spcPts val="5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1. 將今日的「基本電學與電子學 BJT 小訊號放大題庫與標準電路圖」做成個人教學入口網站 (index.html 與 electronics_bjt.html)。</a:t>
            </a:r>
          </a:p>
          <a:p>
            <a:pPr>
              <a:spcAft>
                <a:spcPts val="5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2. 將網頁、circuits/ 電路圖與 PPTX 投影片 Commit 並推播到 main 分支。</a:t>
            </a:r>
          </a:p>
          <a:p>
            <a:pPr>
              <a:spcAft>
                <a:spcPts val="5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3. 啟用 GitHub Pages 靜態伺服器！</a:t>
            </a:r>
          </a:p>
          <a:p>
            <a:pPr>
              <a:spcAft>
                <a:spcPts val="5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4. 回報我最終公開上線的個人教學網站網址！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C25E2E"/>
                </a:solidFill>
                <a:latin typeface="微軟正黑體"/>
              </a:defRPr>
            </a:pPr>
            <a:r>
              <a:t>🎉 成果大功告成：六大教學網頁隨點隨看！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🌐 研習主入口與電學題庫：</a:t>
            </a:r>
          </a:p>
          <a:p>
            <a:pPr>
              <a:spcAft>
                <a:spcPts val="6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👉 https://stjedu.github.io/www/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📐 電子學 BJT 小訊號 rπ 專頁：</a:t>
            </a:r>
          </a:p>
          <a:p>
            <a:pPr>
              <a:spcAft>
                <a:spcPts val="6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👉 https://stjedu.github.io/www/electronics_bjt.html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🔬 示波器與丙級檢定模擬器：</a:t>
            </a:r>
          </a:p>
          <a:p>
            <a:pPr>
              <a:spcAft>
                <a:spcPts val="6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👉 https://stjedu.github.io/www/instrument.html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📷 YOLO 視覺與 ESP32 物聯網：</a:t>
            </a:r>
          </a:p>
          <a:p>
            <a:pPr>
              <a:spcAft>
                <a:spcPts val="600"/>
              </a:spcAft>
              <a:defRPr sz="1250">
                <a:solidFill>
                  <a:srgbClr val="2B2D42"/>
                </a:solidFill>
                <a:latin typeface="微軟正黑體"/>
              </a:defRPr>
            </a:pPr>
            <a:r>
              <a:t>👉 yolo_webcam_course.html  |  esp32_mqtt_course.html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單元六：高階實戰特輯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24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【高階實戰案例】虛擬電子儀表 ✕ 丙級試題二模擬系統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🎯 純前端單檔教學模擬器 (instrument.html)</a:t>
            </a:r>
          </a:p>
          <a:p>
            <a:pPr>
              <a:spcAft>
                <a:spcPts val="800"/>
              </a:spcAft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⚡ 整合 GDS-2102E 示波器 ＆ MFG-2110 任意波形信號產生器</a:t>
            </a:r>
          </a:p>
          <a:p>
            <a:pPr>
              <a:spcAft>
                <a:spcPts val="800"/>
              </a:spcAft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🔌 一鍵連線測試：自動接線、通電、開輸出並 Autoset 展開最佳波形</a:t>
            </a:r>
          </a:p>
          <a:p>
            <a:pPr>
              <a:spcAft>
                <a:spcPts val="800"/>
              </a:spcAft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🔒 靜態觸發鎖定：徹底解決高頻正弦波滾動問題，穩定清晰</a:t>
            </a:r>
          </a:p>
          <a:p>
            <a:pPr>
              <a:spcAft>
                <a:spcPts val="800"/>
              </a:spcAft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🎬 10 步驟全自動教學導航：每 3.5s 計時自動模擬實機按鍵動作</a:t>
            </a:r>
          </a:p>
          <a:p>
            <a:pPr>
              <a:spcAft>
                <a:spcPts val="800"/>
              </a:spcAft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📝 台灣工業電子丙級術科試題二：12 題組電路模擬與自動評分扣分</a:t>
            </a:r>
          </a:p>
          <a:p>
            <a:pPr>
              <a:spcAft>
                <a:spcPts val="800"/>
              </a:spcAft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💡 零外部相依：純 SVG 手繪面板 ✕ Canvas 繪圖，完全離線可用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0876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strument_ch1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120640" cy="23709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303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C25E2E"/>
                </a:solidFill>
                <a:latin typeface="微軟正黑體"/>
              </a:defRPr>
            </a:pPr>
            <a:r>
              <a:t>▲ 實機操作：信號產生器直連示波器 CH1，鎖定 Trig'd 靜態波形與 18px 黃色大字體 Measure 讀數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單元六：高階實戰特輯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25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工程級教具的底層靈魂：依據三大官方資料手冊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📚 三大官方標準與物理模型</a:t>
            </a:r>
          </a:p>
          <a:p>
            <a:pPr>
              <a:defRPr sz="1350" b="1">
                <a:solidFill>
                  <a:srgbClr val="C25E2E"/>
                </a:solidFill>
                <a:latin typeface="微軟正黑體"/>
              </a:defRPr>
            </a:pPr>
            <a:r>
              <a:t>🔹 1. GW INSTEK GDS-2000E 使用手冊</a:t>
            </a:r>
          </a:p>
          <a:p>
            <a:pPr>
              <a:spcAft>
                <a:spcPts val="600"/>
              </a:spcAft>
              <a:defRPr sz="1150">
                <a:solidFill>
                  <a:srgbClr val="2B2D42"/>
                </a:solidFill>
                <a:latin typeface="微軟正黑體"/>
              </a:defRPr>
            </a:pPr>
            <a:r>
              <a:t>   垂直 1-2-5 序列、時基擴展、2Vpp 1kHz 校驗方波暫態過沖公式：ΔV(t)=c×0.8×exp(-t/40µs)</a:t>
            </a:r>
          </a:p>
          <a:p>
            <a:pPr>
              <a:defRPr sz="1350" b="1">
                <a:solidFill>
                  <a:srgbClr val="C25E2E"/>
                </a:solidFill>
                <a:latin typeface="微軟正黑體"/>
              </a:defRPr>
            </a:pPr>
            <a:r>
              <a:t>🔹 2. GW INSTEK MFG-2000 原廠手冊</a:t>
            </a:r>
          </a:p>
          <a:p>
            <a:pPr>
              <a:spcAft>
                <a:spcPts val="600"/>
              </a:spcAft>
              <a:defRPr sz="1150">
                <a:solidFill>
                  <a:srgbClr val="2B2D42"/>
                </a:solidFill>
                <a:latin typeface="微軟正黑體"/>
              </a:defRPr>
            </a:pPr>
            <a:r>
              <a:t>   輸出阻抗 50Ω 負載效應模型：接示波器(1MΩ)端電壓放大 2 倍(設 3V 實出 6V)，High Z 則為 1 倍</a:t>
            </a:r>
          </a:p>
          <a:p>
            <a:pPr>
              <a:defRPr sz="1350" b="1">
                <a:solidFill>
                  <a:srgbClr val="C25E2E"/>
                </a:solidFill>
                <a:latin typeface="微軟正黑體"/>
              </a:defRPr>
            </a:pPr>
            <a:r>
              <a:t>🔹 3. 工業電子丙級試題二規範 (02800-960302)</a:t>
            </a:r>
          </a:p>
          <a:p>
            <a:pPr>
              <a:spcAft>
                <a:spcPts val="600"/>
              </a:spcAft>
              <a:defRPr sz="1150">
                <a:solidFill>
                  <a:srgbClr val="2B2D42"/>
                </a:solidFill>
                <a:latin typeface="微軟正黑體"/>
              </a:defRPr>
            </a:pPr>
            <a:r>
              <a:t>   正弦波 1kHz 3Vpp 50Ω、探棒開關 1:1、DC 耦合；12 題組 ±10% 容許度與零點偏移扣分規準</a:t>
            </a:r>
          </a:p>
          <a:p>
            <a:pPr>
              <a:defRPr sz="1350" b="1">
                <a:solidFill>
                  <a:srgbClr val="C25E2E"/>
                </a:solidFill>
                <a:latin typeface="微軟正黑體"/>
              </a:defRPr>
            </a:pPr>
            <a:r>
              <a:t>🔹 4. 全系統自動驗收腳本 (runAutoAudit)</a:t>
            </a:r>
          </a:p>
          <a:p>
            <a:pPr>
              <a:spcAft>
                <a:spcPts val="600"/>
              </a:spcAft>
              <a:defRPr sz="1150">
                <a:solidFill>
                  <a:srgbClr val="2B2D42"/>
                </a:solidFill>
                <a:latin typeface="微軟正黑體"/>
              </a:defRPr>
            </a:pPr>
            <a:r>
              <a:t>   內建 10 項驗收指標，單檔離線開立即可自我檢查合格！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0876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strument_audit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120640" cy="23709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303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C25E2E"/>
                </a:solidFill>
                <a:latin typeface="微軟正黑體"/>
              </a:defRPr>
            </a:pPr>
            <a:r>
              <a:t>▲ 網頁內建【提示語與教學手冊】分頁：附帶一鍵複製提示語與 10 項標準即時自動稽核報告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單元六：高階實戰特輯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26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📌【工程級 Master Prompt (上篇)】角色定位與三大手冊物理規範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09F3E"/>
                </a:solidFill>
                <a:latin typeface="微軟正黑體"/>
              </a:defRPr>
            </a:pPr>
            <a:r>
              <a:t>🎯 [ROLE] &amp; [TASK] 角色與系統架構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【專業角色設定】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你是一位精通「電子量測儀器硬體模擬」與「台灣工業電子丙級術科規範」的資深全端工程師兼金牌實習指導教師。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【核心開發任務】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製作單一檔案、高擬真互動模擬系統 (instrument.html)：</a:t>
            </a:r>
            <a:br/>
            <a:r>
              <a:t>1. 固緯 GDS-2102E 數位示波器 ＆ MFG-2110 信號產生器</a:t>
            </a:r>
            <a:br/>
            <a:r>
              <a:t>2. 工業電子丙級試題二（12 題組電路量測與自動評分）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【三階段工作流 WORKFLOW】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1. 解析三份官方手冊之規格、尺寸、公式與扣分標準</a:t>
            </a:r>
            <a:br/>
            <a:r>
              <a:t>2. 模組化開發：CSS、SVG 向量面板、Canvas 波形全部內嵌於單一 HTML</a:t>
            </a:r>
            <a:br/>
            <a:r>
              <a:t>3. 跨裝置 RWD 測試 (375/768/1440px) 並通過 runAutoAudit() 自動驗收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53035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09F3E"/>
                </a:solidFill>
                <a:latin typeface="微軟正黑體"/>
              </a:defRPr>
            </a:pPr>
            <a:r>
              <a:t>📘 [MANUAL_REFERENCES] 三大原廠手冊物理規範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1. 《GW INSTEK GDS-2000E User Manual》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• 垂直 1mV~10V/div、時基 1ns~100s/div (1-2-5 序列)</a:t>
            </a:r>
            <a:br/>
            <a:r>
              <a:t>• 探棒校驗 2Vpp 1kHz 方波暫態過沖：ΔV(t) = c×0.8×exp(-t/40µs)</a:t>
            </a:r>
            <a:br/>
            <a:r>
              <a:t>• 800×536 螢幕，10×8 格線，上下狀態資訊列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2. 《GW INSTEK MFG-2000 User Manual》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• 輸出阻抗 50Ω：設 50Ω 接示波器(1MΩ)產生 2 倍電壓效應(設3V實出6V)；設 High Z 為 1 倍</a:t>
            </a:r>
            <a:br/>
            <a:r>
              <a:t>• 有效值換算：正弦波 Vpp = 2√2 Vrms；三角波 Vpp = 2√3 Vrms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3. 《工業電子丙級術科試題二 (02800-960302)》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• 輸入設定：正弦波 1kHz、3.000Vpp、負載 50Ω、探棒 1:1、DC 耦合</a:t>
            </a:r>
            <a:br/>
            <a:r>
              <a:t>• 評分規準：12 題組理論電壓 ±10% 容許度、探棒非 1:1 扣 10 分、零位偏離 &gt;0.5 格扣 5 分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單元六：高階實戰特輯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27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📌【工程級 Master Prompt (下篇)】硬性約束、引擎演算法與自動驗收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09F3E"/>
                </a:solidFill>
                <a:latin typeface="微軟正黑體"/>
              </a:defRPr>
            </a:pPr>
            <a:r>
              <a:t>⚙️ [CONSTRAINTS] &amp; [ENGINE_SPEC] 核心引擎規範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【硬性約束 HARD_CONSTRAINTS】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• 單一獨立檔案 instrument.html，零外部相依，完全離線可用</a:t>
            </a:r>
            <a:br/>
            <a:r>
              <a:t>• 台灣專業術語（探棒、觸發、時基、耦合、峰對峰值）</a:t>
            </a:r>
            <a:br/>
            <a:r>
              <a:t>• 頂部提供【🔌 一鍵測試：信號源 ➔ CH1】自動接線並展開波形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【靜態觸發鎖定演算法 Stationary Trigger Lock】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• 當狀態為 Trig'd 綠燈時，時基精確鎖定正向過零相位：</a:t>
            </a:r>
            <a:br/>
            <a:r>
              <a:t>  t_lock = arcsin((Vtrig - Vavg)/(Vpp/2)) / (2πf)</a:t>
            </a:r>
            <a:br/>
            <a:r>
              <a:t>• 波形完全靜止清晰；未觸發 (Auto) 時才水平漂移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【Autoset 與大字體量測視窗】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• Measure 視窗加大至 280×92px，採用 bold 18px 螢光黃顯示 Vpp 與 Freq</a:t>
            </a:r>
            <a:br/>
            <a:r>
              <a:t>• Autoset 自動將振幅限制在 3~6.5 格，時基展開 2~4 個週期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53035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09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09F3E"/>
                </a:solidFill>
                <a:latin typeface="微軟正黑體"/>
              </a:defRPr>
            </a:pPr>
            <a:r>
              <a:t>✅ [GUIDE_SPEC] &amp; [ACCEPTANCE] 導航與 10 項驗收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【雙指引 10 步驟自動教學排程】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• 示波器與信號產生器各配一組 10 步教學指引卡（每 3.5 秒自動推進）</a:t>
            </a:r>
            <a:br/>
            <a:r>
              <a:t>• 步驟推進時自動調用硬體 API（Default、接線、Probe 10X、Autoset），實機對應按鈕同步橘光呼吸高亮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【自動化驗收腳本 window.runAutoAudit() 十項指標】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01. 離線單檔無外部依賴     02. 探棒補償尖角/圓角判定</a:t>
            </a:r>
            <a:br/>
            <a:r>
              <a:t>03. 50Ω負載2倍/HiZ 1倍效應  04. Autoset 波形 3~6.5 格</a:t>
            </a:r>
            <a:br/>
            <a:r>
              <a:t>05. 觸發準位 Trig'd 穩定鎖定  06. 丙級 12 題組數據完備</a:t>
            </a:r>
            <a:br/>
            <a:r>
              <a:t>07. 觸控標靶尺寸 ≥ 40px      08. 探棒開關與讀數倍率換算</a:t>
            </a:r>
            <a:br/>
            <a:r>
              <a:t>09. 雙指引卡 10 步自動引擎    10. Measure 讀數 18px 高清晰</a:t>
            </a:r>
          </a:p>
          <a:p>
            <a:pPr>
              <a:defRPr sz="1300" b="1">
                <a:solidFill>
                  <a:srgbClr val="7DD3FC"/>
                </a:solidFill>
                <a:latin typeface="微軟正黑體"/>
              </a:defRPr>
            </a:pPr>
            <a:r>
              <a:t>💡 完整提示語可直接至網頁複製：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150">
                <a:solidFill>
                  <a:srgbClr val="F1F5F9"/>
                </a:solidFill>
                <a:latin typeface="微軟正黑體"/>
              </a:defRPr>
            </a:pPr>
            <a:r>
              <a:t>👉 https://stjedu.github.io/www/instrument.html（點擊上方【提示語與教學手冊】分頁即可一鍵複製）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11480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研習總結與未來展望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92608"/>
            <a:ext cx="2286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 b="1">
                <a:solidFill>
                  <a:srgbClr val="6C757D"/>
                </a:solidFill>
                <a:latin typeface="微軟正黑體"/>
              </a:defRPr>
            </a:pPr>
            <a:r>
              <a:t>第 28 / 28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F4435"/>
                </a:solidFill>
                <a:latin typeface="微軟正黑體"/>
              </a:defRPr>
            </a:pPr>
            <a:r>
              <a:t>研習總結：今日解鎖技能 ✕ 教師的教具開發思維升級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C757D"/>
                </a:solidFill>
                <a:latin typeface="微軟正黑體"/>
              </a:defRPr>
            </a:pPr>
            <a:r>
              <a:t>🌐 線上教材與互動實驗室：https://stjedu.github.io/www/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🎉 今日已解鎖之七大實戰技能</a:t>
            </a:r>
          </a:p>
          <a:p>
            <a:pPr>
              <a:spcAft>
                <a:spcPts val="7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完成 Antigravity 工作區建置與沙盒安全檢測</a:t>
            </a:r>
          </a:p>
          <a:p>
            <a:pPr>
              <a:spcAft>
                <a:spcPts val="7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掌握零代碼一鍵自動安裝 Python / 繪圖 / Office 套件</a:t>
            </a:r>
          </a:p>
          <a:p>
            <a:pPr>
              <a:spcAft>
                <a:spcPts val="7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掌握基本電學戴維寧定理之結構化命題與標準電路圖生成</a:t>
            </a:r>
          </a:p>
          <a:p>
            <a:pPr>
              <a:spcAft>
                <a:spcPts val="7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掌握進階電子學 BJT 共射極小訊號 rπ 模型推導與互動網頁</a:t>
            </a:r>
          </a:p>
          <a:p>
            <a:pPr>
              <a:spcAft>
                <a:spcPts val="7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 MCP 磨課師自動化：30 秒人機接力與突發急救包</a:t>
            </a:r>
          </a:p>
          <a:p>
            <a:pPr>
              <a:spcAft>
                <a:spcPts val="7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實戰 Excel 自動算技高加權成績、粉紅標記與學情分析圖表</a:t>
            </a:r>
          </a:p>
          <a:p>
            <a:pPr>
              <a:spcAft>
                <a:spcPts val="7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 GitHub Pages 發布與工業電子丙級虛擬儀表開發心法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🚀 三大關鍵思維升級 ＆ 結語金句</a:t>
            </a:r>
          </a:p>
          <a:p>
            <a:pPr>
              <a:defRPr sz="1350" b="1">
                <a:solidFill>
                  <a:srgbClr val="1F4435"/>
                </a:solidFill>
                <a:latin typeface="微軟正黑體"/>
              </a:defRPr>
            </a:pPr>
            <a:r>
              <a:t>🧩 模組化規格思維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AI 不是魔術，AI 需要精準的「規格說明書 (CRIS)」。懂得定義功能邊界，AI 就能打造工程級作品。</a:t>
            </a:r>
          </a:p>
          <a:p>
            <a:pPr>
              <a:defRPr sz="1350" b="1">
                <a:solidFill>
                  <a:srgbClr val="1F4435"/>
                </a:solidFill>
                <a:latin typeface="微軟正黑體"/>
              </a:defRPr>
            </a:pPr>
            <a:r>
              <a:t>🔬 公式即代碼規範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把課本與原廠手冊公式（如 rπ 模型、50Ω 負載效應）寫進 Prompt，AI 就能做出物理級高擬真教具。</a:t>
            </a:r>
          </a:p>
          <a:p>
            <a:pPr>
              <a:defRPr sz="1350" b="1">
                <a:solidFill>
                  <a:srgbClr val="1F4435"/>
                </a:solidFill>
                <a:latin typeface="微軟正黑體"/>
              </a:defRPr>
            </a:pPr>
            <a:r>
              <a:t>🌟 人人皆能打造專屬實驗室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不需等待廠商開發！只要您具備學科專業＋下對 Prompt，每門課都能擁有專屬線上互動實驗室！</a:t>
            </a:r>
          </a:p>
          <a:p>
            <a:pPr>
              <a:spcBef>
                <a:spcPts val="600"/>
              </a:spcBef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「AI 不會取代老師，但善用代理 AI 開發教具的老師，將徹底點亮學生的學習視野！」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